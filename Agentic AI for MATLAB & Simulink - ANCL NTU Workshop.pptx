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media/image22.jpg" ContentType="image/jpeg"/>
  <Override PartName="/ppt/media/image23.jpg" ContentType="image/jpeg"/>
  <Override PartName="/ppt/media/image24.jpg" ContentType="image/jpeg"/>
  <Override PartName="/ppt/media/image28.jpg" ContentType="image/jpeg"/>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279" r:id="rId2"/>
    <p:sldId id="280" r:id="rId3"/>
    <p:sldId id="281" r:id="rId4"/>
    <p:sldId id="328" r:id="rId5"/>
    <p:sldId id="326" r:id="rId6"/>
    <p:sldId id="282" r:id="rId7"/>
    <p:sldId id="322" r:id="rId8"/>
    <p:sldId id="290" r:id="rId9"/>
    <p:sldId id="321" r:id="rId10"/>
    <p:sldId id="283" r:id="rId11"/>
    <p:sldId id="291" r:id="rId12"/>
    <p:sldId id="287" r:id="rId13"/>
    <p:sldId id="288" r:id="rId14"/>
    <p:sldId id="298" r:id="rId15"/>
    <p:sldId id="295" r:id="rId16"/>
    <p:sldId id="299" r:id="rId17"/>
    <p:sldId id="307" r:id="rId18"/>
    <p:sldId id="300" r:id="rId19"/>
    <p:sldId id="306" r:id="rId20"/>
    <p:sldId id="301" r:id="rId21"/>
    <p:sldId id="302" r:id="rId22"/>
    <p:sldId id="292" r:id="rId23"/>
    <p:sldId id="313" r:id="rId24"/>
    <p:sldId id="314" r:id="rId25"/>
    <p:sldId id="294" r:id="rId26"/>
    <p:sldId id="263" r:id="rId27"/>
    <p:sldId id="264" r:id="rId28"/>
    <p:sldId id="315" r:id="rId29"/>
    <p:sldId id="308" r:id="rId30"/>
    <p:sldId id="303" r:id="rId31"/>
    <p:sldId id="309" r:id="rId32"/>
    <p:sldId id="304" r:id="rId33"/>
    <p:sldId id="305" r:id="rId34"/>
    <p:sldId id="323" r:id="rId35"/>
    <p:sldId id="312" r:id="rId36"/>
    <p:sldId id="320" r:id="rId37"/>
    <p:sldId id="316" r:id="rId38"/>
    <p:sldId id="284" r:id="rId39"/>
    <p:sldId id="285" r:id="rId40"/>
    <p:sldId id="293" r:id="rId41"/>
    <p:sldId id="296" r:id="rId42"/>
    <p:sldId id="297" r:id="rId43"/>
    <p:sldId id="318" r:id="rId44"/>
    <p:sldId id="317" r:id="rId45"/>
    <p:sldId id="319" r:id="rId46"/>
    <p:sldId id="289" r:id="rId47"/>
    <p:sldId id="265" r:id="rId48"/>
    <p:sldId id="266" r:id="rId49"/>
    <p:sldId id="267" r:id="rId50"/>
    <p:sldId id="268" r:id="rId51"/>
    <p:sldId id="269" r:id="rId52"/>
    <p:sldId id="270" r:id="rId53"/>
    <p:sldId id="271" r:id="rId54"/>
    <p:sldId id="272" r:id="rId55"/>
    <p:sldId id="273" r:id="rId56"/>
    <p:sldId id="274" r:id="rId57"/>
    <p:sldId id="275" r:id="rId58"/>
    <p:sldId id="276" r:id="rId59"/>
    <p:sldId id="277" r:id="rId60"/>
    <p:sldId id="278" r:id="rId61"/>
    <p:sldId id="286" r:id="rId6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10"/>
  </p:normalViewPr>
  <p:slideViewPr>
    <p:cSldViewPr snapToGrid="0" snapToObjects="1">
      <p:cViewPr varScale="1">
        <p:scale>
          <a:sx n="82" d="100"/>
          <a:sy n="82" d="100"/>
        </p:scale>
        <p:origin x="71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0515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Welcome. Two hours: roughly 25 min on why, 15 on the stack and Simulink, 55 on the two live demos, 25 on skills and wrap. Setup is in the appendix.</a:t>
            </a:r>
          </a:p>
          <a:p>
            <a:endParaRPr/>
          </a:p>
          <a:p>
            <a:r>
              <a:t>BEFORE YOU START: run /usage and show the room your token count. You will show it again after every demo checkpoint - the point is how little this costs.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Set expectations: this is a demo-led session, not hands-on. Setup section is included so you can repeat it on your own machine tonight.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WHAT THIS SLIDE IS FOR</a:t>
            </a:r>
          </a:p>
          <a:p>
            <a:r>
              <a:t>Establish the problem before showing any result. Nobody can read a predicted-vs-actual plot until they know what RUL is.</a:t>
            </a:r>
          </a:p>
          <a:p>
            <a:endParaRPr/>
          </a:p>
          <a:p>
            <a:r>
              <a:t>TALK THROUGH THE FIGURE, LEFT TO RIGHT</a:t>
            </a:r>
          </a:p>
          <a:p>
            <a:r>
              <a:t>- Black line: the truth. Every engine in this data ran to failure, so the number of cycles remaining is known at every point - it counts down to zero.</a:t>
            </a:r>
          </a:p>
          <a:p>
            <a:r>
              <a:t>- Flat top / shaded region: the 150 cap. Early in life a healthy engine looks the same whether it has 200 or 300 cycles left, so everything above 150 is labelled just '150 or more'. Without the cap you train on noise.</a:t>
            </a:r>
          </a:p>
          <a:p>
            <a:r>
              <a:t>- Blue line: the model's estimate at each cycle, from sensor readings only. It is noisy early (little signal in a healthy engine) and tightens as wear shows.</a:t>
            </a:r>
          </a:p>
          <a:p>
            <a:r>
              <a:t>- Amber dashed line: where this engine's data stops. THAT is the actual task - one number, at that moment. Truth 8 cycles, model said 9.</a:t>
            </a:r>
          </a:p>
          <a:p>
            <a:endParaRPr/>
          </a:p>
          <a:p>
            <a:r>
              <a:t>This is engine #81, held out from training. One engine of 100 - the aggregate numbers in the box are across all of them.</a:t>
            </a:r>
          </a:p>
          <a:p>
            <a:endParaRPr/>
          </a:p>
          <a:p>
            <a:r>
              <a:t>IF ASKED HOW IT DOES ACROSS THE RANGE (measured, rng 1)</a:t>
            </a:r>
          </a:p>
          <a:p>
            <a:r>
              <a:t>  50 or fewer cycles left  n=33  RMSE 12.6  bias +5.8</a:t>
            </a:r>
          </a:p>
          <a:p>
            <a:r>
              <a:t>  50 to 100                n=33  RMSE 27.4  bias +15.2</a:t>
            </a:r>
          </a:p>
          <a:p>
            <a:r>
              <a:t>  100 or more              n=34  RMSE 16.4  bias +1.7</a:t>
            </a:r>
          </a:p>
          <a:p>
            <a:r>
              <a:t>Positive bias = it claims more life than there is, the risky direction. Of the 25 engines with 30 or fewer cycles left it called 20 late, by about 6 cycles. Mid-life is the weakest band. RMSE varies 19-21 run to run on random init.</a:t>
            </a:r>
          </a:p>
          <a:p>
            <a:endParaRPr/>
          </a:p>
          <a:p>
            <a:r>
              <a:t>A REPRODUCIBILITY POINT WORTH MAKING IF IT COMES UP</a:t>
            </a:r>
          </a:p>
          <a:p>
            <a:r>
              <a:t>An earlier version of this demo said 'scale the sensors' rather than 'normalise the dataset'. That one word left the training targets unscaled, and the model then never predicted beyond about 99 cycles - it could not reach the top of the range at all. Same prompt structure, same architecture, materially different model. Nobody would have caught it from the agent's output; it took plotting this curve. That is the human-in-the-loop argument in one example.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Open the MathWorks “Data Sets for Deep Learning” page on screen before prompt 1. The point: MathWorks publishes this data, everyone in the room can pull the same file today.</a:t>
            </a:r>
          </a:p>
          <a:p>
            <a:endParaRPr/>
          </a:p>
          <a:p>
            <a:r>
              <a:t>The prompt says “if it is not already there” on purpose. It IS already there, so the agent finds the local copy and skips the download - you get the provenance without gambling on the network in front of 100 people.</a:t>
            </a:r>
          </a:p>
          <a:p>
            <a:endParaRPr/>
          </a:p>
          <a:p>
            <a:r>
              <a:t>WHAT PROMPT 2 IS ACTUALLY ASKING FOR - narrate this while it runs</a:t>
            </a:r>
          </a:p>
          <a:p>
            <a:r>
              <a:t>1. The raw file has no “remaining useful life” column. It has one row per operating cycle per engine, running until that engine failed. So the countdown has to be computed: an engine that lasted 192 cycles had 191 left on row 1, 92 left on row 100, 0 at the end.</a:t>
            </a:r>
          </a:p>
          <a:p>
            <a:r>
              <a:t>2. The 150 cap: a brand-new engine with 300 cycles left looks identical to one with 200 left - nothing in the sensors separates “very healthy” from “very healthy”. Everything above 150 is labelled just “150, plenty of life”. Without the cap you train on noise. This cap is also why predictions ceiling out near 99 on the previous slide.</a:t>
            </a:r>
          </a:p>
          <a:p>
            <a:r>
              <a:t>3. Scaling: the 21 sensors have different units - temperatures in the hundreds, pressures near 1, fan speeds in the thousands. Raw, the big-numbered sensors dominate training. Subtract each sensor's mean, divide by its spread - computed on TRAINING data only, then reused on test. Using test statistics would be leakage, and it is worth saying so.</a:t>
            </a:r>
          </a:p>
          <a:p>
            <a:endParaRPr/>
          </a:p>
          <a:p>
            <a:r>
              <a:t>WHY THE TRAINING SETTINGS ARE PINNED</a:t>
            </a:r>
          </a:p>
          <a:p>
            <a:r>
              <a:t>100 units, 20 epochs, learn rate 0.01 is what produces the RMSE ~20 on the previous slide. In rehearsal 12 epochs gave RMSE 51. Left unspecified the agent picks its own, and the number on the slide stops matching the room. Say it plainly if asked: an engineer specifies the architecture.</a:t>
            </a:r>
          </a:p>
          <a:p>
            <a:endParaRPr/>
          </a:p>
          <a:p>
            <a:r>
              <a:t>RMSE varies run to run (random init): expect roughly 20-27 cycles.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Say: both are useful and they are not competitors.</a:t>
            </a:r>
          </a:p>
          <a:p>
            <a:endParaRPr/>
          </a:p>
          <a:p>
            <a:r>
              <a:t>MATLAB Copilot and Simulink Copilot are MathWorks products - generative AI built into the IDE. You stay at the keyboard; it accelerates the keystroke.</a:t>
            </a:r>
          </a:p>
          <a:p>
            <a:endParaRPr/>
          </a:p>
          <a:p>
            <a:r>
              <a:t>Agentic AI is the other axis: an external agent (Claude Code, Codex, Copilot agent mode) that reaches into your live MATLAB session through MCP and performs whole loops - build, simulate, test, diagnose, fix, re-verify.</a:t>
            </a:r>
          </a:p>
          <a:p>
            <a:endParaRPr/>
          </a:p>
          <a:p>
            <a:r>
              <a:t>The rest of today is the second one, because that is the part that changes what a single researcher can get through in an afternoon.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This is the slide for the sceptic in the room. The argument is not "trust the AI" - it is that the AI is never the thing being trusted. The solver is, and it was already trusted before any of this existed.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STANDARD RESPONSE - full wording, for Q&amp;A.</a:t>
            </a:r>
          </a:p>
          <a:p>
            <a:endParaRPr/>
          </a:p>
          <a:p>
            <a:r>
              <a:t>1. Trusted building blocks, not blank-page generation. MATLAB has thousands of functions - like the backslash operator (A\b) - that encode decades of numerical and domain expertise in deterministic decision trees, guaranteeing answers that are correct, efficient, and consistent. An LLM may produce the same answer some of the time, but it has no guarantee to do so every time. By building on top of a trusted foundation, you reduce the surface area for hallucinations by agents, and reduce the surface area for verification by engineers.</a:t>
            </a:r>
          </a:p>
          <a:p>
            <a:endParaRPr/>
          </a:p>
          <a:p>
            <a:r>
              <a:t>2. Agentic AI accelerates creation. MathWorks tools accelerate verification. Together they deliver what neither can alone: speed AND trust. Without traceability and a verification framework, you're just generating code faster with no way to know if it's correct.</a:t>
            </a:r>
          </a:p>
          <a:p>
            <a:endParaRPr/>
          </a:p>
          <a:p>
            <a:r>
              <a:t>3. Agents become more effective with domain-specific tools. Without MATLAB and Simulink plus the Agentic Toolkits, frontier models spend tokens figuring out how to perform engineering tasks instead of doing the engineering. With the toolkits, frontier models go from good to excellent - turning agents from general-purpose coders into effective engineering assistants.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The five logos ship a template, so setup is one command. Everything else just needs the server registered by hand - same binary, same skills. Say plainly that Cursor, Mistral Vibe, Ollama and LM Studio are OUR tests, not MathWorks' supported list. That honesty is why people believe the rest of the deck.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Keep this to about ninety seconds. Ask for a show of hands: who has opened Simulink this year? In an EEE room it is usually under half, and the rest need this slide before the demo will land.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SHOW /usage BEFORE YOU TYPE THE FIRST PROMPT. Write the number on the whiteboard. You will come back to it at the end - the whole session costs less than people expect.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Prompt 1 is the important one - the room should see it ASK, not assume.</a:t>
            </a:r>
          </a:p>
          <a:p>
            <a:r>
              <a:t>After prompt 4 the response looks fine. DO NOT say it worked yet - that is the next slide.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Double-click into Motor and Load live - the room should see the blue electrical domain and the green mechanical domain side by side. That is a better reveal than any screenshot.</a:t>
            </a:r>
          </a:p>
          <a:p>
            <a:endParaRPr/>
          </a:p>
          <a:p>
            <a:r>
              <a:t>If you still have the flat version on screen, show them next to each other: same model, one prompt apart.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This is the most important slide in the deck. Do not rush it. It is also the honest one - if you only show successes, engineers stop believing you. Showing the failure and the four-second fix builds far more trust than a flawless demo.</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This is the closing demo, and for an automotive electronics lab it is the one with the sharpest commercial edge.</a:t>
            </a:r>
          </a:p>
          <a:p>
            <a:endParaRPr/>
          </a:p>
          <a:p>
            <a:r>
              <a:t>Lead with the numbers on this slide before you run anything: 44 lines, 10 findings, 3 of them high impact, 0 left at the end. Then run the prompt on the next slide.</a:t>
            </a:r>
          </a:p>
          <a:p>
            <a:endParaRPr/>
          </a:p>
          <a:p>
            <a:r>
              <a:t>The word to keep saying is SAFETY-CRITICAL. Anything that goes into a vehicle carries a MISRA C:2012 obligation and an ISO 26262 argument behind it. Static proof is how that argument gets made, and Polyspace produces the artefact an auditor will accept.</a:t>
            </a:r>
          </a:p>
          <a:p>
            <a:endParaRPr/>
          </a:p>
          <a:p>
            <a:r>
              <a:t>Position yourself carefully here: you are not claiming to know their safety case. You are showing them the tool that produces the evidence their safety case needs.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Close the loop on /usage here - this is the money slide for the 'it is cheaper than you think' argument.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F350E-D0A6-547F-D290-A1E5A622C648}"/>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14B93E38-1F97-5E64-2385-D2EE58DDED90}"/>
              </a:ext>
            </a:extLst>
          </p:cNvPr>
          <p:cNvSpPr>
            <a:spLocks noGrp="1"/>
          </p:cNvSpPr>
          <p:nvPr>
            <p:ph type="body" idx="1"/>
          </p:nvPr>
        </p:nvSpPr>
        <p:spPr/>
        <p:txBody>
          <a:bodyPr/>
          <a:lstStyle/>
          <a:p>
            <a:r>
              <a:t>Close the loop on /usage here - this is the money slide for the 'it is cheaper than you think' argument.</a:t>
            </a:r>
          </a:p>
        </p:txBody>
      </p:sp>
    </p:spTree>
    <p:extLst>
      <p:ext uri="{BB962C8B-B14F-4D97-AF65-F5344CB8AC3E}">
        <p14:creationId xmlns:p14="http://schemas.microsoft.com/office/powerpoint/2010/main" val="2564828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Say it plainly: nobody is asking you to trust the AI with the science. You still frame the question and you still interpret the answer. What changes is that the plumbing between those two points stops costing you a week. If someone pushes back on rigour, this is the slide to return to.</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The fuller mapping, if anyone asks. A - parameter fitting for dielectric elastomers and piezo devices, Simscape and multibody models of haptic and display assemblies, DOE sweeps, symbolic and PDE material models. B - network compression and quantisation for HPC targets, sensor-fusion and driver-monitoring pipelines, reinforcement learning and control policy loops, deployment via GPU Coder and Embedded Coder. C - static analysis and MISRA compliance, OTFS and joint radar-comms waveform and channel simulation, test-harness and edge-case generation, automotive Ethernet and V2X link budgets.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Do not present these slides unless someone asks, or unless you have time left. They exist so the deck is a complete handout.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40FF12-5566-47F0-F6DB-A73971DD857A}"/>
              </a:ext>
            </a:extLst>
          </p:cNvPr>
          <p:cNvSpPr txBox="1"/>
          <p:nvPr userDrawn="1">
            <p:extLst>
              <p:ext uri="{1162E1C5-73C7-4A58-AE30-91384D911F3F}">
                <p184:classification xmlns:p184="http://schemas.microsoft.com/office/powerpoint/2018/4/main" val="ftr"/>
              </p:ext>
            </p:extLst>
          </p:nvPr>
        </p:nvSpPr>
        <p:spPr>
          <a:xfrm>
            <a:off x="63500" y="6642100"/>
            <a:ext cx="598488"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EXTERNAL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jp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4.jp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4.jp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8.jp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88920" y="301752"/>
            <a:ext cx="2788920" cy="438912"/>
          </a:xfrm>
          <a:prstGeom prst="rect">
            <a:avLst/>
          </a:prstGeom>
        </p:spPr>
      </p:pic>
      <p:pic>
        <p:nvPicPr>
          <p:cNvPr id="3" name="Picture 2" descr="image.png"/>
          <p:cNvPicPr>
            <a:picLocks noChangeAspect="1"/>
          </p:cNvPicPr>
          <p:nvPr/>
        </p:nvPicPr>
        <p:blipFill>
          <a:blip r:embed="rId4"/>
          <a:stretch>
            <a:fillRect/>
          </a:stretch>
        </p:blipFill>
        <p:spPr>
          <a:xfrm>
            <a:off x="6446520" y="182880"/>
            <a:ext cx="1828800" cy="640080"/>
          </a:xfrm>
          <a:prstGeom prst="rect">
            <a:avLst/>
          </a:prstGeom>
        </p:spPr>
      </p:pic>
      <p:pic>
        <p:nvPicPr>
          <p:cNvPr id="4" name="Picture 3" descr="image3.png"/>
          <p:cNvPicPr>
            <a:picLocks noChangeAspect="1"/>
          </p:cNvPicPr>
          <p:nvPr/>
        </p:nvPicPr>
        <p:blipFill>
          <a:blip r:embed="rId5"/>
          <a:stretch>
            <a:fillRect/>
          </a:stretch>
        </p:blipFill>
        <p:spPr>
          <a:xfrm>
            <a:off x="0" y="1188720"/>
            <a:ext cx="12191969" cy="2103120"/>
          </a:xfrm>
          <a:prstGeom prst="rect">
            <a:avLst/>
          </a:prstGeom>
        </p:spPr>
      </p:pic>
      <p:sp>
        <p:nvSpPr>
          <p:cNvPr id="5" name="TextBox 4"/>
          <p:cNvSpPr txBox="1"/>
          <p:nvPr/>
        </p:nvSpPr>
        <p:spPr>
          <a:xfrm>
            <a:off x="731520" y="1481328"/>
            <a:ext cx="10725912" cy="868680"/>
          </a:xfrm>
          <a:prstGeom prst="rect">
            <a:avLst/>
          </a:prstGeom>
          <a:noFill/>
        </p:spPr>
        <p:txBody>
          <a:bodyPr wrap="square" lIns="0" tIns="0" rIns="0" bIns="0" anchor="ctr">
            <a:spAutoFit/>
          </a:bodyPr>
          <a:lstStyle/>
          <a:p>
            <a:pPr marL="0" indent="0" algn="ctr">
              <a:lnSpc>
                <a:spcPct val="100000"/>
              </a:lnSpc>
              <a:spcAft>
                <a:spcPts val="400"/>
              </a:spcAft>
              <a:buNone/>
            </a:pPr>
            <a:r>
              <a:rPr sz="3300" b="0" i="0">
                <a:solidFill>
                  <a:srgbClr val="FFFFFF"/>
                </a:solidFill>
                <a:latin typeface="Product Sans"/>
                <a:ea typeface="Product Sans"/>
                <a:cs typeface="Product Sans"/>
              </a:rPr>
              <a:t>Agentic AI for MATLAB &amp; Simulink</a:t>
            </a:r>
          </a:p>
        </p:txBody>
      </p:sp>
      <p:sp>
        <p:nvSpPr>
          <p:cNvPr id="6" name="TextBox 5"/>
          <p:cNvSpPr txBox="1"/>
          <p:nvPr/>
        </p:nvSpPr>
        <p:spPr>
          <a:xfrm>
            <a:off x="731520" y="2432304"/>
            <a:ext cx="10725912" cy="457200"/>
          </a:xfrm>
          <a:prstGeom prst="rect">
            <a:avLst/>
          </a:prstGeom>
          <a:noFill/>
        </p:spPr>
        <p:txBody>
          <a:bodyPr wrap="square" lIns="0" tIns="0" rIns="0" bIns="0" anchor="ctr">
            <a:spAutoFit/>
          </a:bodyPr>
          <a:lstStyle/>
          <a:p>
            <a:pPr marL="0" indent="0" algn="ctr">
              <a:lnSpc>
                <a:spcPct val="100000"/>
              </a:lnSpc>
              <a:spcAft>
                <a:spcPts val="400"/>
              </a:spcAft>
              <a:buNone/>
            </a:pPr>
            <a:r>
              <a:rPr sz="1500" b="0" i="1">
                <a:solidFill>
                  <a:srgbClr val="FFFFFF"/>
                </a:solidFill>
                <a:latin typeface="Product Sans"/>
                <a:ea typeface="Product Sans"/>
                <a:cs typeface="Product Sans"/>
              </a:rPr>
              <a:t>Engineering and research work an agent can actually run</a:t>
            </a:r>
          </a:p>
        </p:txBody>
      </p:sp>
      <p:sp>
        <p:nvSpPr>
          <p:cNvPr id="7" name="TextBox 6"/>
          <p:cNvSpPr txBox="1"/>
          <p:nvPr/>
        </p:nvSpPr>
        <p:spPr>
          <a:xfrm>
            <a:off x="822960" y="3657600"/>
            <a:ext cx="10543032" cy="640080"/>
          </a:xfrm>
          <a:prstGeom prst="rect">
            <a:avLst/>
          </a:prstGeom>
          <a:noFill/>
        </p:spPr>
        <p:txBody>
          <a:bodyPr wrap="square" lIns="0" tIns="0" rIns="0" bIns="0" anchor="t">
            <a:spAutoFit/>
          </a:bodyPr>
          <a:lstStyle/>
          <a:p>
            <a:pPr marL="0" indent="0" algn="ctr">
              <a:lnSpc>
                <a:spcPct val="100000"/>
              </a:lnSpc>
              <a:spcAft>
                <a:spcPts val="400"/>
              </a:spcAft>
              <a:buNone/>
            </a:pPr>
            <a:r>
              <a:rPr sz="1250" b="0" i="0">
                <a:solidFill>
                  <a:srgbClr val="595959"/>
                </a:solidFill>
                <a:latin typeface="Product Sans"/>
                <a:ea typeface="Product Sans"/>
                <a:cs typeface="Product Sans"/>
              </a:rPr>
              <a:t>Seminar + live demo  ·  2 hours  ·  built and verified on MATLAB R2026a</a:t>
            </a:r>
          </a:p>
          <a:p>
            <a:pPr marL="0" indent="0" algn="ctr">
              <a:lnSpc>
                <a:spcPct val="100000"/>
              </a:lnSpc>
              <a:spcAft>
                <a:spcPts val="400"/>
              </a:spcAft>
              <a:buNone/>
            </a:pPr>
            <a:r>
              <a:rPr sz="1250" b="0" i="0">
                <a:solidFill>
                  <a:srgbClr val="595959"/>
                </a:solidFill>
                <a:latin typeface="Product Sans"/>
                <a:ea typeface="Product Sans"/>
                <a:cs typeface="Product Sans"/>
              </a:rPr>
              <a:t>A live demo first  ·  the toolkits in detail  ·  a main demo end to end  ·  safety-critical C to close</a:t>
            </a:r>
          </a:p>
        </p:txBody>
      </p:sp>
      <p:sp>
        <p:nvSpPr>
          <p:cNvPr id="8" name="TextBox 7"/>
          <p:cNvSpPr txBox="1"/>
          <p:nvPr/>
        </p:nvSpPr>
        <p:spPr>
          <a:xfrm>
            <a:off x="822960" y="4434840"/>
            <a:ext cx="10543032" cy="365760"/>
          </a:xfrm>
          <a:prstGeom prst="rect">
            <a:avLst/>
          </a:prstGeom>
          <a:noFill/>
        </p:spPr>
        <p:txBody>
          <a:bodyPr wrap="square" lIns="0" tIns="0" rIns="0" bIns="0" anchor="ctr">
            <a:spAutoFit/>
          </a:bodyPr>
          <a:lstStyle/>
          <a:p>
            <a:pPr marL="0" indent="0" algn="ctr">
              <a:lnSpc>
                <a:spcPct val="100000"/>
              </a:lnSpc>
              <a:spcAft>
                <a:spcPts val="400"/>
              </a:spcAft>
              <a:buNone/>
            </a:pPr>
            <a:r>
              <a:rPr sz="1350" b="0" i="0">
                <a:solidFill>
                  <a:srgbClr val="1F3864"/>
                </a:solidFill>
                <a:latin typeface="Product Sans"/>
                <a:ea typeface="Product Sans"/>
                <a:cs typeface="Product Sans"/>
              </a:rPr>
              <a:t>Koay Xian Cong  ·  Application Engineer  ·  Techsource Systems Pte Ltd</a:t>
            </a:r>
          </a:p>
        </p:txBody>
      </p:sp>
      <p:sp>
        <p:nvSpPr>
          <p:cNvPr id="9" name="TextBox 8"/>
          <p:cNvSpPr txBox="1"/>
          <p:nvPr/>
        </p:nvSpPr>
        <p:spPr>
          <a:xfrm>
            <a:off x="822960" y="4800600"/>
            <a:ext cx="10543032" cy="274320"/>
          </a:xfrm>
          <a:prstGeom prst="rect">
            <a:avLst/>
          </a:prstGeom>
          <a:noFill/>
        </p:spPr>
        <p:txBody>
          <a:bodyPr wrap="square" lIns="0" tIns="0" rIns="0" bIns="0" anchor="ctr">
            <a:spAutoFit/>
          </a:bodyPr>
          <a:lstStyle/>
          <a:p>
            <a:pPr marL="0" indent="0" algn="ctr">
              <a:lnSpc>
                <a:spcPct val="100000"/>
              </a:lnSpc>
              <a:spcAft>
                <a:spcPts val="400"/>
              </a:spcAft>
              <a:buNone/>
            </a:pPr>
            <a:r>
              <a:rPr sz="1250" b="0" i="1">
                <a:solidFill>
                  <a:srgbClr val="595959"/>
                </a:solidFill>
                <a:latin typeface="Product Sans"/>
                <a:ea typeface="Product Sans"/>
                <a:cs typeface="Product Sans"/>
              </a:rPr>
              <a:t>Prepared for the AUMOVIO–NTU Corporate Lab and NTU EEE</a:t>
            </a:r>
          </a:p>
        </p:txBody>
      </p:sp>
      <p:pic>
        <p:nvPicPr>
          <p:cNvPr id="11" name="Picture 10" descr="image5.png"/>
          <p:cNvPicPr>
            <a:picLocks noChangeAspect="1"/>
          </p:cNvPicPr>
          <p:nvPr/>
        </p:nvPicPr>
        <p:blipFill>
          <a:blip r:embed="rId6"/>
          <a:stretch>
            <a:fillRect/>
          </a:stretch>
        </p:blipFill>
        <p:spPr>
          <a:xfrm>
            <a:off x="8549640" y="5870448"/>
            <a:ext cx="3154680" cy="8595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2</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Agenda — 2 hours</a:t>
            </a:r>
          </a:p>
        </p:txBody>
      </p:sp>
      <p:sp>
        <p:nvSpPr>
          <p:cNvPr id="7" name="Rounded Rectangle 6"/>
          <p:cNvSpPr/>
          <p:nvPr/>
        </p:nvSpPr>
        <p:spPr>
          <a:xfrm>
            <a:off x="548640" y="1234440"/>
            <a:ext cx="402336" cy="402336"/>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1234440"/>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1</a:t>
            </a:r>
          </a:p>
        </p:txBody>
      </p:sp>
      <p:sp>
        <p:nvSpPr>
          <p:cNvPr id="9" name="TextBox 8"/>
          <p:cNvSpPr txBox="1"/>
          <p:nvPr/>
        </p:nvSpPr>
        <p:spPr>
          <a:xfrm>
            <a:off x="1143000" y="1216152"/>
            <a:ext cx="8778240" cy="274320"/>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See it first — a live demo</a:t>
            </a:r>
          </a:p>
        </p:txBody>
      </p:sp>
      <p:sp>
        <p:nvSpPr>
          <p:cNvPr id="10" name="TextBox 9"/>
          <p:cNvSpPr txBox="1"/>
          <p:nvPr/>
        </p:nvSpPr>
        <p:spPr>
          <a:xfrm>
            <a:off x="1143000" y="1472184"/>
            <a:ext cx="8778240" cy="237744"/>
          </a:xfrm>
          <a:prstGeom prst="rect">
            <a:avLst/>
          </a:prstGeom>
          <a:noFill/>
        </p:spPr>
        <p:txBody>
          <a:bodyPr wrap="square" lIns="0" tIns="0" rIns="0" bIns="0" anchor="ctr">
            <a:spAutoFit/>
          </a:bodyPr>
          <a:lstStyle/>
          <a:p>
            <a:pPr marL="0" indent="0" algn="l">
              <a:lnSpc>
                <a:spcPct val="100000"/>
              </a:lnSpc>
              <a:spcAft>
                <a:spcPts val="400"/>
              </a:spcAft>
              <a:buNone/>
            </a:pPr>
            <a:r>
              <a:rPr sz="1200" b="0" i="0">
                <a:solidFill>
                  <a:srgbClr val="595959"/>
                </a:solidFill>
                <a:latin typeface="Product Sans"/>
                <a:ea typeface="Product Sans"/>
                <a:cs typeface="Product Sans"/>
              </a:rPr>
              <a:t>Predict when a machine will fail, built in front of you</a:t>
            </a:r>
          </a:p>
        </p:txBody>
      </p:sp>
      <p:sp>
        <p:nvSpPr>
          <p:cNvPr id="11" name="Rounded Rectangle 10"/>
          <p:cNvSpPr/>
          <p:nvPr/>
        </p:nvSpPr>
        <p:spPr>
          <a:xfrm>
            <a:off x="10378440" y="1252728"/>
            <a:ext cx="126187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378440" y="1252728"/>
            <a:ext cx="126187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Product Sans"/>
                <a:ea typeface="Product Sans"/>
                <a:cs typeface="Product Sans"/>
              </a:rPr>
              <a:t>10 min</a:t>
            </a:r>
          </a:p>
        </p:txBody>
      </p:sp>
      <p:sp>
        <p:nvSpPr>
          <p:cNvPr id="13" name="Rounded Rectangle 12"/>
          <p:cNvSpPr/>
          <p:nvPr/>
        </p:nvSpPr>
        <p:spPr>
          <a:xfrm>
            <a:off x="548640" y="2176272"/>
            <a:ext cx="402336" cy="402336"/>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640" y="2176272"/>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2</a:t>
            </a:r>
          </a:p>
        </p:txBody>
      </p:sp>
      <p:sp>
        <p:nvSpPr>
          <p:cNvPr id="15" name="TextBox 14"/>
          <p:cNvSpPr txBox="1"/>
          <p:nvPr/>
        </p:nvSpPr>
        <p:spPr>
          <a:xfrm>
            <a:off x="1143000" y="2157984"/>
            <a:ext cx="8778240" cy="274320"/>
          </a:xfrm>
          <a:prstGeom prst="rect">
            <a:avLst/>
          </a:prstGeom>
          <a:noFill/>
        </p:spPr>
        <p:txBody>
          <a:bodyPr wrap="square" lIns="0" tIns="0" rIns="0" bIns="0" anchor="ctr">
            <a:spAutoFit/>
          </a:bodyPr>
          <a:lstStyle/>
          <a:p>
            <a:pPr marL="0" indent="0" algn="l">
              <a:lnSpc>
                <a:spcPct val="100000"/>
              </a:lnSpc>
              <a:spcAft>
                <a:spcPts val="400"/>
              </a:spcAft>
              <a:buNone/>
            </a:pPr>
            <a:r>
              <a:rPr sz="1450" b="0" i="0" dirty="0">
                <a:solidFill>
                  <a:srgbClr val="1F3864"/>
                </a:solidFill>
                <a:latin typeface="Product Sans"/>
                <a:ea typeface="Product Sans"/>
                <a:cs typeface="Product Sans"/>
              </a:rPr>
              <a:t>Why agentic AI, and why MathWorks</a:t>
            </a:r>
          </a:p>
        </p:txBody>
      </p:sp>
      <p:sp>
        <p:nvSpPr>
          <p:cNvPr id="16" name="TextBox 15"/>
          <p:cNvSpPr txBox="1"/>
          <p:nvPr/>
        </p:nvSpPr>
        <p:spPr>
          <a:xfrm>
            <a:off x="1143000" y="2414015"/>
            <a:ext cx="8778240" cy="237744"/>
          </a:xfrm>
          <a:prstGeom prst="rect">
            <a:avLst/>
          </a:prstGeom>
          <a:noFill/>
        </p:spPr>
        <p:txBody>
          <a:bodyPr wrap="square" lIns="0" tIns="0" rIns="0" bIns="0" anchor="ctr">
            <a:spAutoFit/>
          </a:bodyPr>
          <a:lstStyle/>
          <a:p>
            <a:pPr marL="0" indent="0" algn="l">
              <a:lnSpc>
                <a:spcPct val="100000"/>
              </a:lnSpc>
              <a:spcAft>
                <a:spcPts val="400"/>
              </a:spcAft>
              <a:buNone/>
            </a:pPr>
            <a:r>
              <a:rPr sz="1200" b="0" i="0">
                <a:solidFill>
                  <a:srgbClr val="595959"/>
                </a:solidFill>
                <a:latin typeface="Product Sans"/>
                <a:ea typeface="Product Sans"/>
                <a:cs typeface="Product Sans"/>
              </a:rPr>
              <a:t>Copilot vs agents · MCP · what stays your responsibility</a:t>
            </a:r>
          </a:p>
        </p:txBody>
      </p:sp>
      <p:sp>
        <p:nvSpPr>
          <p:cNvPr id="17" name="Rounded Rectangle 16"/>
          <p:cNvSpPr/>
          <p:nvPr/>
        </p:nvSpPr>
        <p:spPr>
          <a:xfrm>
            <a:off x="10378440" y="2194560"/>
            <a:ext cx="126187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0378440" y="2194560"/>
            <a:ext cx="126187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Product Sans"/>
                <a:ea typeface="Product Sans"/>
                <a:cs typeface="Product Sans"/>
              </a:rPr>
              <a:t>25 min</a:t>
            </a:r>
          </a:p>
        </p:txBody>
      </p:sp>
      <p:sp>
        <p:nvSpPr>
          <p:cNvPr id="19" name="Rounded Rectangle 18"/>
          <p:cNvSpPr/>
          <p:nvPr/>
        </p:nvSpPr>
        <p:spPr>
          <a:xfrm>
            <a:off x="548640" y="3118104"/>
            <a:ext cx="402336" cy="402336"/>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8640" y="3118104"/>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3</a:t>
            </a:r>
          </a:p>
        </p:txBody>
      </p:sp>
      <p:sp>
        <p:nvSpPr>
          <p:cNvPr id="21" name="TextBox 20"/>
          <p:cNvSpPr txBox="1"/>
          <p:nvPr/>
        </p:nvSpPr>
        <p:spPr>
          <a:xfrm>
            <a:off x="1143000" y="3099816"/>
            <a:ext cx="8778240" cy="274320"/>
          </a:xfrm>
          <a:prstGeom prst="rect">
            <a:avLst/>
          </a:prstGeom>
          <a:noFill/>
        </p:spPr>
        <p:txBody>
          <a:bodyPr wrap="square" lIns="0" tIns="0" rIns="0" bIns="0" anchor="ctr">
            <a:spAutoFit/>
          </a:bodyPr>
          <a:lstStyle/>
          <a:p>
            <a:pPr marL="0" indent="0" algn="l">
              <a:lnSpc>
                <a:spcPct val="100000"/>
              </a:lnSpc>
              <a:spcAft>
                <a:spcPts val="400"/>
              </a:spcAft>
              <a:buNone/>
            </a:pPr>
            <a:r>
              <a:rPr sz="1450" b="0" i="0" dirty="0">
                <a:solidFill>
                  <a:srgbClr val="1F3864"/>
                </a:solidFill>
                <a:latin typeface="Product Sans"/>
                <a:ea typeface="Product Sans"/>
                <a:cs typeface="Product Sans"/>
              </a:rPr>
              <a:t>The toolkits, in detail</a:t>
            </a:r>
          </a:p>
        </p:txBody>
      </p:sp>
      <p:sp>
        <p:nvSpPr>
          <p:cNvPr id="22" name="TextBox 21"/>
          <p:cNvSpPr txBox="1"/>
          <p:nvPr/>
        </p:nvSpPr>
        <p:spPr>
          <a:xfrm>
            <a:off x="1143000" y="3355848"/>
            <a:ext cx="8778240" cy="237744"/>
          </a:xfrm>
          <a:prstGeom prst="rect">
            <a:avLst/>
          </a:prstGeom>
          <a:noFill/>
        </p:spPr>
        <p:txBody>
          <a:bodyPr wrap="square" lIns="0" tIns="0" rIns="0" bIns="0" anchor="ctr">
            <a:spAutoFit/>
          </a:bodyPr>
          <a:lstStyle/>
          <a:p>
            <a:pPr marL="0" indent="0" algn="l">
              <a:lnSpc>
                <a:spcPct val="100000"/>
              </a:lnSpc>
              <a:spcAft>
                <a:spcPts val="400"/>
              </a:spcAft>
              <a:buNone/>
            </a:pPr>
            <a:r>
              <a:rPr sz="1200" b="0" i="0">
                <a:solidFill>
                  <a:srgbClr val="595959"/>
                </a:solidFill>
                <a:latin typeface="Product Sans"/>
                <a:ea typeface="Product Sans"/>
                <a:cs typeface="Product Sans"/>
              </a:rPr>
              <a:t>The stack · eight model tools · skills · guardrails</a:t>
            </a:r>
          </a:p>
        </p:txBody>
      </p:sp>
      <p:sp>
        <p:nvSpPr>
          <p:cNvPr id="23" name="Rounded Rectangle 22"/>
          <p:cNvSpPr/>
          <p:nvPr/>
        </p:nvSpPr>
        <p:spPr>
          <a:xfrm>
            <a:off x="10378440" y="3136392"/>
            <a:ext cx="126187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0378440" y="3136392"/>
            <a:ext cx="126187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Product Sans"/>
                <a:ea typeface="Product Sans"/>
                <a:cs typeface="Product Sans"/>
              </a:rPr>
              <a:t>20 min</a:t>
            </a:r>
          </a:p>
        </p:txBody>
      </p:sp>
      <p:sp>
        <p:nvSpPr>
          <p:cNvPr id="25" name="Rounded Rectangle 24"/>
          <p:cNvSpPr/>
          <p:nvPr/>
        </p:nvSpPr>
        <p:spPr>
          <a:xfrm>
            <a:off x="548640" y="4059936"/>
            <a:ext cx="402336" cy="402336"/>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48640" y="4059936"/>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4</a:t>
            </a:r>
          </a:p>
        </p:txBody>
      </p:sp>
      <p:sp>
        <p:nvSpPr>
          <p:cNvPr id="27" name="TextBox 26"/>
          <p:cNvSpPr txBox="1"/>
          <p:nvPr/>
        </p:nvSpPr>
        <p:spPr>
          <a:xfrm>
            <a:off x="1143000" y="4041648"/>
            <a:ext cx="8778240" cy="274320"/>
          </a:xfrm>
          <a:prstGeom prst="rect">
            <a:avLst/>
          </a:prstGeom>
          <a:noFill/>
        </p:spPr>
        <p:txBody>
          <a:bodyPr wrap="square" lIns="0" tIns="0" rIns="0" bIns="0" anchor="ctr">
            <a:spAutoFit/>
          </a:bodyPr>
          <a:lstStyle/>
          <a:p>
            <a:pPr marL="0" indent="0" algn="l">
              <a:lnSpc>
                <a:spcPct val="100000"/>
              </a:lnSpc>
              <a:spcAft>
                <a:spcPts val="400"/>
              </a:spcAft>
              <a:buNone/>
            </a:pPr>
            <a:r>
              <a:rPr sz="1450" b="0" i="0" dirty="0">
                <a:solidFill>
                  <a:srgbClr val="1F3864"/>
                </a:solidFill>
                <a:latin typeface="Product Sans"/>
                <a:ea typeface="Product Sans"/>
                <a:cs typeface="Product Sans"/>
              </a:rPr>
              <a:t>The main demo, end to end</a:t>
            </a:r>
          </a:p>
        </p:txBody>
      </p:sp>
      <p:sp>
        <p:nvSpPr>
          <p:cNvPr id="28" name="TextBox 27"/>
          <p:cNvSpPr txBox="1"/>
          <p:nvPr/>
        </p:nvSpPr>
        <p:spPr>
          <a:xfrm>
            <a:off x="1143000" y="4297680"/>
            <a:ext cx="8778240" cy="237744"/>
          </a:xfrm>
          <a:prstGeom prst="rect">
            <a:avLst/>
          </a:prstGeom>
          <a:noFill/>
        </p:spPr>
        <p:txBody>
          <a:bodyPr wrap="square" lIns="0" tIns="0" rIns="0" bIns="0" anchor="ctr">
            <a:spAutoFit/>
          </a:bodyPr>
          <a:lstStyle/>
          <a:p>
            <a:pPr marL="0" indent="0" algn="l">
              <a:lnSpc>
                <a:spcPct val="100000"/>
              </a:lnSpc>
              <a:spcAft>
                <a:spcPts val="400"/>
              </a:spcAft>
              <a:buNone/>
            </a:pPr>
            <a:r>
              <a:rPr sz="1200" b="0" i="0">
                <a:solidFill>
                  <a:srgbClr val="595959"/>
                </a:solidFill>
                <a:latin typeface="Product Sans"/>
                <a:ea typeface="Product Sans"/>
                <a:cs typeface="Product Sans"/>
              </a:rPr>
              <a:t>Build a plant and controller · requirement → failing test → green</a:t>
            </a:r>
          </a:p>
        </p:txBody>
      </p:sp>
      <p:sp>
        <p:nvSpPr>
          <p:cNvPr id="29" name="Rounded Rectangle 28"/>
          <p:cNvSpPr/>
          <p:nvPr/>
        </p:nvSpPr>
        <p:spPr>
          <a:xfrm>
            <a:off x="10378440" y="4078224"/>
            <a:ext cx="126187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0378440" y="4078224"/>
            <a:ext cx="126187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Product Sans"/>
                <a:ea typeface="Product Sans"/>
                <a:cs typeface="Product Sans"/>
              </a:rPr>
              <a:t>45 min</a:t>
            </a:r>
          </a:p>
        </p:txBody>
      </p:sp>
      <p:sp>
        <p:nvSpPr>
          <p:cNvPr id="31" name="Rounded Rectangle 30"/>
          <p:cNvSpPr/>
          <p:nvPr/>
        </p:nvSpPr>
        <p:spPr>
          <a:xfrm>
            <a:off x="548640" y="5001768"/>
            <a:ext cx="402336" cy="402336"/>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48640" y="5001768"/>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5</a:t>
            </a:r>
          </a:p>
        </p:txBody>
      </p:sp>
      <p:sp>
        <p:nvSpPr>
          <p:cNvPr id="33" name="TextBox 32"/>
          <p:cNvSpPr txBox="1"/>
          <p:nvPr/>
        </p:nvSpPr>
        <p:spPr>
          <a:xfrm>
            <a:off x="1143000" y="4983480"/>
            <a:ext cx="8778240" cy="274320"/>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Safety-critical code, then wrap</a:t>
            </a:r>
          </a:p>
        </p:txBody>
      </p:sp>
      <p:sp>
        <p:nvSpPr>
          <p:cNvPr id="34" name="TextBox 33"/>
          <p:cNvSpPr txBox="1"/>
          <p:nvPr/>
        </p:nvSpPr>
        <p:spPr>
          <a:xfrm>
            <a:off x="1143000" y="5239512"/>
            <a:ext cx="8778240" cy="237744"/>
          </a:xfrm>
          <a:prstGeom prst="rect">
            <a:avLst/>
          </a:prstGeom>
          <a:noFill/>
        </p:spPr>
        <p:txBody>
          <a:bodyPr wrap="square" lIns="0" tIns="0" rIns="0" bIns="0" anchor="ctr">
            <a:spAutoFit/>
          </a:bodyPr>
          <a:lstStyle/>
          <a:p>
            <a:pPr marL="0" indent="0" algn="l">
              <a:lnSpc>
                <a:spcPct val="100000"/>
              </a:lnSpc>
              <a:spcAft>
                <a:spcPts val="400"/>
              </a:spcAft>
              <a:buNone/>
            </a:pPr>
            <a:r>
              <a:rPr sz="1200" b="0" i="0">
                <a:solidFill>
                  <a:srgbClr val="595959"/>
                </a:solidFill>
                <a:latin typeface="Product Sans"/>
                <a:ea typeface="Product Sans"/>
                <a:cs typeface="Product Sans"/>
              </a:rPr>
              <a:t>Polyspace on ECU C · resources · Q&amp;A</a:t>
            </a:r>
          </a:p>
        </p:txBody>
      </p:sp>
      <p:sp>
        <p:nvSpPr>
          <p:cNvPr id="35" name="Rounded Rectangle 34"/>
          <p:cNvSpPr/>
          <p:nvPr/>
        </p:nvSpPr>
        <p:spPr>
          <a:xfrm>
            <a:off x="10378440" y="5020056"/>
            <a:ext cx="126187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10378440" y="5020056"/>
            <a:ext cx="126187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Product Sans"/>
                <a:ea typeface="Product Sans"/>
                <a:cs typeface="Product Sans"/>
              </a:rPr>
              <a:t>20 min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3</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The copy-paste loop is broken</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You cannot paste a Simulink model — or a 400 MB test log — into a chat window</a:t>
            </a:r>
          </a:p>
        </p:txBody>
      </p:sp>
      <p:sp>
        <p:nvSpPr>
          <p:cNvPr id="8" name="Rounded Rectangle 7"/>
          <p:cNvSpPr/>
          <p:nvPr/>
        </p:nvSpPr>
        <p:spPr>
          <a:xfrm>
            <a:off x="548640" y="1261872"/>
            <a:ext cx="5408676" cy="3063240"/>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13232" y="1371600"/>
            <a:ext cx="5079492" cy="237744"/>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1F3864"/>
                </a:solidFill>
                <a:latin typeface="Product Sans"/>
                <a:ea typeface="Product Sans"/>
                <a:cs typeface="Product Sans"/>
              </a:rPr>
              <a:t>Chat AI — you are the middleware</a:t>
            </a:r>
          </a:p>
        </p:txBody>
      </p:sp>
      <p:sp>
        <p:nvSpPr>
          <p:cNvPr id="10" name="Oval 9"/>
          <p:cNvSpPr/>
          <p:nvPr/>
        </p:nvSpPr>
        <p:spPr>
          <a:xfrm>
            <a:off x="2686050" y="2217420"/>
            <a:ext cx="1133856" cy="1133856"/>
          </a:xfrm>
          <a:prstGeom prst="ellipse">
            <a:avLst/>
          </a:prstGeom>
          <a:noFill/>
          <a:ln w="15875">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439162" y="1659636"/>
            <a:ext cx="1627632" cy="384048"/>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262626"/>
                </a:solidFill>
                <a:latin typeface="Product Sans"/>
                <a:ea typeface="Product Sans"/>
                <a:cs typeface="Product Sans"/>
              </a:rPr>
              <a:t>you retype the problem</a:t>
            </a:r>
          </a:p>
        </p:txBody>
      </p:sp>
      <p:sp>
        <p:nvSpPr>
          <p:cNvPr id="12" name="Oval 11"/>
          <p:cNvSpPr/>
          <p:nvPr/>
        </p:nvSpPr>
        <p:spPr>
          <a:xfrm>
            <a:off x="3175254" y="2139696"/>
            <a:ext cx="155448" cy="155448"/>
          </a:xfrm>
          <a:prstGeom prst="ellipse">
            <a:avLst/>
          </a:prstGeom>
          <a:solidFill>
            <a:srgbClr val="A32A2A"/>
          </a:solidFill>
          <a:ln w="1905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778416" y="2304107"/>
            <a:ext cx="1627632" cy="384048"/>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262626"/>
                </a:solidFill>
                <a:latin typeface="Product Sans"/>
                <a:ea typeface="Product Sans"/>
                <a:cs typeface="Product Sans"/>
              </a:rPr>
              <a:t>it answers, untested</a:t>
            </a:r>
          </a:p>
        </p:txBody>
      </p:sp>
      <p:sp>
        <p:nvSpPr>
          <p:cNvPr id="14" name="Oval 13"/>
          <p:cNvSpPr/>
          <p:nvPr/>
        </p:nvSpPr>
        <p:spPr>
          <a:xfrm>
            <a:off x="3714434" y="2531433"/>
            <a:ext cx="155448" cy="155448"/>
          </a:xfrm>
          <a:prstGeom prst="ellipse">
            <a:avLst/>
          </a:prstGeom>
          <a:solidFill>
            <a:srgbClr val="A32A2A"/>
          </a:solidFill>
          <a:ln w="1905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266867" y="3346884"/>
            <a:ext cx="1627632" cy="384048"/>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262626"/>
                </a:solidFill>
                <a:latin typeface="Product Sans"/>
                <a:ea typeface="Product Sans"/>
                <a:cs typeface="Product Sans"/>
              </a:rPr>
              <a:t>you paste it into MATLAB</a:t>
            </a:r>
          </a:p>
        </p:txBody>
      </p:sp>
      <p:sp>
        <p:nvSpPr>
          <p:cNvPr id="16" name="Oval 15"/>
          <p:cNvSpPr/>
          <p:nvPr/>
        </p:nvSpPr>
        <p:spPr>
          <a:xfrm>
            <a:off x="3508485" y="3165278"/>
            <a:ext cx="155448" cy="155448"/>
          </a:xfrm>
          <a:prstGeom prst="ellipse">
            <a:avLst/>
          </a:prstGeom>
          <a:solidFill>
            <a:srgbClr val="A32A2A"/>
          </a:solidFill>
          <a:ln w="1905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611456" y="3346884"/>
            <a:ext cx="1627632" cy="384048"/>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262626"/>
                </a:solidFill>
                <a:latin typeface="Product Sans"/>
                <a:ea typeface="Product Sans"/>
                <a:cs typeface="Product Sans"/>
              </a:rPr>
              <a:t>it breaks</a:t>
            </a:r>
          </a:p>
        </p:txBody>
      </p:sp>
      <p:sp>
        <p:nvSpPr>
          <p:cNvPr id="18" name="Oval 17"/>
          <p:cNvSpPr/>
          <p:nvPr/>
        </p:nvSpPr>
        <p:spPr>
          <a:xfrm>
            <a:off x="2842022" y="3165278"/>
            <a:ext cx="155448" cy="155448"/>
          </a:xfrm>
          <a:prstGeom prst="ellipse">
            <a:avLst/>
          </a:prstGeom>
          <a:solidFill>
            <a:srgbClr val="A32A2A"/>
          </a:solidFill>
          <a:ln w="1905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99907" y="2304107"/>
            <a:ext cx="1627632" cy="384048"/>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262626"/>
                </a:solidFill>
                <a:latin typeface="Product Sans"/>
                <a:ea typeface="Product Sans"/>
                <a:cs typeface="Product Sans"/>
              </a:rPr>
              <a:t>you paste the error back</a:t>
            </a:r>
          </a:p>
        </p:txBody>
      </p:sp>
      <p:sp>
        <p:nvSpPr>
          <p:cNvPr id="20" name="Oval 19"/>
          <p:cNvSpPr/>
          <p:nvPr/>
        </p:nvSpPr>
        <p:spPr>
          <a:xfrm>
            <a:off x="2636073" y="2531433"/>
            <a:ext cx="155448" cy="155448"/>
          </a:xfrm>
          <a:prstGeom prst="ellipse">
            <a:avLst/>
          </a:prstGeom>
          <a:solidFill>
            <a:srgbClr val="A32A2A"/>
          </a:solidFill>
          <a:ln w="1905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13232" y="4014216"/>
            <a:ext cx="5079492" cy="219456"/>
          </a:xfrm>
          <a:prstGeom prst="rect">
            <a:avLst/>
          </a:prstGeom>
          <a:noFill/>
        </p:spPr>
        <p:txBody>
          <a:bodyPr wrap="square" lIns="0" tIns="0" rIns="0" bIns="0" anchor="ctr">
            <a:spAutoFit/>
          </a:bodyPr>
          <a:lstStyle/>
          <a:p>
            <a:pPr marL="0" indent="0" algn="ctr">
              <a:lnSpc>
                <a:spcPct val="100000"/>
              </a:lnSpc>
              <a:spcAft>
                <a:spcPts val="400"/>
              </a:spcAft>
              <a:buNone/>
            </a:pPr>
            <a:r>
              <a:rPr sz="1000" b="0" i="1">
                <a:solidFill>
                  <a:srgbClr val="595959"/>
                </a:solidFill>
                <a:latin typeface="Product Sans"/>
                <a:ea typeface="Product Sans"/>
                <a:cs typeface="Product Sans"/>
              </a:rPr>
              <a:t>every lap costs you a context switch</a:t>
            </a:r>
          </a:p>
        </p:txBody>
      </p:sp>
      <p:sp>
        <p:nvSpPr>
          <p:cNvPr id="22" name="Rounded Rectangle 21"/>
          <p:cNvSpPr/>
          <p:nvPr/>
        </p:nvSpPr>
        <p:spPr>
          <a:xfrm>
            <a:off x="6231636" y="1261872"/>
            <a:ext cx="5408676" cy="3063240"/>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396227" y="1371600"/>
            <a:ext cx="5079492" cy="237744"/>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1F3864"/>
                </a:solidFill>
                <a:latin typeface="Product Sans"/>
                <a:ea typeface="Product Sans"/>
                <a:cs typeface="Product Sans"/>
              </a:rPr>
              <a:t>Agentic AI — the agent runs the loop</a:t>
            </a:r>
          </a:p>
        </p:txBody>
      </p:sp>
      <p:sp>
        <p:nvSpPr>
          <p:cNvPr id="24" name="Oval 23"/>
          <p:cNvSpPr/>
          <p:nvPr/>
        </p:nvSpPr>
        <p:spPr>
          <a:xfrm>
            <a:off x="8369046" y="2217420"/>
            <a:ext cx="1133856" cy="1133856"/>
          </a:xfrm>
          <a:prstGeom prst="ellipse">
            <a:avLst/>
          </a:prstGeom>
          <a:noFill/>
          <a:ln w="15875">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122157" y="1659636"/>
            <a:ext cx="1627632" cy="384048"/>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262626"/>
                </a:solidFill>
                <a:latin typeface="Product Sans"/>
                <a:ea typeface="Product Sans"/>
                <a:cs typeface="Product Sans"/>
              </a:rPr>
              <a:t>you state the goal</a:t>
            </a:r>
          </a:p>
        </p:txBody>
      </p:sp>
      <p:sp>
        <p:nvSpPr>
          <p:cNvPr id="26" name="Oval 25"/>
          <p:cNvSpPr/>
          <p:nvPr/>
        </p:nvSpPr>
        <p:spPr>
          <a:xfrm>
            <a:off x="8858249" y="2139696"/>
            <a:ext cx="155448" cy="155448"/>
          </a:xfrm>
          <a:prstGeom prst="ellipse">
            <a:avLst/>
          </a:prstGeom>
          <a:solidFill>
            <a:srgbClr val="2F7D3B"/>
          </a:solidFill>
          <a:ln w="1905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461412" y="2304107"/>
            <a:ext cx="1627632" cy="384048"/>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262626"/>
                </a:solidFill>
                <a:latin typeface="Product Sans"/>
                <a:ea typeface="Product Sans"/>
                <a:cs typeface="Product Sans"/>
              </a:rPr>
              <a:t>the agent plans</a:t>
            </a:r>
          </a:p>
        </p:txBody>
      </p:sp>
      <p:sp>
        <p:nvSpPr>
          <p:cNvPr id="28" name="Oval 27"/>
          <p:cNvSpPr/>
          <p:nvPr/>
        </p:nvSpPr>
        <p:spPr>
          <a:xfrm>
            <a:off x="9397430" y="2531433"/>
            <a:ext cx="155448" cy="155448"/>
          </a:xfrm>
          <a:prstGeom prst="ellipse">
            <a:avLst/>
          </a:prstGeom>
          <a:solidFill>
            <a:srgbClr val="2F7D3B"/>
          </a:solidFill>
          <a:ln w="1905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949863" y="3346884"/>
            <a:ext cx="1627632" cy="384048"/>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262626"/>
                </a:solidFill>
                <a:latin typeface="Product Sans"/>
                <a:ea typeface="Product Sans"/>
                <a:cs typeface="Product Sans"/>
              </a:rPr>
              <a:t>it runs MATLAB itself</a:t>
            </a:r>
          </a:p>
        </p:txBody>
      </p:sp>
      <p:sp>
        <p:nvSpPr>
          <p:cNvPr id="30" name="Oval 29"/>
          <p:cNvSpPr/>
          <p:nvPr/>
        </p:nvSpPr>
        <p:spPr>
          <a:xfrm>
            <a:off x="9191481" y="3165278"/>
            <a:ext cx="155448" cy="155448"/>
          </a:xfrm>
          <a:prstGeom prst="ellipse">
            <a:avLst/>
          </a:prstGeom>
          <a:solidFill>
            <a:srgbClr val="2F7D3B"/>
          </a:solidFill>
          <a:ln w="1905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294452" y="3346884"/>
            <a:ext cx="1627632" cy="384048"/>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262626"/>
                </a:solidFill>
                <a:latin typeface="Product Sans"/>
                <a:ea typeface="Product Sans"/>
                <a:cs typeface="Product Sans"/>
              </a:rPr>
              <a:t>it reads the real error</a:t>
            </a:r>
          </a:p>
        </p:txBody>
      </p:sp>
      <p:sp>
        <p:nvSpPr>
          <p:cNvPr id="32" name="Oval 31"/>
          <p:cNvSpPr/>
          <p:nvPr/>
        </p:nvSpPr>
        <p:spPr>
          <a:xfrm>
            <a:off x="8525018" y="3165278"/>
            <a:ext cx="155448" cy="155448"/>
          </a:xfrm>
          <a:prstGeom prst="ellipse">
            <a:avLst/>
          </a:prstGeom>
          <a:solidFill>
            <a:srgbClr val="2F7D3B"/>
          </a:solidFill>
          <a:ln w="1905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782903" y="2304107"/>
            <a:ext cx="1627632" cy="384048"/>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262626"/>
                </a:solidFill>
                <a:latin typeface="Product Sans"/>
                <a:ea typeface="Product Sans"/>
                <a:cs typeface="Product Sans"/>
              </a:rPr>
              <a:t>it fixes and re-runs</a:t>
            </a:r>
          </a:p>
        </p:txBody>
      </p:sp>
      <p:sp>
        <p:nvSpPr>
          <p:cNvPr id="34" name="Oval 33"/>
          <p:cNvSpPr/>
          <p:nvPr/>
        </p:nvSpPr>
        <p:spPr>
          <a:xfrm>
            <a:off x="8319069" y="2531433"/>
            <a:ext cx="155448" cy="155448"/>
          </a:xfrm>
          <a:prstGeom prst="ellipse">
            <a:avLst/>
          </a:prstGeom>
          <a:solidFill>
            <a:srgbClr val="2F7D3B"/>
          </a:solidFill>
          <a:ln w="1905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396227" y="4014216"/>
            <a:ext cx="5079492" cy="219456"/>
          </a:xfrm>
          <a:prstGeom prst="rect">
            <a:avLst/>
          </a:prstGeom>
          <a:noFill/>
        </p:spPr>
        <p:txBody>
          <a:bodyPr wrap="square" lIns="0" tIns="0" rIns="0" bIns="0" anchor="ctr">
            <a:spAutoFit/>
          </a:bodyPr>
          <a:lstStyle/>
          <a:p>
            <a:pPr marL="0" indent="0" algn="ctr">
              <a:lnSpc>
                <a:spcPct val="100000"/>
              </a:lnSpc>
              <a:spcAft>
                <a:spcPts val="400"/>
              </a:spcAft>
              <a:buNone/>
            </a:pPr>
            <a:r>
              <a:rPr sz="1000" b="0" i="1">
                <a:solidFill>
                  <a:srgbClr val="595959"/>
                </a:solidFill>
                <a:latin typeface="Product Sans"/>
                <a:ea typeface="Product Sans"/>
                <a:cs typeface="Product Sans"/>
              </a:rPr>
              <a:t>you step in to review, not to relay</a:t>
            </a:r>
          </a:p>
        </p:txBody>
      </p:sp>
      <p:sp>
        <p:nvSpPr>
          <p:cNvPr id="36" name="Rounded Rectangle 35"/>
          <p:cNvSpPr/>
          <p:nvPr/>
        </p:nvSpPr>
        <p:spPr>
          <a:xfrm>
            <a:off x="548640" y="4462272"/>
            <a:ext cx="5394960" cy="1170432"/>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786384" y="4572000"/>
            <a:ext cx="347472" cy="347472"/>
          </a:xfrm>
          <a:prstGeom prst="ellipse">
            <a:avLst/>
          </a:prstGeom>
          <a:solidFill>
            <a:srgbClr val="A32A2A"/>
          </a:solidFill>
          <a:ln w="1905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Isosceles Triangle 37"/>
          <p:cNvSpPr/>
          <p:nvPr/>
        </p:nvSpPr>
        <p:spPr>
          <a:xfrm>
            <a:off x="855878" y="4650181"/>
            <a:ext cx="208483" cy="191109"/>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786384" y="4606747"/>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A32A2A"/>
                </a:solidFill>
                <a:latin typeface="Product Sans"/>
                <a:ea typeface="Product Sans"/>
                <a:cs typeface="Product Sans"/>
              </a:rPr>
              <a:t>!</a:t>
            </a:r>
          </a:p>
        </p:txBody>
      </p:sp>
      <p:sp>
        <p:nvSpPr>
          <p:cNvPr id="40" name="TextBox 39"/>
          <p:cNvSpPr txBox="1"/>
          <p:nvPr/>
        </p:nvSpPr>
        <p:spPr>
          <a:xfrm>
            <a:off x="1280160" y="4599432"/>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What the left loop costs you</a:t>
            </a:r>
          </a:p>
        </p:txBody>
      </p:sp>
      <p:sp>
        <p:nvSpPr>
          <p:cNvPr id="41" name="TextBox 40"/>
          <p:cNvSpPr txBox="1"/>
          <p:nvPr/>
        </p:nvSpPr>
        <p:spPr>
          <a:xfrm>
            <a:off x="786384" y="5001768"/>
            <a:ext cx="4919472" cy="521207"/>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050" b="0" i="0">
                <a:solidFill>
                  <a:srgbClr val="262626"/>
                </a:solidFill>
                <a:latin typeface="Product Sans"/>
                <a:ea typeface="Product Sans"/>
                <a:cs typeface="Product Sans"/>
              </a:rPr>
              <a:t>Hallucinated block names and library paths that do not exist</a:t>
            </a:r>
          </a:p>
          <a:p>
            <a:pPr marL="127000" indent="-127000" algn="l">
              <a:lnSpc>
                <a:spcPct val="100000"/>
              </a:lnSpc>
              <a:spcAft>
                <a:spcPts val="600"/>
              </a:spcAft>
              <a:buSzPct val="100000"/>
              <a:buChar char="•"/>
            </a:pPr>
            <a:r>
              <a:rPr sz="1050" b="0" i="0">
                <a:solidFill>
                  <a:srgbClr val="262626"/>
                </a:solidFill>
                <a:latin typeface="Product Sans"/>
                <a:ea typeface="Product Sans"/>
                <a:cs typeface="Product Sans"/>
              </a:rPr>
              <a:t>Advice that arrives untested — you rebuild it by hand to find out</a:t>
            </a:r>
          </a:p>
        </p:txBody>
      </p:sp>
      <p:sp>
        <p:nvSpPr>
          <p:cNvPr id="42" name="Rounded Rectangle 41"/>
          <p:cNvSpPr/>
          <p:nvPr/>
        </p:nvSpPr>
        <p:spPr>
          <a:xfrm>
            <a:off x="6245352" y="4462272"/>
            <a:ext cx="5394960" cy="1170432"/>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6483096" y="4572000"/>
            <a:ext cx="347472" cy="347472"/>
          </a:xfrm>
          <a:prstGeom prst="ellipse">
            <a:avLst/>
          </a:prstGeom>
          <a:solidFill>
            <a:srgbClr val="2F7D3B"/>
          </a:solidFill>
          <a:ln w="1905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483096" y="4572000"/>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350" b="0" i="0">
                <a:solidFill>
                  <a:srgbClr val="FFFFFF"/>
                </a:solidFill>
                <a:latin typeface="Product Sans"/>
                <a:ea typeface="Product Sans"/>
                <a:cs typeface="Product Sans"/>
              </a:rPr>
              <a:t>✓</a:t>
            </a:r>
          </a:p>
        </p:txBody>
      </p:sp>
      <p:sp>
        <p:nvSpPr>
          <p:cNvPr id="45" name="TextBox 44"/>
          <p:cNvSpPr txBox="1"/>
          <p:nvPr/>
        </p:nvSpPr>
        <p:spPr>
          <a:xfrm>
            <a:off x="6976872" y="4599432"/>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What the right loop gives you</a:t>
            </a:r>
          </a:p>
        </p:txBody>
      </p:sp>
      <p:sp>
        <p:nvSpPr>
          <p:cNvPr id="46" name="TextBox 45"/>
          <p:cNvSpPr txBox="1"/>
          <p:nvPr/>
        </p:nvSpPr>
        <p:spPr>
          <a:xfrm>
            <a:off x="6483096" y="5001768"/>
            <a:ext cx="4919472" cy="521207"/>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The agent reads and edits the real model, then simulates it</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Reviewable evidence: tests that ran, numbers you can check</a:t>
            </a:r>
          </a:p>
        </p:txBody>
      </p:sp>
      <p:sp>
        <p:nvSpPr>
          <p:cNvPr id="47" name="Rounded Rectangle 46"/>
          <p:cNvSpPr/>
          <p:nvPr/>
        </p:nvSpPr>
        <p:spPr>
          <a:xfrm>
            <a:off x="548640" y="5568696"/>
            <a:ext cx="11091672" cy="603504"/>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685800" y="5568696"/>
            <a:ext cx="10817352" cy="603504"/>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LLMs hallucinate models and mathematics. MATLAB executes them. Execution inside the real tool is what makes AI trustworthy for engineering.</a:t>
            </a:r>
          </a:p>
        </p:txBody>
      </p:sp>
      <p:sp>
        <p:nvSpPr>
          <p:cNvPr id="49" name="TextBox 48"/>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Source: MathWorks — Guide to Agentic AI with MATLAB and Simulink, Ch.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4</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What we are predicting: cycles until failure</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One held-out engine, from new to nearly failed — and the question the model has to answer</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DEMO</a:t>
            </a:r>
          </a:p>
        </p:txBody>
      </p:sp>
      <p:sp>
        <p:nvSpPr>
          <p:cNvPr id="10" name="Rounded Rectangle 9"/>
          <p:cNvSpPr/>
          <p:nvPr/>
        </p:nvSpPr>
        <p:spPr>
          <a:xfrm>
            <a:off x="548640" y="1243584"/>
            <a:ext cx="7040880" cy="3931920"/>
          </a:xfrm>
          <a:prstGeom prst="roundRect">
            <a:avLst>
              <a:gd name="adj" fmla="val 4500"/>
            </a:avLst>
          </a:prstGeom>
          <a:solidFill>
            <a:srgbClr val="FFFFFF"/>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image.png"/>
          <p:cNvPicPr>
            <a:picLocks noChangeAspect="1"/>
          </p:cNvPicPr>
          <p:nvPr/>
        </p:nvPicPr>
        <p:blipFill>
          <a:blip r:embed="rId5"/>
          <a:stretch>
            <a:fillRect/>
          </a:stretch>
        </p:blipFill>
        <p:spPr>
          <a:xfrm>
            <a:off x="747524" y="1243584"/>
            <a:ext cx="6643111" cy="3931920"/>
          </a:xfrm>
          <a:prstGeom prst="rect">
            <a:avLst/>
          </a:prstGeom>
        </p:spPr>
      </p:pic>
      <p:sp>
        <p:nvSpPr>
          <p:cNvPr id="12" name="Rounded Rectangle 11"/>
          <p:cNvSpPr/>
          <p:nvPr/>
        </p:nvSpPr>
        <p:spPr>
          <a:xfrm>
            <a:off x="7772400" y="1243584"/>
            <a:ext cx="3867912" cy="2578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8010144" y="1353312"/>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097011" y="1440180"/>
            <a:ext cx="173736" cy="173736"/>
          </a:xfrm>
          <a:prstGeom prst="ellipse">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178667" y="1467977"/>
            <a:ext cx="10424" cy="62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183879" y="1521835"/>
            <a:ext cx="48646" cy="10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503920" y="1380744"/>
            <a:ext cx="2898648" cy="292608"/>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What RUL means</a:t>
            </a:r>
          </a:p>
        </p:txBody>
      </p:sp>
      <p:sp>
        <p:nvSpPr>
          <p:cNvPr id="18" name="TextBox 17"/>
          <p:cNvSpPr txBox="1"/>
          <p:nvPr/>
        </p:nvSpPr>
        <p:spPr>
          <a:xfrm>
            <a:off x="8010144" y="1783080"/>
            <a:ext cx="3392424" cy="1929383"/>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Every engine in this data ran until it actually failed.</a:t>
            </a:r>
          </a:p>
          <a:p>
            <a:pPr marL="127000" indent="-127000" algn="l">
              <a:lnSpc>
                <a:spcPct val="100000"/>
              </a:lnSpc>
              <a:spcAft>
                <a:spcPts val="600"/>
              </a:spcAft>
              <a:buSzPct val="100000"/>
              <a:buChar char="•"/>
            </a:pPr>
            <a:r>
              <a:rPr sz="1200" b="1" i="0">
                <a:solidFill>
                  <a:srgbClr val="262626"/>
                </a:solidFill>
                <a:latin typeface="Product Sans"/>
                <a:ea typeface="Product Sans"/>
                <a:cs typeface="Product Sans"/>
              </a:rPr>
              <a:t>RUL = the cycles left at any moment — a countdown to failure.</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Capped at 150: past that, a healthy engine looks much the same.</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For a test engine the data just stops. From sensors alone — how many cycles remain?</a:t>
            </a:r>
          </a:p>
        </p:txBody>
      </p:sp>
      <p:sp>
        <p:nvSpPr>
          <p:cNvPr id="19" name="Rounded Rectangle 18"/>
          <p:cNvSpPr/>
          <p:nvPr/>
        </p:nvSpPr>
        <p:spPr>
          <a:xfrm>
            <a:off x="7772400" y="3931920"/>
            <a:ext cx="3867912" cy="1243584"/>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973568" y="4014215"/>
            <a:ext cx="3465576" cy="219456"/>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ACROSS ALL 100 HELD-OUT ENGINES</a:t>
            </a:r>
          </a:p>
        </p:txBody>
      </p:sp>
      <p:sp>
        <p:nvSpPr>
          <p:cNvPr id="21" name="TextBox 20"/>
          <p:cNvSpPr txBox="1"/>
          <p:nvPr/>
        </p:nvSpPr>
        <p:spPr>
          <a:xfrm>
            <a:off x="7973568" y="4261104"/>
            <a:ext cx="2103120" cy="237744"/>
          </a:xfrm>
          <a:prstGeom prst="rect">
            <a:avLst/>
          </a:prstGeom>
          <a:noFill/>
        </p:spPr>
        <p:txBody>
          <a:bodyPr wrap="square" lIns="0" tIns="0" rIns="0" bIns="0" anchor="t">
            <a:spAutoFit/>
          </a:bodyPr>
          <a:lstStyle/>
          <a:p>
            <a:pPr marL="0" indent="0" algn="l">
              <a:lnSpc>
                <a:spcPct val="100000"/>
              </a:lnSpc>
              <a:spcAft>
                <a:spcPts val="400"/>
              </a:spcAft>
              <a:buNone/>
            </a:pPr>
            <a:r>
              <a:rPr sz="1200" b="0" i="0">
                <a:solidFill>
                  <a:srgbClr val="262626"/>
                </a:solidFill>
                <a:latin typeface="Product Sans"/>
                <a:ea typeface="Product Sans"/>
                <a:cs typeface="Product Sans"/>
              </a:rPr>
              <a:t>typical miss (RMSE)</a:t>
            </a:r>
          </a:p>
        </p:txBody>
      </p:sp>
      <p:sp>
        <p:nvSpPr>
          <p:cNvPr id="22" name="TextBox 21"/>
          <p:cNvSpPr txBox="1"/>
          <p:nvPr/>
        </p:nvSpPr>
        <p:spPr>
          <a:xfrm>
            <a:off x="10104120" y="4261104"/>
            <a:ext cx="1481328" cy="237744"/>
          </a:xfrm>
          <a:prstGeom prst="rect">
            <a:avLst/>
          </a:prstGeom>
          <a:noFill/>
        </p:spPr>
        <p:txBody>
          <a:bodyPr wrap="square" lIns="0" tIns="0" rIns="0" bIns="0" anchor="t">
            <a:spAutoFit/>
          </a:bodyPr>
          <a:lstStyle/>
          <a:p>
            <a:pPr marL="0" indent="0" algn="l">
              <a:lnSpc>
                <a:spcPct val="100000"/>
              </a:lnSpc>
              <a:spcAft>
                <a:spcPts val="400"/>
              </a:spcAft>
              <a:buNone/>
            </a:pPr>
            <a:r>
              <a:rPr sz="1150" b="0" i="0">
                <a:solidFill>
                  <a:srgbClr val="1F3864"/>
                </a:solidFill>
                <a:latin typeface="Cascadia Mono"/>
                <a:ea typeface="Cascadia Mono"/>
                <a:cs typeface="Cascadia Mono"/>
              </a:rPr>
              <a:t>~20 cycles</a:t>
            </a:r>
          </a:p>
        </p:txBody>
      </p:sp>
      <p:sp>
        <p:nvSpPr>
          <p:cNvPr id="23" name="TextBox 22"/>
          <p:cNvSpPr txBox="1"/>
          <p:nvPr/>
        </p:nvSpPr>
        <p:spPr>
          <a:xfrm>
            <a:off x="7973568" y="4562856"/>
            <a:ext cx="2103120" cy="237744"/>
          </a:xfrm>
          <a:prstGeom prst="rect">
            <a:avLst/>
          </a:prstGeom>
          <a:noFill/>
        </p:spPr>
        <p:txBody>
          <a:bodyPr wrap="square" lIns="0" tIns="0" rIns="0" bIns="0" anchor="t">
            <a:spAutoFit/>
          </a:bodyPr>
          <a:lstStyle/>
          <a:p>
            <a:pPr marL="0" indent="0" algn="l">
              <a:lnSpc>
                <a:spcPct val="100000"/>
              </a:lnSpc>
              <a:spcAft>
                <a:spcPts val="400"/>
              </a:spcAft>
              <a:buNone/>
            </a:pPr>
            <a:r>
              <a:rPr sz="1200" b="0" i="0">
                <a:solidFill>
                  <a:srgbClr val="262626"/>
                </a:solidFill>
                <a:latin typeface="Product Sans"/>
                <a:ea typeface="Product Sans"/>
                <a:cs typeface="Product Sans"/>
              </a:rPr>
              <a:t>half the engines within</a:t>
            </a:r>
          </a:p>
        </p:txBody>
      </p:sp>
      <p:sp>
        <p:nvSpPr>
          <p:cNvPr id="24" name="TextBox 23"/>
          <p:cNvSpPr txBox="1"/>
          <p:nvPr/>
        </p:nvSpPr>
        <p:spPr>
          <a:xfrm>
            <a:off x="10104120" y="4562856"/>
            <a:ext cx="1481328" cy="237744"/>
          </a:xfrm>
          <a:prstGeom prst="rect">
            <a:avLst/>
          </a:prstGeom>
          <a:noFill/>
        </p:spPr>
        <p:txBody>
          <a:bodyPr wrap="square" lIns="0" tIns="0" rIns="0" bIns="0" anchor="t">
            <a:spAutoFit/>
          </a:bodyPr>
          <a:lstStyle/>
          <a:p>
            <a:pPr marL="0" indent="0" algn="l">
              <a:lnSpc>
                <a:spcPct val="100000"/>
              </a:lnSpc>
              <a:spcAft>
                <a:spcPts val="400"/>
              </a:spcAft>
              <a:buNone/>
            </a:pPr>
            <a:r>
              <a:rPr sz="1150" b="0" i="0">
                <a:solidFill>
                  <a:srgbClr val="1F3864"/>
                </a:solidFill>
                <a:latin typeface="Cascadia Mono"/>
                <a:ea typeface="Cascadia Mono"/>
                <a:cs typeface="Cascadia Mono"/>
              </a:rPr>
              <a:t>11 cycles</a:t>
            </a:r>
          </a:p>
        </p:txBody>
      </p:sp>
      <p:sp>
        <p:nvSpPr>
          <p:cNvPr id="25" name="TextBox 24"/>
          <p:cNvSpPr txBox="1"/>
          <p:nvPr/>
        </p:nvSpPr>
        <p:spPr>
          <a:xfrm>
            <a:off x="7973568" y="4864608"/>
            <a:ext cx="2103120" cy="237744"/>
          </a:xfrm>
          <a:prstGeom prst="rect">
            <a:avLst/>
          </a:prstGeom>
          <a:noFill/>
        </p:spPr>
        <p:txBody>
          <a:bodyPr wrap="square" lIns="0" tIns="0" rIns="0" bIns="0" anchor="t">
            <a:spAutoFit/>
          </a:bodyPr>
          <a:lstStyle/>
          <a:p>
            <a:pPr marL="0" indent="0" algn="l">
              <a:lnSpc>
                <a:spcPct val="100000"/>
              </a:lnSpc>
              <a:spcAft>
                <a:spcPts val="400"/>
              </a:spcAft>
              <a:buNone/>
            </a:pPr>
            <a:r>
              <a:rPr sz="1200" b="0" i="0">
                <a:solidFill>
                  <a:srgbClr val="262626"/>
                </a:solidFill>
                <a:latin typeface="Product Sans"/>
                <a:ea typeface="Product Sans"/>
                <a:cs typeface="Product Sans"/>
              </a:rPr>
              <a:t>vs guessing the average</a:t>
            </a:r>
          </a:p>
        </p:txBody>
      </p:sp>
      <p:sp>
        <p:nvSpPr>
          <p:cNvPr id="26" name="TextBox 25"/>
          <p:cNvSpPr txBox="1"/>
          <p:nvPr/>
        </p:nvSpPr>
        <p:spPr>
          <a:xfrm>
            <a:off x="10104120" y="4864608"/>
            <a:ext cx="1481328" cy="237744"/>
          </a:xfrm>
          <a:prstGeom prst="rect">
            <a:avLst/>
          </a:prstGeom>
          <a:noFill/>
        </p:spPr>
        <p:txBody>
          <a:bodyPr wrap="square" lIns="0" tIns="0" rIns="0" bIns="0" anchor="t">
            <a:spAutoFit/>
          </a:bodyPr>
          <a:lstStyle/>
          <a:p>
            <a:pPr marL="0" indent="0" algn="l">
              <a:lnSpc>
                <a:spcPct val="100000"/>
              </a:lnSpc>
              <a:spcAft>
                <a:spcPts val="400"/>
              </a:spcAft>
              <a:buNone/>
            </a:pPr>
            <a:r>
              <a:rPr sz="1150" b="0" i="0">
                <a:solidFill>
                  <a:srgbClr val="1F3864"/>
                </a:solidFill>
                <a:latin typeface="Cascadia Mono"/>
                <a:ea typeface="Cascadia Mono"/>
                <a:cs typeface="Cascadia Mono"/>
              </a:rPr>
              <a:t>half the error</a:t>
            </a:r>
          </a:p>
        </p:txBody>
      </p:sp>
      <p:sp>
        <p:nvSpPr>
          <p:cNvPr id="27" name="Rounded Rectangle 26"/>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Given sensor readings alone, it has to say how many cycles are left. On this engine: 8 actual, 9 predicted.</a:t>
            </a:r>
          </a:p>
        </p:txBody>
      </p:sp>
      <p:sp>
        <p:nvSpPr>
          <p:cNvPr id="29" name="TextBox 28"/>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Show /usage BEFORE the first prompt — write the number down.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5</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Demo · the two prompts that did it</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~8 min · NASA turbofan run-to-failure data, published by MathWorks — and it trains live</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DEMO</a:t>
            </a:r>
          </a:p>
        </p:txBody>
      </p:sp>
      <p:sp>
        <p:nvSpPr>
          <p:cNvPr id="10" name="TextBox 9"/>
          <p:cNvSpPr txBox="1"/>
          <p:nvPr/>
        </p:nvSpPr>
        <p:spPr>
          <a:xfrm>
            <a:off x="548640" y="1344168"/>
            <a:ext cx="6675120" cy="237744"/>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TWO PROMPTS — ONE AT A TIME</a:t>
            </a:r>
          </a:p>
        </p:txBody>
      </p:sp>
      <p:sp>
        <p:nvSpPr>
          <p:cNvPr id="11" name="Rounded Rectangle 10"/>
          <p:cNvSpPr/>
          <p:nvPr/>
        </p:nvSpPr>
        <p:spPr>
          <a:xfrm>
            <a:off x="548640" y="1600200"/>
            <a:ext cx="6675120" cy="29260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1728216"/>
            <a:ext cx="6309359" cy="2354491"/>
          </a:xfrm>
          <a:prstGeom prst="rect">
            <a:avLst/>
          </a:prstGeom>
          <a:noFill/>
        </p:spPr>
        <p:txBody>
          <a:bodyPr wrap="square" lIns="0" tIns="0" rIns="0" bIns="0" anchor="t">
            <a:spAutoFit/>
          </a:bodyPr>
          <a:lstStyle/>
          <a:p>
            <a:pPr marL="0" indent="0" algn="l">
              <a:lnSpc>
                <a:spcPct val="100000"/>
              </a:lnSpc>
              <a:spcAft>
                <a:spcPts val="100"/>
              </a:spcAft>
              <a:buNone/>
            </a:pPr>
            <a:r>
              <a:rPr sz="1100" b="0" i="0" dirty="0">
                <a:solidFill>
                  <a:srgbClr val="1F3864"/>
                </a:solidFill>
                <a:latin typeface="Cascadia Mono"/>
                <a:ea typeface="Cascadia Mono"/>
                <a:cs typeface="Cascadia Mono"/>
              </a:rPr>
              <a:t>1  </a:t>
            </a:r>
            <a:r>
              <a:rPr lang="en-US" sz="1100" b="0" i="0" dirty="0">
                <a:solidFill>
                  <a:srgbClr val="1F3864"/>
                </a:solidFill>
                <a:latin typeface="Cascadia Mono"/>
                <a:ea typeface="Cascadia Mono"/>
                <a:cs typeface="Cascadia Mono"/>
              </a:rPr>
              <a:t>Using Turbofan dataset from MathWorks, download it to turbofan/</a:t>
            </a:r>
          </a:p>
          <a:p>
            <a:pPr marL="0" indent="0" algn="l">
              <a:lnSpc>
                <a:spcPct val="100000"/>
              </a:lnSpc>
              <a:spcAft>
                <a:spcPts val="100"/>
              </a:spcAft>
              <a:buNone/>
            </a:pPr>
            <a:r>
              <a:rPr lang="en-US" sz="1100" b="0" i="0" dirty="0">
                <a:solidFill>
                  <a:srgbClr val="1F3864"/>
                </a:solidFill>
                <a:latin typeface="Cascadia Mono"/>
                <a:ea typeface="Cascadia Mono"/>
                <a:cs typeface="Cascadia Mono"/>
              </a:rPr>
              <a:t>   Then tell me what is in train_FD001.txt and which sensors carry</a:t>
            </a:r>
          </a:p>
          <a:p>
            <a:pPr marL="0" indent="0" algn="l">
              <a:lnSpc>
                <a:spcPct val="100000"/>
              </a:lnSpc>
              <a:spcAft>
                <a:spcPts val="100"/>
              </a:spcAft>
              <a:buNone/>
            </a:pPr>
            <a:r>
              <a:rPr lang="en-US" sz="1100" dirty="0">
                <a:solidFill>
                  <a:srgbClr val="1F3864"/>
                </a:solidFill>
                <a:latin typeface="Cascadia Mono"/>
                <a:ea typeface="Cascadia Mono"/>
                <a:cs typeface="Cascadia Mono"/>
              </a:rPr>
              <a:t>   </a:t>
            </a:r>
            <a:r>
              <a:rPr lang="en-US" sz="1100" b="0" i="0" dirty="0">
                <a:solidFill>
                  <a:srgbClr val="1F3864"/>
                </a:solidFill>
                <a:latin typeface="Cascadia Mono"/>
                <a:ea typeface="Cascadia Mono"/>
                <a:cs typeface="Cascadia Mono"/>
              </a:rPr>
              <a:t>no information before you model anything.</a:t>
            </a:r>
          </a:p>
          <a:p>
            <a:pPr marL="0" indent="0" algn="l">
              <a:lnSpc>
                <a:spcPct val="100000"/>
              </a:lnSpc>
              <a:spcAft>
                <a:spcPts val="100"/>
              </a:spcAft>
              <a:buNone/>
            </a:pPr>
            <a:endParaRPr sz="1100" b="0" i="0" dirty="0">
              <a:solidFill>
                <a:srgbClr val="1F3864"/>
              </a:solidFill>
              <a:latin typeface="Cascadia Mono"/>
              <a:ea typeface="Cascadia Mono"/>
              <a:cs typeface="Cascadia Mono"/>
            </a:endParaRPr>
          </a:p>
          <a:p>
            <a:pPr marL="0" indent="0" algn="l">
              <a:lnSpc>
                <a:spcPct val="100000"/>
              </a:lnSpc>
              <a:spcAft>
                <a:spcPts val="100"/>
              </a:spcAft>
              <a:buNone/>
            </a:pPr>
            <a:r>
              <a:rPr sz="1100" b="0" i="0" dirty="0">
                <a:solidFill>
                  <a:srgbClr val="1F3864"/>
                </a:solidFill>
                <a:latin typeface="Cascadia Mono"/>
                <a:ea typeface="Cascadia Mono"/>
                <a:cs typeface="Cascadia Mono"/>
              </a:rPr>
              <a:t>2  </a:t>
            </a:r>
            <a:r>
              <a:rPr lang="en-US" sz="1100" dirty="0">
                <a:solidFill>
                  <a:srgbClr val="1F3864"/>
                </a:solidFill>
                <a:latin typeface="Cascadia Mono"/>
                <a:ea typeface="Cascadia Mono"/>
                <a:cs typeface="Cascadia Mono"/>
              </a:rPr>
              <a:t>N</a:t>
            </a:r>
            <a:r>
              <a:rPr lang="en-US" sz="1100" b="0" i="0" dirty="0">
                <a:solidFill>
                  <a:srgbClr val="1F3864"/>
                </a:solidFill>
                <a:latin typeface="Cascadia Mono"/>
                <a:ea typeface="Cascadia Mono"/>
                <a:cs typeface="Cascadia Mono"/>
              </a:rPr>
              <a:t>ow predict the remaining useful life. For each engine, work out how many </a:t>
            </a:r>
          </a:p>
          <a:p>
            <a:pPr marL="0" indent="0" algn="l">
              <a:lnSpc>
                <a:spcPct val="100000"/>
              </a:lnSpc>
              <a:spcAft>
                <a:spcPts val="100"/>
              </a:spcAft>
              <a:buNone/>
            </a:pPr>
            <a:r>
              <a:rPr lang="en-US" sz="1100" dirty="0">
                <a:solidFill>
                  <a:srgbClr val="1F3864"/>
                </a:solidFill>
                <a:latin typeface="Cascadia Mono"/>
                <a:ea typeface="Cascadia Mono"/>
                <a:cs typeface="Cascadia Mono"/>
              </a:rPr>
              <a:t>   </a:t>
            </a:r>
            <a:r>
              <a:rPr lang="en-US" sz="1100" b="0" i="0" dirty="0">
                <a:solidFill>
                  <a:srgbClr val="1F3864"/>
                </a:solidFill>
                <a:latin typeface="Cascadia Mono"/>
                <a:ea typeface="Cascadia Mono"/>
                <a:cs typeface="Cascadia Mono"/>
              </a:rPr>
              <a:t>cycles it had left at every row and cap it at 150. </a:t>
            </a:r>
          </a:p>
          <a:p>
            <a:pPr marL="0" indent="0" algn="l">
              <a:lnSpc>
                <a:spcPct val="100000"/>
              </a:lnSpc>
              <a:spcAft>
                <a:spcPts val="100"/>
              </a:spcAft>
              <a:buNone/>
            </a:pPr>
            <a:r>
              <a:rPr lang="en-US" sz="1100" dirty="0">
                <a:solidFill>
                  <a:srgbClr val="1F3864"/>
                </a:solidFill>
                <a:latin typeface="Cascadia Mono"/>
                <a:ea typeface="Cascadia Mono"/>
                <a:cs typeface="Cascadia Mono"/>
              </a:rPr>
              <a:t>   </a:t>
            </a:r>
            <a:r>
              <a:rPr lang="en-US" sz="1100" b="0" i="0" dirty="0">
                <a:solidFill>
                  <a:srgbClr val="1F3864"/>
                </a:solidFill>
                <a:latin typeface="Cascadia Mono"/>
                <a:ea typeface="Cascadia Mono"/>
                <a:cs typeface="Cascadia Mono"/>
              </a:rPr>
              <a:t>Normalize the dataset. </a:t>
            </a:r>
          </a:p>
          <a:p>
            <a:pPr marL="0" indent="0" algn="l">
              <a:lnSpc>
                <a:spcPct val="100000"/>
              </a:lnSpc>
              <a:spcAft>
                <a:spcPts val="100"/>
              </a:spcAft>
              <a:buNone/>
            </a:pPr>
            <a:r>
              <a:rPr lang="en-US" sz="1100" b="0" i="0" dirty="0">
                <a:solidFill>
                  <a:srgbClr val="1F3864"/>
                </a:solidFill>
                <a:latin typeface="Cascadia Mono"/>
                <a:ea typeface="Cascadia Mono"/>
                <a:cs typeface="Cascadia Mono"/>
              </a:rPr>
              <a:t>   Then train an LSTM (100 units, 20 epochs, 0.01 learning rate)</a:t>
            </a:r>
          </a:p>
          <a:p>
            <a:pPr marL="0" indent="0" algn="l">
              <a:lnSpc>
                <a:spcPct val="100000"/>
              </a:lnSpc>
              <a:spcAft>
                <a:spcPts val="100"/>
              </a:spcAft>
              <a:buNone/>
            </a:pPr>
            <a:r>
              <a:rPr lang="en-US" sz="1100" b="0" i="0" dirty="0">
                <a:solidFill>
                  <a:srgbClr val="1F3864"/>
                </a:solidFill>
                <a:latin typeface="Cascadia Mono"/>
                <a:ea typeface="Cascadia Mono"/>
                <a:cs typeface="Cascadia Mono"/>
              </a:rPr>
              <a:t>   Evaluate on test_FD001 against Mathworks' ground truth</a:t>
            </a:r>
          </a:p>
          <a:p>
            <a:pPr marL="0" indent="0" algn="l">
              <a:lnSpc>
                <a:spcPct val="100000"/>
              </a:lnSpc>
              <a:spcAft>
                <a:spcPts val="100"/>
              </a:spcAft>
              <a:buNone/>
            </a:pPr>
            <a:r>
              <a:rPr lang="en-US" sz="1100" b="0" i="0" dirty="0">
                <a:solidFill>
                  <a:srgbClr val="1F3864"/>
                </a:solidFill>
                <a:latin typeface="Cascadia Mono"/>
                <a:ea typeface="Cascadia Mono"/>
                <a:cs typeface="Cascadia Mono"/>
              </a:rPr>
              <a:t>   Plot predicted vs true</a:t>
            </a:r>
          </a:p>
          <a:p>
            <a:pPr marL="0" indent="0" algn="l">
              <a:lnSpc>
                <a:spcPct val="100000"/>
              </a:lnSpc>
              <a:spcAft>
                <a:spcPts val="100"/>
              </a:spcAft>
              <a:buNone/>
            </a:pPr>
            <a:r>
              <a:rPr lang="en-US" sz="1100" b="0" i="0" dirty="0">
                <a:solidFill>
                  <a:srgbClr val="1F3864"/>
                </a:solidFill>
                <a:latin typeface="Cascadia Mono"/>
                <a:ea typeface="Cascadia Mono"/>
                <a:cs typeface="Cascadia Mono"/>
              </a:rPr>
              <a:t>   Explain each choice</a:t>
            </a:r>
          </a:p>
          <a:p>
            <a:pPr marL="0" indent="0" algn="l">
              <a:lnSpc>
                <a:spcPct val="100000"/>
              </a:lnSpc>
              <a:spcAft>
                <a:spcPts val="100"/>
              </a:spcAft>
              <a:buNone/>
            </a:pPr>
            <a:endParaRPr lang="en-US" sz="1100" dirty="0">
              <a:solidFill>
                <a:srgbClr val="1F3864"/>
              </a:solidFill>
              <a:latin typeface="Cascadia Mono"/>
              <a:ea typeface="Cascadia Mono"/>
              <a:cs typeface="Cascadia Mono"/>
            </a:endParaRPr>
          </a:p>
          <a:p>
            <a:pPr marL="0" indent="0" algn="l">
              <a:lnSpc>
                <a:spcPct val="100000"/>
              </a:lnSpc>
              <a:spcAft>
                <a:spcPts val="100"/>
              </a:spcAft>
              <a:buNone/>
            </a:pPr>
            <a:r>
              <a:rPr lang="en-US" sz="1100" b="0" i="0" dirty="0">
                <a:solidFill>
                  <a:srgbClr val="1F3864"/>
                </a:solidFill>
                <a:latin typeface="Cascadia Mono"/>
                <a:ea typeface="Cascadia Mono"/>
                <a:cs typeface="Cascadia Mono"/>
              </a:rPr>
              <a:t>3  Explain the result to me in plain </a:t>
            </a:r>
            <a:r>
              <a:rPr lang="en-US" sz="1100" dirty="0">
                <a:solidFill>
                  <a:srgbClr val="1F3864"/>
                </a:solidFill>
                <a:latin typeface="Cascadia Mono"/>
                <a:ea typeface="Cascadia Mono"/>
                <a:cs typeface="Cascadia Mono"/>
              </a:rPr>
              <a:t>E</a:t>
            </a:r>
            <a:r>
              <a:rPr lang="en-US" sz="1100" b="0" i="0" dirty="0">
                <a:solidFill>
                  <a:srgbClr val="1F3864"/>
                </a:solidFill>
                <a:latin typeface="Cascadia Mono"/>
                <a:ea typeface="Cascadia Mono"/>
                <a:cs typeface="Cascadia Mono"/>
              </a:rPr>
              <a:t>nglish</a:t>
            </a:r>
            <a:endParaRPr sz="1100" b="0" i="0" dirty="0">
              <a:solidFill>
                <a:srgbClr val="1F3864"/>
              </a:solidFill>
              <a:latin typeface="Cascadia Mono"/>
              <a:ea typeface="Cascadia Mono"/>
              <a:cs typeface="Cascadia Mono"/>
            </a:endParaRPr>
          </a:p>
        </p:txBody>
      </p:sp>
      <p:sp>
        <p:nvSpPr>
          <p:cNvPr id="13" name="Rounded Rectangle 12"/>
          <p:cNvSpPr/>
          <p:nvPr/>
        </p:nvSpPr>
        <p:spPr>
          <a:xfrm>
            <a:off x="7543800" y="1600200"/>
            <a:ext cx="4114800" cy="29260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7781544" y="170992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7847563" y="1817644"/>
            <a:ext cx="215432" cy="1320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920532" y="1848916"/>
            <a:ext cx="69494" cy="69494"/>
          </a:xfrm>
          <a:prstGeom prst="ellipse">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75320" y="1737360"/>
            <a:ext cx="3145536"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Watch for</a:t>
            </a:r>
          </a:p>
        </p:txBody>
      </p:sp>
      <p:sp>
        <p:nvSpPr>
          <p:cNvPr id="18" name="TextBox 17"/>
          <p:cNvSpPr txBox="1"/>
          <p:nvPr/>
        </p:nvSpPr>
        <p:spPr>
          <a:xfrm>
            <a:off x="7781544" y="2139696"/>
            <a:ext cx="3639312" cy="2276856"/>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The data set is public — everyone here can download the same file</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It drops 7 of 24 features itself — they are constant, and it says so</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The 150 cap is stated, not guessed: past that, healthy engines look alike</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One prompt covers prep, training and evaluation — about 15 s end to end</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Evaluation is against MathWorks' held-out ground truth, not its own split</a:t>
            </a:r>
          </a:p>
        </p:txBody>
      </p:sp>
      <p:sp>
        <p:nvSpPr>
          <p:cNvPr id="19" name="Rounded Rectangle 18"/>
          <p:cNvSpPr/>
          <p:nvPr/>
        </p:nvSpPr>
        <p:spPr>
          <a:xfrm>
            <a:off x="548640" y="4709160"/>
            <a:ext cx="11091672" cy="777240"/>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49808" y="4791456"/>
            <a:ext cx="3566160" cy="201168"/>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MCP TOOLS CALLED</a:t>
            </a:r>
          </a:p>
        </p:txBody>
      </p:sp>
      <p:sp>
        <p:nvSpPr>
          <p:cNvPr id="21" name="TextBox 20"/>
          <p:cNvSpPr txBox="1"/>
          <p:nvPr/>
        </p:nvSpPr>
        <p:spPr>
          <a:xfrm>
            <a:off x="749808" y="5001768"/>
            <a:ext cx="3566160" cy="475488"/>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1F3864"/>
                </a:solidFill>
                <a:latin typeface="Cascadia Mono"/>
                <a:ea typeface="Cascadia Mono"/>
                <a:cs typeface="Cascadia Mono"/>
              </a:rPr>
              <a:t>evaluate_matlab_code
run_matlab_file</a:t>
            </a:r>
          </a:p>
        </p:txBody>
      </p:sp>
      <p:sp>
        <p:nvSpPr>
          <p:cNvPr id="22" name="TextBox 21"/>
          <p:cNvSpPr txBox="1"/>
          <p:nvPr/>
        </p:nvSpPr>
        <p:spPr>
          <a:xfrm>
            <a:off x="4453128" y="4791456"/>
            <a:ext cx="3977639" cy="201168"/>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SKILLS TRIGGERED</a:t>
            </a:r>
          </a:p>
        </p:txBody>
      </p:sp>
      <p:sp>
        <p:nvSpPr>
          <p:cNvPr id="23" name="TextBox 22"/>
          <p:cNvSpPr txBox="1"/>
          <p:nvPr/>
        </p:nvSpPr>
        <p:spPr>
          <a:xfrm>
            <a:off x="4453128" y="5001768"/>
            <a:ext cx="3977639" cy="475488"/>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1F3864"/>
                </a:solidFill>
                <a:latin typeface="Cascadia Mono"/>
                <a:ea typeface="Cascadia Mono"/>
                <a:cs typeface="Cascadia Mono"/>
              </a:rPr>
              <a:t>matlab-train-network
matlab-analyze-data</a:t>
            </a:r>
          </a:p>
        </p:txBody>
      </p:sp>
      <p:sp>
        <p:nvSpPr>
          <p:cNvPr id="24" name="TextBox 23"/>
          <p:cNvSpPr txBox="1"/>
          <p:nvPr/>
        </p:nvSpPr>
        <p:spPr>
          <a:xfrm>
            <a:off x="8567928" y="4791456"/>
            <a:ext cx="3108960" cy="201168"/>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PRODUCTS REQUIRED</a:t>
            </a:r>
          </a:p>
        </p:txBody>
      </p:sp>
      <p:sp>
        <p:nvSpPr>
          <p:cNvPr id="25" name="Rounded Rectangle 24"/>
          <p:cNvSpPr/>
          <p:nvPr/>
        </p:nvSpPr>
        <p:spPr>
          <a:xfrm>
            <a:off x="8567928" y="4983480"/>
            <a:ext cx="2788920" cy="237744"/>
          </a:xfrm>
          <a:prstGeom prst="roundRect">
            <a:avLst>
              <a:gd name="adj" fmla="val 4500"/>
            </a:avLst>
          </a:prstGeom>
          <a:solidFill>
            <a:srgbClr val="B46A0B"/>
          </a:solidFill>
          <a:ln w="1270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67928" y="4983480"/>
            <a:ext cx="2788920" cy="237744"/>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FFFFFF"/>
                </a:solidFill>
                <a:latin typeface="Product Sans"/>
                <a:ea typeface="Product Sans"/>
                <a:cs typeface="Product Sans"/>
              </a:rPr>
              <a:t>DEEP LEARNING TOOLBOX</a:t>
            </a:r>
          </a:p>
        </p:txBody>
      </p:sp>
      <p:sp>
        <p:nvSpPr>
          <p:cNvPr id="27" name="Rounded Rectangle 26"/>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Measured on the shared session: 17 features kept · trains in 8–16 s · RMSE ~20 cycles on 100 unseen engines.</a:t>
            </a:r>
          </a:p>
        </p:txBody>
      </p:sp>
      <p:sp>
        <p:nvSpPr>
          <p:cNvPr id="29" name="TextBox 28"/>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Data: NASA C-MAPSS turbofan degradation set, from the MathWorks “Data Sets for Deep Learning” page — public, and already cached locally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6</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What makes an agent an agent</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Four capabilities — and one loop that ties them together</a:t>
            </a:r>
          </a:p>
        </p:txBody>
      </p:sp>
      <p:sp>
        <p:nvSpPr>
          <p:cNvPr id="8" name="Rounded Rectangle 7"/>
          <p:cNvSpPr/>
          <p:nvPr/>
        </p:nvSpPr>
        <p:spPr>
          <a:xfrm>
            <a:off x="548640" y="1325880"/>
            <a:ext cx="2724912" cy="11887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786384" y="1435607"/>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Sun 9"/>
          <p:cNvSpPr/>
          <p:nvPr/>
        </p:nvSpPr>
        <p:spPr>
          <a:xfrm>
            <a:off x="873252" y="1522475"/>
            <a:ext cx="173736" cy="173736"/>
          </a:xfrm>
          <a:prstGeom prst="su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80160" y="1463039"/>
            <a:ext cx="1755647"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Reasoning</a:t>
            </a:r>
          </a:p>
        </p:txBody>
      </p:sp>
      <p:sp>
        <p:nvSpPr>
          <p:cNvPr id="12" name="TextBox 11"/>
          <p:cNvSpPr txBox="1"/>
          <p:nvPr/>
        </p:nvSpPr>
        <p:spPr>
          <a:xfrm>
            <a:off x="786384" y="1865376"/>
            <a:ext cx="2249424" cy="539496"/>
          </a:xfrm>
          <a:prstGeom prst="rect">
            <a:avLst/>
          </a:prstGeom>
          <a:noFill/>
        </p:spPr>
        <p:txBody>
          <a:bodyPr wrap="square" lIns="0" tIns="0" rIns="0" bIns="0" anchor="t">
            <a:spAutoFit/>
          </a:bodyPr>
          <a:lstStyle/>
          <a:p>
            <a:pPr marL="0" indent="0" algn="l">
              <a:lnSpc>
                <a:spcPct val="100000"/>
              </a:lnSpc>
              <a:spcAft>
                <a:spcPts val="600"/>
              </a:spcAft>
              <a:buNone/>
            </a:pPr>
            <a:r>
              <a:rPr sz="1200" b="0" i="0">
                <a:solidFill>
                  <a:srgbClr val="262626"/>
                </a:solidFill>
                <a:latin typeface="Product Sans"/>
                <a:ea typeface="Product Sans"/>
                <a:cs typeface="Product Sans"/>
              </a:rPr>
              <a:t>Breaks your problem into sequential, checkable steps</a:t>
            </a:r>
          </a:p>
        </p:txBody>
      </p:sp>
      <p:sp>
        <p:nvSpPr>
          <p:cNvPr id="13" name="Rounded Rectangle 12"/>
          <p:cNvSpPr/>
          <p:nvPr/>
        </p:nvSpPr>
        <p:spPr>
          <a:xfrm>
            <a:off x="3392424" y="1325880"/>
            <a:ext cx="2724912" cy="11887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3630168" y="1435607"/>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Diamond 14"/>
          <p:cNvSpPr/>
          <p:nvPr/>
        </p:nvSpPr>
        <p:spPr>
          <a:xfrm>
            <a:off x="3717036" y="1522475"/>
            <a:ext cx="173736" cy="173736"/>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123944" y="1463039"/>
            <a:ext cx="1755647"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dirty="0">
                <a:solidFill>
                  <a:srgbClr val="1F3864"/>
                </a:solidFill>
                <a:latin typeface="Product Sans"/>
                <a:ea typeface="Product Sans"/>
                <a:cs typeface="Product Sans"/>
              </a:rPr>
              <a:t>Planning</a:t>
            </a:r>
          </a:p>
        </p:txBody>
      </p:sp>
      <p:sp>
        <p:nvSpPr>
          <p:cNvPr id="17" name="TextBox 16"/>
          <p:cNvSpPr txBox="1"/>
          <p:nvPr/>
        </p:nvSpPr>
        <p:spPr>
          <a:xfrm>
            <a:off x="3630168" y="1865376"/>
            <a:ext cx="2249424" cy="539496"/>
          </a:xfrm>
          <a:prstGeom prst="rect">
            <a:avLst/>
          </a:prstGeom>
          <a:noFill/>
        </p:spPr>
        <p:txBody>
          <a:bodyPr wrap="square" lIns="0" tIns="0" rIns="0" bIns="0" anchor="t">
            <a:spAutoFit/>
          </a:bodyPr>
          <a:lstStyle/>
          <a:p>
            <a:pPr marL="0" indent="0" algn="l">
              <a:lnSpc>
                <a:spcPct val="100000"/>
              </a:lnSpc>
              <a:spcAft>
                <a:spcPts val="600"/>
              </a:spcAft>
              <a:buNone/>
            </a:pPr>
            <a:r>
              <a:rPr sz="1200" b="0" i="0" dirty="0">
                <a:solidFill>
                  <a:srgbClr val="262626"/>
                </a:solidFill>
                <a:latin typeface="Product Sans"/>
                <a:ea typeface="Product Sans"/>
                <a:cs typeface="Product Sans"/>
              </a:rPr>
              <a:t>Orders actions toward the goal — and shows you the plan first</a:t>
            </a:r>
          </a:p>
        </p:txBody>
      </p:sp>
      <p:sp>
        <p:nvSpPr>
          <p:cNvPr id="18" name="Rounded Rectangle 17"/>
          <p:cNvSpPr/>
          <p:nvPr/>
        </p:nvSpPr>
        <p:spPr>
          <a:xfrm>
            <a:off x="6236208" y="1325880"/>
            <a:ext cx="2724912" cy="11887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473952" y="1435607"/>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Gear 6 19"/>
          <p:cNvSpPr/>
          <p:nvPr/>
        </p:nvSpPr>
        <p:spPr>
          <a:xfrm>
            <a:off x="6560820" y="1522475"/>
            <a:ext cx="173736" cy="173736"/>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967728" y="1463039"/>
            <a:ext cx="1755647"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Tool use</a:t>
            </a:r>
          </a:p>
        </p:txBody>
      </p:sp>
      <p:sp>
        <p:nvSpPr>
          <p:cNvPr id="22" name="TextBox 21"/>
          <p:cNvSpPr txBox="1"/>
          <p:nvPr/>
        </p:nvSpPr>
        <p:spPr>
          <a:xfrm>
            <a:off x="6473952" y="1865376"/>
            <a:ext cx="2249424" cy="539496"/>
          </a:xfrm>
          <a:prstGeom prst="rect">
            <a:avLst/>
          </a:prstGeom>
          <a:noFill/>
        </p:spPr>
        <p:txBody>
          <a:bodyPr wrap="square" lIns="0" tIns="0" rIns="0" bIns="0" anchor="t">
            <a:spAutoFit/>
          </a:bodyPr>
          <a:lstStyle/>
          <a:p>
            <a:pPr marL="0" indent="0" algn="l">
              <a:lnSpc>
                <a:spcPct val="100000"/>
              </a:lnSpc>
              <a:spcAft>
                <a:spcPts val="600"/>
              </a:spcAft>
              <a:buNone/>
            </a:pPr>
            <a:r>
              <a:rPr sz="1200" b="0" i="0">
                <a:solidFill>
                  <a:srgbClr val="262626"/>
                </a:solidFill>
                <a:latin typeface="Product Sans"/>
                <a:ea typeface="Product Sans"/>
                <a:cs typeface="Product Sans"/>
              </a:rPr>
              <a:t>Calls MATLAB and Simulink through MCP — real execution, not prose</a:t>
            </a:r>
          </a:p>
        </p:txBody>
      </p:sp>
      <p:sp>
        <p:nvSpPr>
          <p:cNvPr id="23" name="Rounded Rectangle 22"/>
          <p:cNvSpPr/>
          <p:nvPr/>
        </p:nvSpPr>
        <p:spPr>
          <a:xfrm>
            <a:off x="9079992" y="1325880"/>
            <a:ext cx="2724912" cy="11887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9317736" y="1435607"/>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Block Arc 24"/>
          <p:cNvSpPr/>
          <p:nvPr/>
        </p:nvSpPr>
        <p:spPr>
          <a:xfrm>
            <a:off x="9390705" y="1508577"/>
            <a:ext cx="201533" cy="201533"/>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Isosceles Triangle 25"/>
          <p:cNvSpPr/>
          <p:nvPr/>
        </p:nvSpPr>
        <p:spPr>
          <a:xfrm>
            <a:off x="9522744" y="1494678"/>
            <a:ext cx="72969" cy="6254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811512" y="1463039"/>
            <a:ext cx="1755647"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Adaptation</a:t>
            </a:r>
          </a:p>
        </p:txBody>
      </p:sp>
      <p:sp>
        <p:nvSpPr>
          <p:cNvPr id="28" name="TextBox 27"/>
          <p:cNvSpPr txBox="1"/>
          <p:nvPr/>
        </p:nvSpPr>
        <p:spPr>
          <a:xfrm>
            <a:off x="9317736" y="1865376"/>
            <a:ext cx="2249424" cy="539496"/>
          </a:xfrm>
          <a:prstGeom prst="rect">
            <a:avLst/>
          </a:prstGeom>
          <a:noFill/>
        </p:spPr>
        <p:txBody>
          <a:bodyPr wrap="square" lIns="0" tIns="0" rIns="0" bIns="0" anchor="t">
            <a:spAutoFit/>
          </a:bodyPr>
          <a:lstStyle/>
          <a:p>
            <a:pPr marL="0" indent="0" algn="l">
              <a:lnSpc>
                <a:spcPct val="100000"/>
              </a:lnSpc>
              <a:spcAft>
                <a:spcPts val="600"/>
              </a:spcAft>
              <a:buNone/>
            </a:pPr>
            <a:r>
              <a:rPr sz="1200" b="0" i="0">
                <a:solidFill>
                  <a:srgbClr val="262626"/>
                </a:solidFill>
                <a:latin typeface="Product Sans"/>
                <a:ea typeface="Product Sans"/>
                <a:cs typeface="Product Sans"/>
              </a:rPr>
              <a:t>Reads errors and results, corrects itself, tries again</a:t>
            </a:r>
          </a:p>
        </p:txBody>
      </p:sp>
      <p:sp>
        <p:nvSpPr>
          <p:cNvPr id="29" name="TextBox 28"/>
          <p:cNvSpPr txBox="1"/>
          <p:nvPr/>
        </p:nvSpPr>
        <p:spPr>
          <a:xfrm>
            <a:off x="548640" y="2743200"/>
            <a:ext cx="11091672" cy="237744"/>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THE ONE-GLANCE MODEL</a:t>
            </a:r>
          </a:p>
        </p:txBody>
      </p:sp>
      <p:sp>
        <p:nvSpPr>
          <p:cNvPr id="30" name="Rounded Rectangle 29"/>
          <p:cNvSpPr/>
          <p:nvPr/>
        </p:nvSpPr>
        <p:spPr>
          <a:xfrm>
            <a:off x="548640" y="3063240"/>
            <a:ext cx="1965960" cy="1051560"/>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21792" y="3182112"/>
            <a:ext cx="1819656" cy="27432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You</a:t>
            </a:r>
          </a:p>
        </p:txBody>
      </p:sp>
      <p:sp>
        <p:nvSpPr>
          <p:cNvPr id="32" name="TextBox 31"/>
          <p:cNvSpPr txBox="1"/>
          <p:nvPr/>
        </p:nvSpPr>
        <p:spPr>
          <a:xfrm>
            <a:off x="621792" y="3474720"/>
            <a:ext cx="1819656" cy="530352"/>
          </a:xfrm>
          <a:prstGeom prst="rect">
            <a:avLst/>
          </a:prstGeom>
          <a:noFill/>
        </p:spPr>
        <p:txBody>
          <a:bodyPr wrap="square" lIns="0" tIns="0" rIns="0" bIns="0" anchor="t">
            <a:spAutoFit/>
          </a:bodyPr>
          <a:lstStyle/>
          <a:p>
            <a:pPr marL="0" indent="0" algn="ctr">
              <a:lnSpc>
                <a:spcPct val="100000"/>
              </a:lnSpc>
              <a:spcAft>
                <a:spcPts val="400"/>
              </a:spcAft>
              <a:buNone/>
            </a:pPr>
            <a:r>
              <a:rPr sz="1050" b="0" i="0">
                <a:solidFill>
                  <a:srgbClr val="FFFFFF"/>
                </a:solidFill>
                <a:latin typeface="Product Sans"/>
                <a:ea typeface="Product Sans"/>
                <a:cs typeface="Product Sans"/>
              </a:rPr>
              <a:t>set the goal and limits</a:t>
            </a:r>
          </a:p>
        </p:txBody>
      </p:sp>
      <p:sp>
        <p:nvSpPr>
          <p:cNvPr id="33" name="TextBox 32"/>
          <p:cNvSpPr txBox="1"/>
          <p:nvPr/>
        </p:nvSpPr>
        <p:spPr>
          <a:xfrm>
            <a:off x="2514600" y="3063240"/>
            <a:ext cx="237744" cy="1051560"/>
          </a:xfrm>
          <a:prstGeom prst="rect">
            <a:avLst/>
          </a:prstGeom>
          <a:noFill/>
        </p:spPr>
        <p:txBody>
          <a:bodyPr wrap="square" lIns="0" tIns="0" rIns="0" bIns="0" anchor="ctr">
            <a:spAutoFit/>
          </a:bodyPr>
          <a:lstStyle/>
          <a:p>
            <a:pPr marL="0" indent="0" algn="ctr">
              <a:lnSpc>
                <a:spcPct val="100000"/>
              </a:lnSpc>
              <a:spcAft>
                <a:spcPts val="400"/>
              </a:spcAft>
              <a:buNone/>
            </a:pPr>
            <a:r>
              <a:rPr sz="1850" b="0" i="0">
                <a:solidFill>
                  <a:srgbClr val="C9D6EE"/>
                </a:solidFill>
                <a:latin typeface="Product Sans"/>
                <a:ea typeface="Product Sans"/>
                <a:cs typeface="Product Sans"/>
              </a:rPr>
              <a:t>›</a:t>
            </a:r>
          </a:p>
        </p:txBody>
      </p:sp>
      <p:sp>
        <p:nvSpPr>
          <p:cNvPr id="34" name="Rounded Rectangle 33"/>
          <p:cNvSpPr/>
          <p:nvPr/>
        </p:nvSpPr>
        <p:spPr>
          <a:xfrm>
            <a:off x="2752344" y="3063240"/>
            <a:ext cx="1965960" cy="105156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2825496" y="3182112"/>
            <a:ext cx="1819656" cy="27432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1F3864"/>
                </a:solidFill>
                <a:latin typeface="Product Sans"/>
                <a:ea typeface="Product Sans"/>
                <a:cs typeface="Product Sans"/>
              </a:rPr>
              <a:t>AI agent</a:t>
            </a:r>
          </a:p>
        </p:txBody>
      </p:sp>
      <p:sp>
        <p:nvSpPr>
          <p:cNvPr id="36" name="TextBox 35"/>
          <p:cNvSpPr txBox="1"/>
          <p:nvPr/>
        </p:nvSpPr>
        <p:spPr>
          <a:xfrm>
            <a:off x="2825496" y="3474720"/>
            <a:ext cx="1819656" cy="530352"/>
          </a:xfrm>
          <a:prstGeom prst="rect">
            <a:avLst/>
          </a:prstGeom>
          <a:noFill/>
        </p:spPr>
        <p:txBody>
          <a:bodyPr wrap="square" lIns="0" tIns="0" rIns="0" bIns="0" anchor="t">
            <a:spAutoFit/>
          </a:bodyPr>
          <a:lstStyle/>
          <a:p>
            <a:pPr marL="0" indent="0" algn="ctr">
              <a:lnSpc>
                <a:spcPct val="100000"/>
              </a:lnSpc>
              <a:spcAft>
                <a:spcPts val="400"/>
              </a:spcAft>
              <a:buNone/>
            </a:pPr>
            <a:r>
              <a:rPr sz="1050" b="0" i="0">
                <a:solidFill>
                  <a:srgbClr val="595959"/>
                </a:solidFill>
                <a:latin typeface="Product Sans"/>
                <a:ea typeface="Product Sans"/>
                <a:cs typeface="Product Sans"/>
              </a:rPr>
              <a:t>coordinates the task</a:t>
            </a:r>
          </a:p>
        </p:txBody>
      </p:sp>
      <p:sp>
        <p:nvSpPr>
          <p:cNvPr id="37" name="TextBox 36"/>
          <p:cNvSpPr txBox="1"/>
          <p:nvPr/>
        </p:nvSpPr>
        <p:spPr>
          <a:xfrm>
            <a:off x="4718304" y="3063240"/>
            <a:ext cx="237744" cy="1051560"/>
          </a:xfrm>
          <a:prstGeom prst="rect">
            <a:avLst/>
          </a:prstGeom>
          <a:noFill/>
        </p:spPr>
        <p:txBody>
          <a:bodyPr wrap="square" lIns="0" tIns="0" rIns="0" bIns="0" anchor="ctr">
            <a:spAutoFit/>
          </a:bodyPr>
          <a:lstStyle/>
          <a:p>
            <a:pPr marL="0" indent="0" algn="ctr">
              <a:lnSpc>
                <a:spcPct val="100000"/>
              </a:lnSpc>
              <a:spcAft>
                <a:spcPts val="400"/>
              </a:spcAft>
              <a:buNone/>
            </a:pPr>
            <a:r>
              <a:rPr sz="1850" b="0" i="0">
                <a:solidFill>
                  <a:srgbClr val="C9D6EE"/>
                </a:solidFill>
                <a:latin typeface="Product Sans"/>
                <a:ea typeface="Product Sans"/>
                <a:cs typeface="Product Sans"/>
              </a:rPr>
              <a:t>›</a:t>
            </a:r>
          </a:p>
        </p:txBody>
      </p:sp>
      <p:sp>
        <p:nvSpPr>
          <p:cNvPr id="38" name="Rounded Rectangle 37"/>
          <p:cNvSpPr/>
          <p:nvPr/>
        </p:nvSpPr>
        <p:spPr>
          <a:xfrm>
            <a:off x="4956048" y="3063240"/>
            <a:ext cx="1965960" cy="105156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5029200" y="3182112"/>
            <a:ext cx="1819656" cy="27432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1F3864"/>
                </a:solidFill>
                <a:latin typeface="Product Sans"/>
                <a:ea typeface="Product Sans"/>
                <a:cs typeface="Product Sans"/>
              </a:rPr>
              <a:t>LLM</a:t>
            </a:r>
          </a:p>
        </p:txBody>
      </p:sp>
      <p:sp>
        <p:nvSpPr>
          <p:cNvPr id="40" name="TextBox 39"/>
          <p:cNvSpPr txBox="1"/>
          <p:nvPr/>
        </p:nvSpPr>
        <p:spPr>
          <a:xfrm>
            <a:off x="5029200" y="3474720"/>
            <a:ext cx="1819656" cy="530352"/>
          </a:xfrm>
          <a:prstGeom prst="rect">
            <a:avLst/>
          </a:prstGeom>
          <a:noFill/>
        </p:spPr>
        <p:txBody>
          <a:bodyPr wrap="square" lIns="0" tIns="0" rIns="0" bIns="0" anchor="t">
            <a:spAutoFit/>
          </a:bodyPr>
          <a:lstStyle/>
          <a:p>
            <a:pPr marL="0" indent="0" algn="ctr">
              <a:lnSpc>
                <a:spcPct val="100000"/>
              </a:lnSpc>
              <a:spcAft>
                <a:spcPts val="400"/>
              </a:spcAft>
              <a:buNone/>
            </a:pPr>
            <a:r>
              <a:rPr sz="1050" b="0" i="0">
                <a:solidFill>
                  <a:srgbClr val="595959"/>
                </a:solidFill>
                <a:latin typeface="Product Sans"/>
                <a:ea typeface="Product Sans"/>
                <a:cs typeface="Product Sans"/>
              </a:rPr>
              <a:t>proposes — it never runs tools</a:t>
            </a:r>
          </a:p>
        </p:txBody>
      </p:sp>
      <p:sp>
        <p:nvSpPr>
          <p:cNvPr id="41" name="TextBox 40"/>
          <p:cNvSpPr txBox="1"/>
          <p:nvPr/>
        </p:nvSpPr>
        <p:spPr>
          <a:xfrm>
            <a:off x="6922008" y="3063240"/>
            <a:ext cx="237744" cy="1051560"/>
          </a:xfrm>
          <a:prstGeom prst="rect">
            <a:avLst/>
          </a:prstGeom>
          <a:noFill/>
        </p:spPr>
        <p:txBody>
          <a:bodyPr wrap="square" lIns="0" tIns="0" rIns="0" bIns="0" anchor="ctr">
            <a:spAutoFit/>
          </a:bodyPr>
          <a:lstStyle/>
          <a:p>
            <a:pPr marL="0" indent="0" algn="ctr">
              <a:lnSpc>
                <a:spcPct val="100000"/>
              </a:lnSpc>
              <a:spcAft>
                <a:spcPts val="400"/>
              </a:spcAft>
              <a:buNone/>
            </a:pPr>
            <a:r>
              <a:rPr sz="1850" b="0" i="0">
                <a:solidFill>
                  <a:srgbClr val="C9D6EE"/>
                </a:solidFill>
                <a:latin typeface="Product Sans"/>
                <a:ea typeface="Product Sans"/>
                <a:cs typeface="Product Sans"/>
              </a:rPr>
              <a:t>›</a:t>
            </a:r>
          </a:p>
        </p:txBody>
      </p:sp>
      <p:sp>
        <p:nvSpPr>
          <p:cNvPr id="42" name="Rounded Rectangle 41"/>
          <p:cNvSpPr/>
          <p:nvPr/>
        </p:nvSpPr>
        <p:spPr>
          <a:xfrm>
            <a:off x="7159752" y="3063240"/>
            <a:ext cx="2276856" cy="105156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7232904" y="3182112"/>
            <a:ext cx="2130552" cy="27432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1F3864"/>
                </a:solidFill>
                <a:latin typeface="Product Sans"/>
                <a:ea typeface="Product Sans"/>
                <a:cs typeface="Product Sans"/>
              </a:rPr>
              <a:t>MCP → MATLAB / Simulink</a:t>
            </a:r>
          </a:p>
        </p:txBody>
      </p:sp>
      <p:sp>
        <p:nvSpPr>
          <p:cNvPr id="44" name="TextBox 43"/>
          <p:cNvSpPr txBox="1"/>
          <p:nvPr/>
        </p:nvSpPr>
        <p:spPr>
          <a:xfrm>
            <a:off x="7232904" y="3474720"/>
            <a:ext cx="2130552" cy="530352"/>
          </a:xfrm>
          <a:prstGeom prst="rect">
            <a:avLst/>
          </a:prstGeom>
          <a:noFill/>
        </p:spPr>
        <p:txBody>
          <a:bodyPr wrap="square" lIns="0" tIns="0" rIns="0" bIns="0" anchor="t">
            <a:spAutoFit/>
          </a:bodyPr>
          <a:lstStyle/>
          <a:p>
            <a:pPr marL="0" indent="0" algn="ctr">
              <a:lnSpc>
                <a:spcPct val="100000"/>
              </a:lnSpc>
              <a:spcAft>
                <a:spcPts val="400"/>
              </a:spcAft>
              <a:buNone/>
            </a:pPr>
            <a:r>
              <a:rPr sz="1050" b="0" i="0">
                <a:solidFill>
                  <a:srgbClr val="595959"/>
                </a:solidFill>
                <a:latin typeface="Product Sans"/>
                <a:ea typeface="Product Sans"/>
                <a:cs typeface="Product Sans"/>
              </a:rPr>
              <a:t>tools act, results return</a:t>
            </a:r>
          </a:p>
        </p:txBody>
      </p:sp>
      <p:sp>
        <p:nvSpPr>
          <p:cNvPr id="45" name="TextBox 44"/>
          <p:cNvSpPr txBox="1"/>
          <p:nvPr/>
        </p:nvSpPr>
        <p:spPr>
          <a:xfrm>
            <a:off x="9436608" y="3063240"/>
            <a:ext cx="237744" cy="1051560"/>
          </a:xfrm>
          <a:prstGeom prst="rect">
            <a:avLst/>
          </a:prstGeom>
          <a:noFill/>
        </p:spPr>
        <p:txBody>
          <a:bodyPr wrap="square" lIns="0" tIns="0" rIns="0" bIns="0" anchor="ctr">
            <a:spAutoFit/>
          </a:bodyPr>
          <a:lstStyle/>
          <a:p>
            <a:pPr marL="0" indent="0" algn="ctr">
              <a:lnSpc>
                <a:spcPct val="100000"/>
              </a:lnSpc>
              <a:spcAft>
                <a:spcPts val="400"/>
              </a:spcAft>
              <a:buNone/>
            </a:pPr>
            <a:r>
              <a:rPr sz="1850" b="0" i="0">
                <a:solidFill>
                  <a:srgbClr val="C9D6EE"/>
                </a:solidFill>
                <a:latin typeface="Product Sans"/>
                <a:ea typeface="Product Sans"/>
                <a:cs typeface="Product Sans"/>
              </a:rPr>
              <a:t>›</a:t>
            </a:r>
          </a:p>
        </p:txBody>
      </p:sp>
      <p:sp>
        <p:nvSpPr>
          <p:cNvPr id="46" name="Rounded Rectangle 45"/>
          <p:cNvSpPr/>
          <p:nvPr/>
        </p:nvSpPr>
        <p:spPr>
          <a:xfrm>
            <a:off x="9674352" y="3063240"/>
            <a:ext cx="1965960" cy="1051560"/>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9747504" y="3182112"/>
            <a:ext cx="1819656" cy="27432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You</a:t>
            </a:r>
          </a:p>
        </p:txBody>
      </p:sp>
      <p:sp>
        <p:nvSpPr>
          <p:cNvPr id="48" name="TextBox 47"/>
          <p:cNvSpPr txBox="1"/>
          <p:nvPr/>
        </p:nvSpPr>
        <p:spPr>
          <a:xfrm>
            <a:off x="9747504" y="3474720"/>
            <a:ext cx="1819656" cy="530352"/>
          </a:xfrm>
          <a:prstGeom prst="rect">
            <a:avLst/>
          </a:prstGeom>
          <a:noFill/>
        </p:spPr>
        <p:txBody>
          <a:bodyPr wrap="square" lIns="0" tIns="0" rIns="0" bIns="0" anchor="t">
            <a:spAutoFit/>
          </a:bodyPr>
          <a:lstStyle/>
          <a:p>
            <a:pPr marL="0" indent="0" algn="ctr">
              <a:lnSpc>
                <a:spcPct val="100000"/>
              </a:lnSpc>
              <a:spcAft>
                <a:spcPts val="400"/>
              </a:spcAft>
              <a:buNone/>
            </a:pPr>
            <a:r>
              <a:rPr sz="1050" b="0" i="0">
                <a:solidFill>
                  <a:srgbClr val="FFFFFF"/>
                </a:solidFill>
                <a:latin typeface="Product Sans"/>
                <a:ea typeface="Product Sans"/>
                <a:cs typeface="Product Sans"/>
              </a:rPr>
              <a:t>review the evidence</a:t>
            </a:r>
          </a:p>
        </p:txBody>
      </p:sp>
      <p:sp>
        <p:nvSpPr>
          <p:cNvPr id="49" name="TextBox 48"/>
          <p:cNvSpPr txBox="1"/>
          <p:nvPr/>
        </p:nvSpPr>
        <p:spPr>
          <a:xfrm>
            <a:off x="548640" y="4224528"/>
            <a:ext cx="11091672" cy="237744"/>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AND WHAT IT STILL CANNOT DO — WHICH IS WHY YOU ARE IN THE LOOP</a:t>
            </a:r>
          </a:p>
        </p:txBody>
      </p:sp>
      <p:sp>
        <p:nvSpPr>
          <p:cNvPr id="50" name="Rounded Rectangle 49"/>
          <p:cNvSpPr/>
          <p:nvPr/>
        </p:nvSpPr>
        <p:spPr>
          <a:xfrm>
            <a:off x="548640" y="4526280"/>
            <a:ext cx="3602736" cy="10972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Oval 50"/>
          <p:cNvSpPr/>
          <p:nvPr/>
        </p:nvSpPr>
        <p:spPr>
          <a:xfrm>
            <a:off x="786384" y="4636008"/>
            <a:ext cx="347472" cy="347472"/>
          </a:xfrm>
          <a:prstGeom prst="ellipse">
            <a:avLst/>
          </a:prstGeom>
          <a:solidFill>
            <a:srgbClr val="B46A0B"/>
          </a:solidFill>
          <a:ln w="1905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Isosceles Triangle 51"/>
          <p:cNvSpPr/>
          <p:nvPr/>
        </p:nvSpPr>
        <p:spPr>
          <a:xfrm>
            <a:off x="855878" y="4714189"/>
            <a:ext cx="208483" cy="191109"/>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786384" y="4670755"/>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B46A0B"/>
                </a:solidFill>
                <a:latin typeface="Product Sans"/>
                <a:ea typeface="Product Sans"/>
                <a:cs typeface="Product Sans"/>
              </a:rPr>
              <a:t>!</a:t>
            </a:r>
          </a:p>
        </p:txBody>
      </p:sp>
      <p:sp>
        <p:nvSpPr>
          <p:cNvPr id="54" name="TextBox 53"/>
          <p:cNvSpPr txBox="1"/>
          <p:nvPr/>
        </p:nvSpPr>
        <p:spPr>
          <a:xfrm>
            <a:off x="1280160" y="4663440"/>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No physical intuition</a:t>
            </a:r>
          </a:p>
        </p:txBody>
      </p:sp>
      <p:sp>
        <p:nvSpPr>
          <p:cNvPr id="55" name="TextBox 54"/>
          <p:cNvSpPr txBox="1"/>
          <p:nvPr/>
        </p:nvSpPr>
        <p:spPr>
          <a:xfrm>
            <a:off x="786384" y="5065776"/>
            <a:ext cx="3127248" cy="448055"/>
          </a:xfrm>
          <a:prstGeom prst="rect">
            <a:avLst/>
          </a:prstGeom>
          <a:noFill/>
        </p:spPr>
        <p:txBody>
          <a:bodyPr wrap="square" lIns="0" tIns="0" rIns="0" bIns="0" anchor="t">
            <a:spAutoFit/>
          </a:bodyPr>
          <a:lstStyle/>
          <a:p>
            <a:pPr marL="0" indent="0" algn="l">
              <a:lnSpc>
                <a:spcPct val="100000"/>
              </a:lnSpc>
              <a:spcAft>
                <a:spcPts val="600"/>
              </a:spcAft>
              <a:buNone/>
            </a:pPr>
            <a:r>
              <a:rPr sz="1100" b="0" i="0">
                <a:solidFill>
                  <a:srgbClr val="262626"/>
                </a:solidFill>
                <a:latin typeface="Product Sans"/>
                <a:ea typeface="Product Sans"/>
                <a:cs typeface="Product Sans"/>
              </a:rPr>
              <a:t>It will build a model that runs and is nonsense. Main demo A shows exactly this.</a:t>
            </a:r>
          </a:p>
        </p:txBody>
      </p:sp>
      <p:sp>
        <p:nvSpPr>
          <p:cNvPr id="56" name="Rounded Rectangle 55"/>
          <p:cNvSpPr/>
          <p:nvPr/>
        </p:nvSpPr>
        <p:spPr>
          <a:xfrm>
            <a:off x="4325112" y="4526280"/>
            <a:ext cx="3602736" cy="10972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Oval 56"/>
          <p:cNvSpPr/>
          <p:nvPr/>
        </p:nvSpPr>
        <p:spPr>
          <a:xfrm>
            <a:off x="4562855" y="4636008"/>
            <a:ext cx="347472" cy="347472"/>
          </a:xfrm>
          <a:prstGeom prst="ellipse">
            <a:avLst/>
          </a:prstGeom>
          <a:solidFill>
            <a:srgbClr val="B46A0B"/>
          </a:solidFill>
          <a:ln w="1905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Oval 57"/>
          <p:cNvSpPr/>
          <p:nvPr/>
        </p:nvSpPr>
        <p:spPr>
          <a:xfrm>
            <a:off x="4694895" y="4719401"/>
            <a:ext cx="83393" cy="8339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Round Same Side Corner Rectangle 58"/>
          <p:cNvSpPr/>
          <p:nvPr/>
        </p:nvSpPr>
        <p:spPr>
          <a:xfrm>
            <a:off x="4656673" y="4816693"/>
            <a:ext cx="159837" cy="86868"/>
          </a:xfrm>
          <a:prstGeom prst="round2Same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5056631" y="4663440"/>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It cannot set the pass mark</a:t>
            </a:r>
          </a:p>
        </p:txBody>
      </p:sp>
      <p:sp>
        <p:nvSpPr>
          <p:cNvPr id="61" name="TextBox 60"/>
          <p:cNvSpPr txBox="1"/>
          <p:nvPr/>
        </p:nvSpPr>
        <p:spPr>
          <a:xfrm>
            <a:off x="4562855" y="5065776"/>
            <a:ext cx="3127248" cy="448055"/>
          </a:xfrm>
          <a:prstGeom prst="rect">
            <a:avLst/>
          </a:prstGeom>
          <a:noFill/>
        </p:spPr>
        <p:txBody>
          <a:bodyPr wrap="square" lIns="0" tIns="0" rIns="0" bIns="0" anchor="t">
            <a:spAutoFit/>
          </a:bodyPr>
          <a:lstStyle/>
          <a:p>
            <a:pPr marL="0" indent="0" algn="l">
              <a:lnSpc>
                <a:spcPct val="100000"/>
              </a:lnSpc>
              <a:spcAft>
                <a:spcPts val="600"/>
              </a:spcAft>
              <a:buNone/>
            </a:pPr>
            <a:r>
              <a:rPr sz="1100" b="0" i="0">
                <a:solidFill>
                  <a:srgbClr val="262626"/>
                </a:solidFill>
                <a:latin typeface="Product Sans"/>
                <a:ea typeface="Product Sans"/>
                <a:cs typeface="Product Sans"/>
              </a:rPr>
              <a:t>You own the acceptance criteria. Otherwise it grades its own homework.</a:t>
            </a:r>
          </a:p>
        </p:txBody>
      </p:sp>
      <p:sp>
        <p:nvSpPr>
          <p:cNvPr id="62" name="Rounded Rectangle 61"/>
          <p:cNvSpPr/>
          <p:nvPr/>
        </p:nvSpPr>
        <p:spPr>
          <a:xfrm>
            <a:off x="8101583" y="4526280"/>
            <a:ext cx="3602736" cy="10972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Oval 62"/>
          <p:cNvSpPr/>
          <p:nvPr/>
        </p:nvSpPr>
        <p:spPr>
          <a:xfrm>
            <a:off x="8339327" y="4636008"/>
            <a:ext cx="347472" cy="347472"/>
          </a:xfrm>
          <a:prstGeom prst="ellipse">
            <a:avLst/>
          </a:prstGeom>
          <a:solidFill>
            <a:srgbClr val="B46A0B"/>
          </a:solidFill>
          <a:ln w="1905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Rectangle 63"/>
          <p:cNvSpPr/>
          <p:nvPr/>
        </p:nvSpPr>
        <p:spPr>
          <a:xfrm>
            <a:off x="8415771" y="4729825"/>
            <a:ext cx="90342" cy="1598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Rectangle 64"/>
          <p:cNvSpPr/>
          <p:nvPr/>
        </p:nvSpPr>
        <p:spPr>
          <a:xfrm>
            <a:off x="8520013" y="4729825"/>
            <a:ext cx="90342" cy="1598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Rectangle 65"/>
          <p:cNvSpPr/>
          <p:nvPr/>
        </p:nvSpPr>
        <p:spPr>
          <a:xfrm>
            <a:off x="8507851" y="4719401"/>
            <a:ext cx="10424" cy="180685"/>
          </a:xfrm>
          <a:prstGeom prst="rect">
            <a:avLst/>
          </a:prstGeom>
          <a:solidFill>
            <a:srgbClr val="B46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Box 66"/>
          <p:cNvSpPr txBox="1"/>
          <p:nvPr/>
        </p:nvSpPr>
        <p:spPr>
          <a:xfrm>
            <a:off x="8833104" y="4663440"/>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It does not know your conventions</a:t>
            </a:r>
          </a:p>
        </p:txBody>
      </p:sp>
      <p:sp>
        <p:nvSpPr>
          <p:cNvPr id="68" name="TextBox 67"/>
          <p:cNvSpPr txBox="1"/>
          <p:nvPr/>
        </p:nvSpPr>
        <p:spPr>
          <a:xfrm>
            <a:off x="8339327" y="5065776"/>
            <a:ext cx="3127248" cy="448055"/>
          </a:xfrm>
          <a:prstGeom prst="rect">
            <a:avLst/>
          </a:prstGeom>
          <a:noFill/>
        </p:spPr>
        <p:txBody>
          <a:bodyPr wrap="square" lIns="0" tIns="0" rIns="0" bIns="0" anchor="t">
            <a:spAutoFit/>
          </a:bodyPr>
          <a:lstStyle/>
          <a:p>
            <a:pPr marL="0" indent="0" algn="l">
              <a:lnSpc>
                <a:spcPct val="100000"/>
              </a:lnSpc>
              <a:spcAft>
                <a:spcPts val="600"/>
              </a:spcAft>
              <a:buNone/>
            </a:pPr>
            <a:r>
              <a:rPr sz="1100" b="0" i="0">
                <a:solidFill>
                  <a:srgbClr val="262626"/>
                </a:solidFill>
                <a:latin typeface="Product Sans"/>
                <a:ea typeface="Product Sans"/>
                <a:cs typeface="Product Sans"/>
              </a:rPr>
              <a:t>Until you write them down as a skill — Part 4.</a:t>
            </a:r>
          </a:p>
        </p:txBody>
      </p:sp>
      <p:sp>
        <p:nvSpPr>
          <p:cNvPr id="69" name="Rounded Rectangle 68"/>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The agent coordinates; the LLM proposes; tools act; you review.</a:t>
            </a:r>
          </a:p>
        </p:txBody>
      </p:sp>
      <p:sp>
        <p:nvSpPr>
          <p:cNvPr id="71" name="TextBox 70"/>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Source: MathWorks “Agentic AI 101”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7</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Two different things — and you want both</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An assistant sits inside the product. An agent drives it from outside.</a:t>
            </a:r>
          </a:p>
        </p:txBody>
      </p:sp>
      <p:sp>
        <p:nvSpPr>
          <p:cNvPr id="8" name="Rounded Rectangle 7"/>
          <p:cNvSpPr/>
          <p:nvPr/>
        </p:nvSpPr>
        <p:spPr>
          <a:xfrm>
            <a:off x="548640" y="1298448"/>
            <a:ext cx="2103120" cy="256032"/>
          </a:xfrm>
          <a:prstGeom prst="roundRect">
            <a:avLst>
              <a:gd name="adj" fmla="val 4500"/>
            </a:avLst>
          </a:prstGeom>
          <a:solidFill>
            <a:srgbClr val="4472C4"/>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640" y="1298448"/>
            <a:ext cx="2103120" cy="256032"/>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AI ASSISTANTS</a:t>
            </a:r>
          </a:p>
        </p:txBody>
      </p:sp>
      <p:sp>
        <p:nvSpPr>
          <p:cNvPr id="10" name="Rounded Rectangle 9"/>
          <p:cNvSpPr/>
          <p:nvPr/>
        </p:nvSpPr>
        <p:spPr>
          <a:xfrm>
            <a:off x="6227064" y="1298448"/>
            <a:ext cx="2377440" cy="256032"/>
          </a:xfrm>
          <a:prstGeom prst="roundRect">
            <a:avLst>
              <a:gd name="adj" fmla="val 4500"/>
            </a:avLst>
          </a:prstGeom>
          <a:solidFill>
            <a:srgbClr val="2F7D3B"/>
          </a:solidFill>
          <a:ln w="1270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227064" y="1298448"/>
            <a:ext cx="2377440" cy="256032"/>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AGENTIC WORKFLOWS</a:t>
            </a:r>
          </a:p>
        </p:txBody>
      </p:sp>
      <p:sp>
        <p:nvSpPr>
          <p:cNvPr id="12" name="Rounded Rectangle 11"/>
          <p:cNvSpPr/>
          <p:nvPr/>
        </p:nvSpPr>
        <p:spPr>
          <a:xfrm>
            <a:off x="548640" y="1664208"/>
            <a:ext cx="5413248" cy="28346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86384" y="1773936"/>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un 13"/>
          <p:cNvSpPr/>
          <p:nvPr/>
        </p:nvSpPr>
        <p:spPr>
          <a:xfrm>
            <a:off x="873252" y="1860803"/>
            <a:ext cx="173736" cy="173736"/>
          </a:xfrm>
          <a:prstGeom prst="su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280160" y="1801368"/>
            <a:ext cx="4443984" cy="292608"/>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Generative AI, in the product</a:t>
            </a:r>
          </a:p>
        </p:txBody>
      </p:sp>
      <p:sp>
        <p:nvSpPr>
          <p:cNvPr id="16" name="TextBox 15"/>
          <p:cNvSpPr txBox="1"/>
          <p:nvPr/>
        </p:nvSpPr>
        <p:spPr>
          <a:xfrm>
            <a:off x="786384" y="2203704"/>
            <a:ext cx="4937760" cy="218541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300" b="1" i="0">
                <a:solidFill>
                  <a:srgbClr val="262626"/>
                </a:solidFill>
                <a:latin typeface="Product Sans"/>
                <a:ea typeface="Product Sans"/>
                <a:cs typeface="Product Sans"/>
              </a:rPr>
              <a:t>MATLAB Copilot · Simulink Copilot · Polyspace Copilot</a:t>
            </a:r>
          </a:p>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Inside the window you already work in.</a:t>
            </a:r>
          </a:p>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Suggests code, explains an error, drafts a diagram.</a:t>
            </a:r>
          </a:p>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It proposes one step. You accept, edit or reject it.</a:t>
            </a:r>
          </a:p>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You run it, and you hold the whole loop in your head.</a:t>
            </a:r>
          </a:p>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MathWorks products, licensed separately.</a:t>
            </a:r>
          </a:p>
        </p:txBody>
      </p:sp>
      <p:sp>
        <p:nvSpPr>
          <p:cNvPr id="17" name="Rounded Rectangle 16"/>
          <p:cNvSpPr/>
          <p:nvPr/>
        </p:nvSpPr>
        <p:spPr>
          <a:xfrm>
            <a:off x="6227064" y="1664208"/>
            <a:ext cx="5413248" cy="28346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464807" y="1773936"/>
            <a:ext cx="347472" cy="347472"/>
          </a:xfrm>
          <a:prstGeom prst="ellipse">
            <a:avLst/>
          </a:prstGeom>
          <a:solidFill>
            <a:srgbClr val="2F7D3B"/>
          </a:solidFill>
          <a:ln w="1905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Gear 6 18"/>
          <p:cNvSpPr/>
          <p:nvPr/>
        </p:nvSpPr>
        <p:spPr>
          <a:xfrm>
            <a:off x="6551676" y="1860803"/>
            <a:ext cx="173736" cy="173736"/>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958583" y="1801368"/>
            <a:ext cx="4443984" cy="292608"/>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Agentic AI — today’s session</a:t>
            </a:r>
          </a:p>
        </p:txBody>
      </p:sp>
      <p:sp>
        <p:nvSpPr>
          <p:cNvPr id="21" name="TextBox 20"/>
          <p:cNvSpPr txBox="1"/>
          <p:nvPr/>
        </p:nvSpPr>
        <p:spPr>
          <a:xfrm>
            <a:off x="6464807" y="2203704"/>
            <a:ext cx="4937760" cy="218541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300" b="1" i="0">
                <a:solidFill>
                  <a:srgbClr val="262626"/>
                </a:solidFill>
                <a:latin typeface="Product Sans"/>
                <a:ea typeface="Product Sans"/>
                <a:cs typeface="Product Sans"/>
              </a:rPr>
              <a:t>Your agent + the MATLAB and Simulink Agentic Toolkits, over MCP</a:t>
            </a:r>
          </a:p>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Outside MATLAB, driving the session you have open.</a:t>
            </a:r>
          </a:p>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Plans, calls a tool, reads the real result, corrects itself.</a:t>
            </a:r>
          </a:p>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It runs the work, tests it, and hands you the evidence.</a:t>
            </a:r>
          </a:p>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It holds the loop; you hold the goal and the pass mark.</a:t>
            </a:r>
          </a:p>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Works with the agent you already use.</a:t>
            </a:r>
          </a:p>
        </p:txBody>
      </p:sp>
      <p:sp>
        <p:nvSpPr>
          <p:cNvPr id="22" name="Rounded Rectangle 21"/>
          <p:cNvSpPr/>
          <p:nvPr/>
        </p:nvSpPr>
        <p:spPr>
          <a:xfrm>
            <a:off x="548640" y="4590288"/>
            <a:ext cx="11091672" cy="914400"/>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7240" y="4672584"/>
            <a:ext cx="10634472" cy="219456"/>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WHERE EACH ONE FITS</a:t>
            </a:r>
          </a:p>
        </p:txBody>
      </p:sp>
      <p:sp>
        <p:nvSpPr>
          <p:cNvPr id="24" name="TextBox 23"/>
          <p:cNvSpPr txBox="1"/>
          <p:nvPr/>
        </p:nvSpPr>
        <p:spPr>
          <a:xfrm>
            <a:off x="777240" y="4901184"/>
            <a:ext cx="10634472" cy="530352"/>
          </a:xfrm>
          <a:prstGeom prst="rect">
            <a:avLst/>
          </a:prstGeom>
          <a:noFill/>
        </p:spPr>
        <p:txBody>
          <a:bodyPr wrap="square" lIns="0" tIns="0" rIns="0" bIns="0" anchor="t">
            <a:spAutoFit/>
          </a:bodyPr>
          <a:lstStyle/>
          <a:p>
            <a:pPr marL="0" indent="0" algn="l">
              <a:lnSpc>
                <a:spcPct val="100000"/>
              </a:lnSpc>
              <a:spcAft>
                <a:spcPts val="300"/>
              </a:spcAft>
              <a:buNone/>
            </a:pPr>
            <a:r>
              <a:rPr sz="1250" b="0" i="0">
                <a:solidFill>
                  <a:srgbClr val="262626"/>
                </a:solidFill>
                <a:latin typeface="Product Sans"/>
                <a:ea typeface="Product Sans"/>
                <a:cs typeface="Product Sans"/>
              </a:rPr>
              <a:t>Assistant — while you are typing: a faster keyboard and a second pair of eyes.</a:t>
            </a:r>
          </a:p>
          <a:p>
            <a:pPr marL="0" indent="0" algn="l">
              <a:lnSpc>
                <a:spcPct val="100000"/>
              </a:lnSpc>
              <a:spcAft>
                <a:spcPts val="300"/>
              </a:spcAft>
              <a:buNone/>
            </a:pPr>
            <a:r>
              <a:rPr sz="1250" b="0" i="0">
                <a:solidFill>
                  <a:srgbClr val="262626"/>
                </a:solidFill>
                <a:latin typeface="Product Sans"/>
                <a:ea typeface="Product Sans"/>
                <a:cs typeface="Product Sans"/>
              </a:rPr>
              <a:t>Agent — when the task is a whole loop: build it, run it, test it, fix it, prove it.</a:t>
            </a:r>
          </a:p>
        </p:txBody>
      </p:sp>
      <p:sp>
        <p:nvSpPr>
          <p:cNvPr id="25" name="Rounded Rectangle 24"/>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Copilot writes with you. An agent works for you — and shows its evidence. Today is the second one.</a:t>
            </a:r>
          </a:p>
        </p:txBody>
      </p:sp>
      <p:sp>
        <p:nvSpPr>
          <p:cNvPr id="27" name="TextBox 26"/>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Framing: MathWorks · “Agentic AI Workflows with MATLAB and Simulink”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8</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Agentic AI changes how you create, not accountability</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The trusted building blocks and the verification evidence are the same in both rows</a:t>
            </a:r>
          </a:p>
        </p:txBody>
      </p:sp>
      <p:pic>
        <p:nvPicPr>
          <p:cNvPr id="8" name="Picture 7" descr="mw_accountability.png"/>
          <p:cNvPicPr>
            <a:picLocks noChangeAspect="1"/>
          </p:cNvPicPr>
          <p:nvPr/>
        </p:nvPicPr>
        <p:blipFill>
          <a:blip r:embed="rId5"/>
          <a:stretch>
            <a:fillRect/>
          </a:stretch>
        </p:blipFill>
        <p:spPr>
          <a:xfrm>
            <a:off x="2219192" y="1243584"/>
            <a:ext cx="7750567" cy="2331720"/>
          </a:xfrm>
          <a:prstGeom prst="rect">
            <a:avLst/>
          </a:prstGeom>
        </p:spPr>
      </p:pic>
      <p:sp>
        <p:nvSpPr>
          <p:cNvPr id="9" name="TextBox 8"/>
          <p:cNvSpPr txBox="1"/>
          <p:nvPr/>
        </p:nvSpPr>
        <p:spPr>
          <a:xfrm>
            <a:off x="548640" y="3639312"/>
            <a:ext cx="11091672" cy="201168"/>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Diagram: MathWorks · “Agentic AI Workflows with MATLAB and Simulink”</a:t>
            </a:r>
          </a:p>
        </p:txBody>
      </p:sp>
      <p:sp>
        <p:nvSpPr>
          <p:cNvPr id="10" name="Rounded Rectangle 9"/>
          <p:cNvSpPr/>
          <p:nvPr/>
        </p:nvSpPr>
        <p:spPr>
          <a:xfrm>
            <a:off x="548640" y="3877056"/>
            <a:ext cx="3602736" cy="157276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786384" y="3986784"/>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86384" y="3986784"/>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350" b="0" i="0">
                <a:solidFill>
                  <a:srgbClr val="FFFFFF"/>
                </a:solidFill>
                <a:latin typeface="Product Sans"/>
                <a:ea typeface="Product Sans"/>
                <a:cs typeface="Product Sans"/>
              </a:rPr>
              <a:t>✓</a:t>
            </a:r>
          </a:p>
        </p:txBody>
      </p:sp>
      <p:sp>
        <p:nvSpPr>
          <p:cNvPr id="13" name="TextBox 12"/>
          <p:cNvSpPr txBox="1"/>
          <p:nvPr/>
        </p:nvSpPr>
        <p:spPr>
          <a:xfrm>
            <a:off x="1280160" y="4014216"/>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Numerics you already trust</a:t>
            </a:r>
          </a:p>
        </p:txBody>
      </p:sp>
      <p:sp>
        <p:nvSpPr>
          <p:cNvPr id="14" name="TextBox 13"/>
          <p:cNvSpPr txBox="1"/>
          <p:nvPr/>
        </p:nvSpPr>
        <p:spPr>
          <a:xfrm>
            <a:off x="786384" y="4416552"/>
            <a:ext cx="3127248" cy="923543"/>
          </a:xfrm>
          <a:prstGeom prst="rect">
            <a:avLst/>
          </a:prstGeom>
          <a:noFill/>
        </p:spPr>
        <p:txBody>
          <a:bodyPr wrap="square" lIns="0" tIns="0" rIns="0" bIns="0" anchor="t">
            <a:spAutoFit/>
          </a:bodyPr>
          <a:lstStyle/>
          <a:p>
            <a:pPr marL="0" indent="0" algn="l">
              <a:lnSpc>
                <a:spcPct val="100000"/>
              </a:lnSpc>
              <a:spcAft>
                <a:spcPts val="600"/>
              </a:spcAft>
              <a:buNone/>
            </a:pPr>
            <a:r>
              <a:rPr sz="1200" b="0" i="0">
                <a:solidFill>
                  <a:srgbClr val="262626"/>
                </a:solidFill>
                <a:latin typeface="Product Sans"/>
                <a:ea typeface="Product Sans"/>
                <a:cs typeface="Product Sans"/>
              </a:rPr>
              <a:t>Forty years of validated solvers, filter design, linear algebra and physical modelling — the same tools your papers already cite.</a:t>
            </a:r>
          </a:p>
        </p:txBody>
      </p:sp>
      <p:sp>
        <p:nvSpPr>
          <p:cNvPr id="15" name="Rounded Rectangle 14"/>
          <p:cNvSpPr/>
          <p:nvPr/>
        </p:nvSpPr>
        <p:spPr>
          <a:xfrm>
            <a:off x="4325112" y="3877056"/>
            <a:ext cx="3602736" cy="157276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4562855" y="3986784"/>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Block Arc 16"/>
          <p:cNvSpPr/>
          <p:nvPr/>
        </p:nvSpPr>
        <p:spPr>
          <a:xfrm>
            <a:off x="4663622" y="4035430"/>
            <a:ext cx="145938" cy="145938"/>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4646249" y="4139671"/>
            <a:ext cx="180685" cy="1389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056631" y="4014216"/>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Qualifiable for certification</a:t>
            </a:r>
          </a:p>
        </p:txBody>
      </p:sp>
      <p:sp>
        <p:nvSpPr>
          <p:cNvPr id="20" name="TextBox 19"/>
          <p:cNvSpPr txBox="1"/>
          <p:nvPr/>
        </p:nvSpPr>
        <p:spPr>
          <a:xfrm>
            <a:off x="4562855" y="4416552"/>
            <a:ext cx="3127248" cy="923543"/>
          </a:xfrm>
          <a:prstGeom prst="rect">
            <a:avLst/>
          </a:prstGeom>
          <a:noFill/>
        </p:spPr>
        <p:txBody>
          <a:bodyPr wrap="square" lIns="0" tIns="0" rIns="0" bIns="0" anchor="t">
            <a:spAutoFit/>
          </a:bodyPr>
          <a:lstStyle/>
          <a:p>
            <a:pPr marL="0" indent="0" algn="l">
              <a:lnSpc>
                <a:spcPct val="100000"/>
              </a:lnSpc>
              <a:spcAft>
                <a:spcPts val="600"/>
              </a:spcAft>
              <a:buNone/>
            </a:pPr>
            <a:r>
              <a:rPr sz="1200" b="0" i="0">
                <a:solidFill>
                  <a:srgbClr val="262626"/>
                </a:solidFill>
                <a:latin typeface="Product Sans"/>
                <a:ea typeface="Product Sans"/>
                <a:cs typeface="Product Sans"/>
              </a:rPr>
              <a:t>IEC Certification Kit and DO Qualification Kit exist precisely so this toolchain can be used under ISO 26262, IEC 61508 and DO-178.</a:t>
            </a:r>
          </a:p>
        </p:txBody>
      </p:sp>
      <p:sp>
        <p:nvSpPr>
          <p:cNvPr id="21" name="Rounded Rectangle 20"/>
          <p:cNvSpPr/>
          <p:nvPr/>
        </p:nvSpPr>
        <p:spPr>
          <a:xfrm>
            <a:off x="8101583" y="3877056"/>
            <a:ext cx="3602736" cy="157276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8339327" y="3986784"/>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8405347" y="4094500"/>
            <a:ext cx="215432" cy="1320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8478316" y="4125772"/>
            <a:ext cx="69494" cy="69494"/>
          </a:xfrm>
          <a:prstGeom prst="ellipse">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833104" y="4014216"/>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The agent cannot fake a result</a:t>
            </a:r>
          </a:p>
        </p:txBody>
      </p:sp>
      <p:sp>
        <p:nvSpPr>
          <p:cNvPr id="26" name="TextBox 25"/>
          <p:cNvSpPr txBox="1"/>
          <p:nvPr/>
        </p:nvSpPr>
        <p:spPr>
          <a:xfrm>
            <a:off x="8339327" y="4416552"/>
            <a:ext cx="3127248" cy="923543"/>
          </a:xfrm>
          <a:prstGeom prst="rect">
            <a:avLst/>
          </a:prstGeom>
          <a:noFill/>
        </p:spPr>
        <p:txBody>
          <a:bodyPr wrap="square" lIns="0" tIns="0" rIns="0" bIns="0" anchor="t">
            <a:spAutoFit/>
          </a:bodyPr>
          <a:lstStyle/>
          <a:p>
            <a:pPr marL="0" indent="0" algn="l">
              <a:lnSpc>
                <a:spcPct val="100000"/>
              </a:lnSpc>
              <a:spcAft>
                <a:spcPts val="600"/>
              </a:spcAft>
              <a:buNone/>
            </a:pPr>
            <a:r>
              <a:rPr sz="1200" b="0" i="0">
                <a:solidFill>
                  <a:srgbClr val="262626"/>
                </a:solidFill>
                <a:latin typeface="Product Sans"/>
                <a:ea typeface="Product Sans"/>
                <a:cs typeface="Product Sans"/>
              </a:rPr>
              <a:t>Every number in this deck came out of a solver or a static analyser. An LLM on its own can only produce a plausible-looking one.</a:t>
            </a:r>
          </a:p>
        </p:txBody>
      </p:sp>
      <p:sp>
        <p:nvSpPr>
          <p:cNvPr id="27" name="Rounded Rectangle 26"/>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The engineer owns the design. The same engineering evidence verifies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9</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Why MathWorks with agentic AI?</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Three ways the same objection arrives — and the answer to all three</a:t>
            </a:r>
          </a:p>
        </p:txBody>
      </p:sp>
      <p:sp>
        <p:nvSpPr>
          <p:cNvPr id="9" name="TextBox 8"/>
          <p:cNvSpPr txBox="1"/>
          <p:nvPr/>
        </p:nvSpPr>
        <p:spPr>
          <a:xfrm>
            <a:off x="777240" y="1261872"/>
            <a:ext cx="2148840" cy="219456"/>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FFFFFF"/>
                </a:solidFill>
                <a:latin typeface="Product Sans"/>
                <a:ea typeface="Product Sans"/>
                <a:cs typeface="Product Sans"/>
              </a:rPr>
              <a:t>YOU WILL BE ASKED</a:t>
            </a:r>
          </a:p>
        </p:txBody>
      </p:sp>
      <p:sp>
        <p:nvSpPr>
          <p:cNvPr id="11" name="Rounded Rectangle 10"/>
          <p:cNvSpPr/>
          <p:nvPr/>
        </p:nvSpPr>
        <p:spPr>
          <a:xfrm>
            <a:off x="530353" y="1961388"/>
            <a:ext cx="3602736" cy="2724912"/>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768097" y="2071116"/>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68097" y="2071116"/>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350" b="0" i="0">
                <a:solidFill>
                  <a:srgbClr val="FFFFFF"/>
                </a:solidFill>
                <a:latin typeface="Product Sans"/>
                <a:ea typeface="Product Sans"/>
                <a:cs typeface="Product Sans"/>
              </a:rPr>
              <a:t>✓</a:t>
            </a:r>
          </a:p>
        </p:txBody>
      </p:sp>
      <p:sp>
        <p:nvSpPr>
          <p:cNvPr id="14" name="TextBox 13"/>
          <p:cNvSpPr txBox="1"/>
          <p:nvPr/>
        </p:nvSpPr>
        <p:spPr>
          <a:xfrm>
            <a:off x="1261873" y="2098548"/>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1F3864"/>
                </a:solidFill>
                <a:latin typeface="Product Sans"/>
                <a:ea typeface="Product Sans"/>
                <a:cs typeface="Product Sans"/>
              </a:rPr>
              <a:t>1 · Trusted building blocks, not blank-page generation</a:t>
            </a:r>
          </a:p>
        </p:txBody>
      </p:sp>
      <p:sp>
        <p:nvSpPr>
          <p:cNvPr id="15" name="TextBox 14"/>
          <p:cNvSpPr txBox="1"/>
          <p:nvPr/>
        </p:nvSpPr>
        <p:spPr>
          <a:xfrm>
            <a:off x="768097" y="2500884"/>
            <a:ext cx="3127248" cy="2075688"/>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Thousands of functions — the backslash operator A\b among them — encode decades of numerical and domain expertise as deterministic decision trees.</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Correct, efficient and consistent every time. An LLM may reach the same answer some of the time; it cannot guarantee it every time.</a:t>
            </a:r>
          </a:p>
          <a:p>
            <a:pPr marL="127000" indent="-127000" algn="l">
              <a:lnSpc>
                <a:spcPct val="100000"/>
              </a:lnSpc>
              <a:spcAft>
                <a:spcPts val="600"/>
              </a:spcAft>
              <a:buSzPct val="100000"/>
              <a:buChar char="•"/>
            </a:pPr>
            <a:r>
              <a:rPr sz="1200" b="1" i="0">
                <a:solidFill>
                  <a:srgbClr val="262626"/>
                </a:solidFill>
                <a:latin typeface="Product Sans"/>
                <a:ea typeface="Product Sans"/>
                <a:cs typeface="Product Sans"/>
              </a:rPr>
              <a:t>Less surface area for hallucination, and less surface area for you to verify.</a:t>
            </a:r>
          </a:p>
        </p:txBody>
      </p:sp>
      <p:sp>
        <p:nvSpPr>
          <p:cNvPr id="16" name="Rounded Rectangle 15"/>
          <p:cNvSpPr/>
          <p:nvPr/>
        </p:nvSpPr>
        <p:spPr>
          <a:xfrm>
            <a:off x="4306825" y="1961388"/>
            <a:ext cx="3602736" cy="2724912"/>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4544568" y="2071116"/>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Block Arc 17"/>
          <p:cNvSpPr/>
          <p:nvPr/>
        </p:nvSpPr>
        <p:spPr>
          <a:xfrm>
            <a:off x="4617538" y="2144085"/>
            <a:ext cx="201533" cy="201533"/>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Isosceles Triangle 18"/>
          <p:cNvSpPr/>
          <p:nvPr/>
        </p:nvSpPr>
        <p:spPr>
          <a:xfrm>
            <a:off x="4749577" y="2130186"/>
            <a:ext cx="72969" cy="6254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038344" y="2098548"/>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300" b="0" i="0" dirty="0">
                <a:solidFill>
                  <a:srgbClr val="1F3864"/>
                </a:solidFill>
                <a:latin typeface="Product Sans"/>
                <a:ea typeface="Product Sans"/>
                <a:cs typeface="Product Sans"/>
              </a:rPr>
              <a:t>2 · Agentic AI accelerates creation. MathWorks, verification.</a:t>
            </a:r>
          </a:p>
        </p:txBody>
      </p:sp>
      <p:sp>
        <p:nvSpPr>
          <p:cNvPr id="21" name="TextBox 20"/>
          <p:cNvSpPr txBox="1"/>
          <p:nvPr/>
        </p:nvSpPr>
        <p:spPr>
          <a:xfrm>
            <a:off x="4544568" y="2500884"/>
            <a:ext cx="3127248" cy="2075688"/>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dirty="0">
                <a:solidFill>
                  <a:srgbClr val="262626"/>
                </a:solidFill>
                <a:latin typeface="Product Sans"/>
                <a:ea typeface="Product Sans"/>
                <a:cs typeface="Product Sans"/>
              </a:rPr>
              <a:t>Together they deliver what neither can alone: speed AND trust.</a:t>
            </a:r>
          </a:p>
          <a:p>
            <a:pPr marL="127000" indent="-127000" algn="l">
              <a:lnSpc>
                <a:spcPct val="100000"/>
              </a:lnSpc>
              <a:spcAft>
                <a:spcPts val="600"/>
              </a:spcAft>
              <a:buSzPct val="100000"/>
              <a:buChar char="•"/>
            </a:pPr>
            <a:r>
              <a:rPr sz="1200" b="0" i="0" dirty="0">
                <a:solidFill>
                  <a:srgbClr val="262626"/>
                </a:solidFill>
                <a:latin typeface="Product Sans"/>
                <a:ea typeface="Product Sans"/>
                <a:cs typeface="Product Sans"/>
              </a:rPr>
              <a:t>Without traceability and a verification framework you are only generating code faster — with no way to know whether it is correct.</a:t>
            </a:r>
          </a:p>
          <a:p>
            <a:pPr marL="127000" indent="-127000" algn="l">
              <a:lnSpc>
                <a:spcPct val="100000"/>
              </a:lnSpc>
              <a:spcAft>
                <a:spcPts val="600"/>
              </a:spcAft>
              <a:buSzPct val="100000"/>
              <a:buChar char="•"/>
            </a:pPr>
            <a:r>
              <a:rPr sz="1200" b="1" i="0" dirty="0">
                <a:solidFill>
                  <a:srgbClr val="262626"/>
                </a:solidFill>
                <a:latin typeface="Product Sans"/>
                <a:ea typeface="Product Sans"/>
                <a:cs typeface="Product Sans"/>
              </a:rPr>
              <a:t>Speed is worthless if nobody can sign it off.</a:t>
            </a:r>
          </a:p>
        </p:txBody>
      </p:sp>
      <p:sp>
        <p:nvSpPr>
          <p:cNvPr id="22" name="Rounded Rectangle 21"/>
          <p:cNvSpPr/>
          <p:nvPr/>
        </p:nvSpPr>
        <p:spPr>
          <a:xfrm>
            <a:off x="8083296" y="1961388"/>
            <a:ext cx="3602736" cy="2724912"/>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8321040" y="2071116"/>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Gear 6 23"/>
          <p:cNvSpPr/>
          <p:nvPr/>
        </p:nvSpPr>
        <p:spPr>
          <a:xfrm>
            <a:off x="8407908" y="2157984"/>
            <a:ext cx="173736" cy="173736"/>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814817" y="2098548"/>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1F3864"/>
                </a:solidFill>
                <a:latin typeface="Product Sans"/>
                <a:ea typeface="Product Sans"/>
                <a:cs typeface="Product Sans"/>
              </a:rPr>
              <a:t>3 · Agents get better when the tools are domain-specific</a:t>
            </a:r>
          </a:p>
        </p:txBody>
      </p:sp>
      <p:sp>
        <p:nvSpPr>
          <p:cNvPr id="26" name="TextBox 25"/>
          <p:cNvSpPr txBox="1"/>
          <p:nvPr/>
        </p:nvSpPr>
        <p:spPr>
          <a:xfrm>
            <a:off x="8321040" y="2500884"/>
            <a:ext cx="3127248" cy="2075688"/>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Without the toolkits, a frontier model burns tokens working out how to do engineering — instead of doing the engineering.</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With them, frontier models go from good to excellent.</a:t>
            </a:r>
          </a:p>
          <a:p>
            <a:pPr marL="127000" indent="-127000" algn="l">
              <a:lnSpc>
                <a:spcPct val="100000"/>
              </a:lnSpc>
              <a:spcAft>
                <a:spcPts val="600"/>
              </a:spcAft>
              <a:buSzPct val="100000"/>
              <a:buChar char="•"/>
            </a:pPr>
            <a:r>
              <a:rPr sz="1200" b="1" i="0">
                <a:solidFill>
                  <a:srgbClr val="262626"/>
                </a:solidFill>
                <a:latin typeface="Product Sans"/>
                <a:ea typeface="Product Sans"/>
                <a:cs typeface="Product Sans"/>
              </a:rPr>
              <a:t>From general-purpose coders to effective engineering assistants.</a:t>
            </a:r>
          </a:p>
        </p:txBody>
      </p:sp>
      <p:sp>
        <p:nvSpPr>
          <p:cNvPr id="27" name="Rounded Rectangle 26"/>
          <p:cNvSpPr/>
          <p:nvPr/>
        </p:nvSpPr>
        <p:spPr>
          <a:xfrm>
            <a:off x="548640" y="5550408"/>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5550408"/>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Agentic AI makes you faster. MATLAB and Simulink make you right. The combination is the whole argument.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10</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MCP and skills — the restaurant analogy</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The chef coordinates, the rail carries, the line cooks — and nothing leaves the pass unless you approve it</a:t>
            </a:r>
          </a:p>
        </p:txBody>
      </p:sp>
      <p:sp>
        <p:nvSpPr>
          <p:cNvPr id="8" name="Rounded Rectangle 7"/>
          <p:cNvSpPr/>
          <p:nvPr/>
        </p:nvSpPr>
        <p:spPr>
          <a:xfrm>
            <a:off x="548640" y="1261872"/>
            <a:ext cx="7818120" cy="2377440"/>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215237" y="1719072"/>
            <a:ext cx="310896" cy="310896"/>
          </a:xfrm>
          <a:prstGeom prst="ellipse">
            <a:avLst/>
          </a:prstGeom>
          <a:solidFill>
            <a:srgbClr val="FFFFFF"/>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 Same Side Corner Rectangle 9"/>
          <p:cNvSpPr/>
          <p:nvPr/>
        </p:nvSpPr>
        <p:spPr>
          <a:xfrm>
            <a:off x="1078077" y="2066543"/>
            <a:ext cx="585216" cy="365760"/>
          </a:xfrm>
          <a:prstGeom prst="round2SameRect">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1613001" y="1986991"/>
            <a:ext cx="466344" cy="341985"/>
          </a:xfrm>
          <a:prstGeom prst="roundRect">
            <a:avLst/>
          </a:prstGeom>
          <a:solidFill>
            <a:srgbClr val="FFFFFF"/>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1682953" y="2056942"/>
            <a:ext cx="326440" cy="2720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1682953" y="2126894"/>
            <a:ext cx="326440" cy="2720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1682953" y="2196846"/>
            <a:ext cx="326440" cy="2720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04672" y="2651760"/>
            <a:ext cx="1461211" cy="219456"/>
          </a:xfrm>
          <a:prstGeom prst="rect">
            <a:avLst/>
          </a:prstGeom>
          <a:noFill/>
        </p:spPr>
        <p:txBody>
          <a:bodyPr wrap="square" lIns="0" tIns="0" rIns="0" bIns="0" anchor="ctr">
            <a:spAutoFit/>
          </a:bodyPr>
          <a:lstStyle/>
          <a:p>
            <a:pPr marL="0" indent="0" algn="ctr">
              <a:lnSpc>
                <a:spcPct val="100000"/>
              </a:lnSpc>
              <a:spcAft>
                <a:spcPts val="400"/>
              </a:spcAft>
              <a:buNone/>
            </a:pPr>
            <a:r>
              <a:rPr sz="1200" b="0" i="0">
                <a:solidFill>
                  <a:srgbClr val="1F3864"/>
                </a:solidFill>
                <a:latin typeface="Product Sans"/>
                <a:ea typeface="Product Sans"/>
                <a:cs typeface="Product Sans"/>
              </a:rPr>
              <a:t>You order</a:t>
            </a:r>
          </a:p>
        </p:txBody>
      </p:sp>
      <p:sp>
        <p:nvSpPr>
          <p:cNvPr id="16" name="TextBox 15"/>
          <p:cNvSpPr txBox="1"/>
          <p:nvPr/>
        </p:nvSpPr>
        <p:spPr>
          <a:xfrm>
            <a:off x="804672" y="2871215"/>
            <a:ext cx="1461211" cy="20116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4472C4"/>
                </a:solidFill>
                <a:latin typeface="Cascadia Mono"/>
                <a:ea typeface="Cascadia Mono"/>
                <a:cs typeface="Cascadia Mono"/>
              </a:rPr>
              <a:t>= your prompt</a:t>
            </a:r>
          </a:p>
        </p:txBody>
      </p:sp>
      <p:sp>
        <p:nvSpPr>
          <p:cNvPr id="17" name="Right Arrow 16"/>
          <p:cNvSpPr/>
          <p:nvPr/>
        </p:nvSpPr>
        <p:spPr>
          <a:xfrm>
            <a:off x="2119579" y="2011679"/>
            <a:ext cx="292608" cy="201168"/>
          </a:xfrm>
          <a:prstGeom prst="rightArrow">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2429560" y="2194560"/>
            <a:ext cx="1133856" cy="91440"/>
          </a:xfrm>
          <a:prstGeom prst="roundRect">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2493568" y="1792223"/>
            <a:ext cx="274320" cy="402336"/>
          </a:xfrm>
          <a:prstGeom prst="rect">
            <a:avLst/>
          </a:prstGeom>
          <a:solidFill>
            <a:srgbClr val="FFFFFF"/>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2548432" y="1883663"/>
            <a:ext cx="164592" cy="27432"/>
          </a:xfrm>
          <a:prstGeom prst="rect">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2548432" y="1975103"/>
            <a:ext cx="164592" cy="27432"/>
          </a:xfrm>
          <a:prstGeom prst="rect">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2859328" y="1792223"/>
            <a:ext cx="274320" cy="402336"/>
          </a:xfrm>
          <a:prstGeom prst="rect">
            <a:avLst/>
          </a:prstGeom>
          <a:solidFill>
            <a:srgbClr val="FFFFFF"/>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2914192" y="1883663"/>
            <a:ext cx="164592" cy="27432"/>
          </a:xfrm>
          <a:prstGeom prst="rect">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2914192" y="1975103"/>
            <a:ext cx="164592" cy="27432"/>
          </a:xfrm>
          <a:prstGeom prst="rect">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3225088" y="1792223"/>
            <a:ext cx="274320" cy="402336"/>
          </a:xfrm>
          <a:prstGeom prst="rect">
            <a:avLst/>
          </a:prstGeom>
          <a:solidFill>
            <a:srgbClr val="FFFFFF"/>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3279952" y="1883663"/>
            <a:ext cx="164592" cy="27432"/>
          </a:xfrm>
          <a:prstGeom prst="rect">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3279952" y="1975103"/>
            <a:ext cx="164592" cy="27432"/>
          </a:xfrm>
          <a:prstGeom prst="rect">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2265883" y="2651760"/>
            <a:ext cx="1461211" cy="219456"/>
          </a:xfrm>
          <a:prstGeom prst="rect">
            <a:avLst/>
          </a:prstGeom>
          <a:noFill/>
        </p:spPr>
        <p:txBody>
          <a:bodyPr wrap="square" lIns="0" tIns="0" rIns="0" bIns="0" anchor="ctr">
            <a:spAutoFit/>
          </a:bodyPr>
          <a:lstStyle/>
          <a:p>
            <a:pPr marL="0" indent="0" algn="ctr">
              <a:lnSpc>
                <a:spcPct val="100000"/>
              </a:lnSpc>
              <a:spcAft>
                <a:spcPts val="400"/>
              </a:spcAft>
              <a:buNone/>
            </a:pPr>
            <a:r>
              <a:rPr sz="1200" b="0" i="0">
                <a:solidFill>
                  <a:srgbClr val="1F3864"/>
                </a:solidFill>
                <a:latin typeface="Product Sans"/>
                <a:ea typeface="Product Sans"/>
                <a:cs typeface="Product Sans"/>
              </a:rPr>
              <a:t>The ticket rail</a:t>
            </a:r>
          </a:p>
        </p:txBody>
      </p:sp>
      <p:sp>
        <p:nvSpPr>
          <p:cNvPr id="29" name="TextBox 28"/>
          <p:cNvSpPr txBox="1"/>
          <p:nvPr/>
        </p:nvSpPr>
        <p:spPr>
          <a:xfrm>
            <a:off x="2265883" y="2871215"/>
            <a:ext cx="1461211" cy="20116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4472C4"/>
                </a:solidFill>
                <a:latin typeface="Cascadia Mono"/>
                <a:ea typeface="Cascadia Mono"/>
                <a:cs typeface="Cascadia Mono"/>
              </a:rPr>
              <a:t>= MCP</a:t>
            </a:r>
          </a:p>
        </p:txBody>
      </p:sp>
      <p:sp>
        <p:nvSpPr>
          <p:cNvPr id="30" name="Right Arrow 29"/>
          <p:cNvSpPr/>
          <p:nvPr/>
        </p:nvSpPr>
        <p:spPr>
          <a:xfrm>
            <a:off x="3580790" y="2011679"/>
            <a:ext cx="292608" cy="201168"/>
          </a:xfrm>
          <a:prstGeom prst="rightArrow">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Cloud 30"/>
          <p:cNvSpPr/>
          <p:nvPr/>
        </p:nvSpPr>
        <p:spPr>
          <a:xfrm>
            <a:off x="4183380" y="1645919"/>
            <a:ext cx="548640" cy="329184"/>
          </a:xfrm>
          <a:prstGeom prst="cloud">
            <a:avLst/>
          </a:prstGeom>
          <a:solidFill>
            <a:srgbClr val="FFFFFF"/>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ounded Rectangle 31"/>
          <p:cNvSpPr/>
          <p:nvPr/>
        </p:nvSpPr>
        <p:spPr>
          <a:xfrm>
            <a:off x="4238244" y="1920239"/>
            <a:ext cx="438912" cy="128016"/>
          </a:xfrm>
          <a:prstGeom prst="roundRect">
            <a:avLst/>
          </a:prstGeom>
          <a:solidFill>
            <a:srgbClr val="1F3864"/>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4302252" y="2066543"/>
            <a:ext cx="310896" cy="310896"/>
          </a:xfrm>
          <a:prstGeom prst="ellipse">
            <a:avLst/>
          </a:prstGeom>
          <a:solidFill>
            <a:srgbClr val="FFFFFF"/>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3727094" y="2651760"/>
            <a:ext cx="1461211" cy="219456"/>
          </a:xfrm>
          <a:prstGeom prst="rect">
            <a:avLst/>
          </a:prstGeom>
          <a:noFill/>
        </p:spPr>
        <p:txBody>
          <a:bodyPr wrap="square" lIns="0" tIns="0" rIns="0" bIns="0" anchor="ctr">
            <a:spAutoFit/>
          </a:bodyPr>
          <a:lstStyle/>
          <a:p>
            <a:pPr marL="0" indent="0" algn="ctr">
              <a:lnSpc>
                <a:spcPct val="100000"/>
              </a:lnSpc>
              <a:spcAft>
                <a:spcPts val="400"/>
              </a:spcAft>
              <a:buNone/>
            </a:pPr>
            <a:r>
              <a:rPr sz="1200" b="0" i="0">
                <a:solidFill>
                  <a:srgbClr val="1F3864"/>
                </a:solidFill>
                <a:latin typeface="Product Sans"/>
                <a:ea typeface="Product Sans"/>
                <a:cs typeface="Product Sans"/>
              </a:rPr>
              <a:t>The chef</a:t>
            </a:r>
          </a:p>
        </p:txBody>
      </p:sp>
      <p:sp>
        <p:nvSpPr>
          <p:cNvPr id="35" name="TextBox 34"/>
          <p:cNvSpPr txBox="1"/>
          <p:nvPr/>
        </p:nvSpPr>
        <p:spPr>
          <a:xfrm>
            <a:off x="3727094" y="2871215"/>
            <a:ext cx="1461211" cy="20116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4472C4"/>
                </a:solidFill>
                <a:latin typeface="Cascadia Mono"/>
                <a:ea typeface="Cascadia Mono"/>
                <a:cs typeface="Cascadia Mono"/>
              </a:rPr>
              <a:t>= the AI agent</a:t>
            </a:r>
          </a:p>
        </p:txBody>
      </p:sp>
      <p:sp>
        <p:nvSpPr>
          <p:cNvPr id="36" name="Right Arrow 35"/>
          <p:cNvSpPr/>
          <p:nvPr/>
        </p:nvSpPr>
        <p:spPr>
          <a:xfrm>
            <a:off x="5042001" y="2011679"/>
            <a:ext cx="292608" cy="201168"/>
          </a:xfrm>
          <a:prstGeom prst="rightArrow">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ounded Rectangle 36"/>
          <p:cNvSpPr/>
          <p:nvPr/>
        </p:nvSpPr>
        <p:spPr>
          <a:xfrm>
            <a:off x="5251399" y="1828799"/>
            <a:ext cx="347472" cy="475488"/>
          </a:xfrm>
          <a:prstGeom prst="roundRect">
            <a:avLst/>
          </a:prstGeom>
          <a:solidFill>
            <a:srgbClr val="EEF2FA"/>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5342839" y="1920239"/>
            <a:ext cx="164592" cy="164592"/>
          </a:xfrm>
          <a:prstGeom prst="ellipse">
            <a:avLst/>
          </a:prstGeom>
          <a:solidFill>
            <a:srgbClr val="1F3864"/>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5070496" y="2340863"/>
            <a:ext cx="493776" cy="182880"/>
          </a:xfrm>
          <a:prstGeom prst="rect">
            <a:avLst/>
          </a:prstGeom>
          <a:noFill/>
        </p:spPr>
        <p:txBody>
          <a:bodyPr wrap="square" lIns="0" tIns="0" rIns="0" bIns="0" anchor="ctr">
            <a:spAutoFit/>
          </a:bodyPr>
          <a:lstStyle/>
          <a:p>
            <a:pPr marL="0" indent="0" algn="ctr">
              <a:lnSpc>
                <a:spcPct val="100000"/>
              </a:lnSpc>
              <a:spcAft>
                <a:spcPts val="400"/>
              </a:spcAft>
              <a:buNone/>
            </a:pPr>
            <a:r>
              <a:rPr sz="950" b="0" i="0" dirty="0">
                <a:solidFill>
                  <a:srgbClr val="595959"/>
                </a:solidFill>
                <a:latin typeface="Cascadia Mono"/>
                <a:ea typeface="Cascadia Mono"/>
                <a:cs typeface="Cascadia Mono"/>
              </a:rPr>
              <a:t>MATLAB</a:t>
            </a:r>
          </a:p>
        </p:txBody>
      </p:sp>
      <p:sp>
        <p:nvSpPr>
          <p:cNvPr id="40" name="Rounded Rectangle 39"/>
          <p:cNvSpPr/>
          <p:nvPr/>
        </p:nvSpPr>
        <p:spPr>
          <a:xfrm>
            <a:off x="5745175" y="1828799"/>
            <a:ext cx="347472" cy="475488"/>
          </a:xfrm>
          <a:prstGeom prst="roundRect">
            <a:avLst/>
          </a:prstGeom>
          <a:solidFill>
            <a:srgbClr val="EEF2FA"/>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5836615" y="1920239"/>
            <a:ext cx="164592" cy="164592"/>
          </a:xfrm>
          <a:prstGeom prst="ellipse">
            <a:avLst/>
          </a:prstGeom>
          <a:solidFill>
            <a:srgbClr val="1F3864"/>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5672023" y="2359316"/>
            <a:ext cx="620877" cy="146194"/>
          </a:xfrm>
          <a:prstGeom prst="rect">
            <a:avLst/>
          </a:prstGeom>
          <a:noFill/>
        </p:spPr>
        <p:txBody>
          <a:bodyPr wrap="square" lIns="0" tIns="0" rIns="0" bIns="0" anchor="ctr">
            <a:spAutoFit/>
          </a:bodyPr>
          <a:lstStyle/>
          <a:p>
            <a:pPr marL="0" indent="0" algn="ctr">
              <a:lnSpc>
                <a:spcPct val="100000"/>
              </a:lnSpc>
              <a:spcAft>
                <a:spcPts val="400"/>
              </a:spcAft>
              <a:buNone/>
            </a:pPr>
            <a:r>
              <a:rPr sz="950" b="0" i="0" dirty="0">
                <a:solidFill>
                  <a:srgbClr val="595959"/>
                </a:solidFill>
                <a:latin typeface="Cascadia Mono"/>
                <a:ea typeface="Cascadia Mono"/>
                <a:cs typeface="Cascadia Mono"/>
              </a:rPr>
              <a:t>Simulink</a:t>
            </a:r>
          </a:p>
        </p:txBody>
      </p:sp>
      <p:sp>
        <p:nvSpPr>
          <p:cNvPr id="43" name="Rounded Rectangle 42"/>
          <p:cNvSpPr/>
          <p:nvPr/>
        </p:nvSpPr>
        <p:spPr>
          <a:xfrm>
            <a:off x="6238951" y="1828799"/>
            <a:ext cx="347472" cy="475488"/>
          </a:xfrm>
          <a:prstGeom prst="roundRect">
            <a:avLst/>
          </a:prstGeom>
          <a:solidFill>
            <a:srgbClr val="EEF2FA"/>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Oval 43"/>
          <p:cNvSpPr/>
          <p:nvPr/>
        </p:nvSpPr>
        <p:spPr>
          <a:xfrm>
            <a:off x="6330391" y="1920239"/>
            <a:ext cx="164592" cy="164592"/>
          </a:xfrm>
          <a:prstGeom prst="ellipse">
            <a:avLst/>
          </a:prstGeom>
          <a:solidFill>
            <a:srgbClr val="1F3864"/>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291911" y="2340863"/>
            <a:ext cx="493776" cy="182880"/>
          </a:xfrm>
          <a:prstGeom prst="rect">
            <a:avLst/>
          </a:prstGeom>
          <a:noFill/>
        </p:spPr>
        <p:txBody>
          <a:bodyPr wrap="square" lIns="0" tIns="0" rIns="0" bIns="0" anchor="ctr">
            <a:spAutoFit/>
          </a:bodyPr>
          <a:lstStyle/>
          <a:p>
            <a:pPr marL="0" indent="0" algn="ctr">
              <a:lnSpc>
                <a:spcPct val="100000"/>
              </a:lnSpc>
              <a:spcAft>
                <a:spcPts val="400"/>
              </a:spcAft>
              <a:buNone/>
            </a:pPr>
            <a:r>
              <a:rPr sz="950" b="0" i="0" dirty="0">
                <a:solidFill>
                  <a:srgbClr val="595959"/>
                </a:solidFill>
                <a:latin typeface="Cascadia Mono"/>
                <a:ea typeface="Cascadia Mono"/>
                <a:cs typeface="Cascadia Mono"/>
              </a:rPr>
              <a:t>tests</a:t>
            </a:r>
          </a:p>
        </p:txBody>
      </p:sp>
      <p:sp>
        <p:nvSpPr>
          <p:cNvPr id="46" name="TextBox 45"/>
          <p:cNvSpPr txBox="1"/>
          <p:nvPr/>
        </p:nvSpPr>
        <p:spPr>
          <a:xfrm>
            <a:off x="5188305" y="2651760"/>
            <a:ext cx="1461211" cy="219456"/>
          </a:xfrm>
          <a:prstGeom prst="rect">
            <a:avLst/>
          </a:prstGeom>
          <a:noFill/>
        </p:spPr>
        <p:txBody>
          <a:bodyPr wrap="square" lIns="0" tIns="0" rIns="0" bIns="0" anchor="ctr">
            <a:spAutoFit/>
          </a:bodyPr>
          <a:lstStyle/>
          <a:p>
            <a:pPr marL="0" indent="0" algn="ctr">
              <a:lnSpc>
                <a:spcPct val="100000"/>
              </a:lnSpc>
              <a:spcAft>
                <a:spcPts val="400"/>
              </a:spcAft>
              <a:buNone/>
            </a:pPr>
            <a:r>
              <a:rPr sz="1200" b="0" i="0">
                <a:solidFill>
                  <a:srgbClr val="1F3864"/>
                </a:solidFill>
                <a:latin typeface="Product Sans"/>
                <a:ea typeface="Product Sans"/>
                <a:cs typeface="Product Sans"/>
              </a:rPr>
              <a:t>The line</a:t>
            </a:r>
          </a:p>
        </p:txBody>
      </p:sp>
      <p:sp>
        <p:nvSpPr>
          <p:cNvPr id="47" name="TextBox 46"/>
          <p:cNvSpPr txBox="1"/>
          <p:nvPr/>
        </p:nvSpPr>
        <p:spPr>
          <a:xfrm>
            <a:off x="5188305" y="2871215"/>
            <a:ext cx="1461211" cy="20116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4472C4"/>
                </a:solidFill>
                <a:latin typeface="Cascadia Mono"/>
                <a:ea typeface="Cascadia Mono"/>
                <a:cs typeface="Cascadia Mono"/>
              </a:rPr>
              <a:t>= MATLAB + Simulink</a:t>
            </a:r>
          </a:p>
        </p:txBody>
      </p:sp>
      <p:sp>
        <p:nvSpPr>
          <p:cNvPr id="48" name="Right Arrow 47"/>
          <p:cNvSpPr/>
          <p:nvPr/>
        </p:nvSpPr>
        <p:spPr>
          <a:xfrm>
            <a:off x="6503212" y="2011679"/>
            <a:ext cx="292608" cy="201168"/>
          </a:xfrm>
          <a:prstGeom prst="rightArrow">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Oval 48"/>
          <p:cNvSpPr/>
          <p:nvPr/>
        </p:nvSpPr>
        <p:spPr>
          <a:xfrm>
            <a:off x="7069226" y="1883663"/>
            <a:ext cx="621792" cy="438912"/>
          </a:xfrm>
          <a:prstGeom prst="ellipse">
            <a:avLst/>
          </a:prstGeom>
          <a:solidFill>
            <a:srgbClr val="FFFFFF"/>
          </a:solidFill>
          <a:ln w="1905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Oval 49"/>
          <p:cNvSpPr/>
          <p:nvPr/>
        </p:nvSpPr>
        <p:spPr>
          <a:xfrm>
            <a:off x="7188098" y="1965960"/>
            <a:ext cx="384048" cy="274320"/>
          </a:xfrm>
          <a:prstGeom prst="ellipse">
            <a:avLst/>
          </a:prstGeom>
          <a:solidFill>
            <a:srgbClr val="EEF2FA"/>
          </a:solidFill>
          <a:ln w="1905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7188098" y="1965960"/>
            <a:ext cx="384048" cy="274320"/>
          </a:xfrm>
          <a:prstGeom prst="rect">
            <a:avLst/>
          </a:prstGeom>
          <a:noFill/>
        </p:spPr>
        <p:txBody>
          <a:bodyPr wrap="square" lIns="0" tIns="0" rIns="0" bIns="0" anchor="ctr">
            <a:spAutoFit/>
          </a:bodyPr>
          <a:lstStyle/>
          <a:p>
            <a:pPr marL="0" indent="0" algn="ctr">
              <a:lnSpc>
                <a:spcPct val="100000"/>
              </a:lnSpc>
              <a:spcAft>
                <a:spcPts val="400"/>
              </a:spcAft>
              <a:buNone/>
            </a:pPr>
            <a:r>
              <a:rPr sz="1350" b="0" i="0">
                <a:solidFill>
                  <a:srgbClr val="2F7D3B"/>
                </a:solidFill>
                <a:latin typeface="Product Sans"/>
                <a:ea typeface="Product Sans"/>
                <a:cs typeface="Product Sans"/>
              </a:rPr>
              <a:t>✓</a:t>
            </a:r>
          </a:p>
        </p:txBody>
      </p:sp>
      <p:sp>
        <p:nvSpPr>
          <p:cNvPr id="52" name="TextBox 51"/>
          <p:cNvSpPr txBox="1"/>
          <p:nvPr/>
        </p:nvSpPr>
        <p:spPr>
          <a:xfrm>
            <a:off x="6649516" y="2651760"/>
            <a:ext cx="1461211" cy="219456"/>
          </a:xfrm>
          <a:prstGeom prst="rect">
            <a:avLst/>
          </a:prstGeom>
          <a:noFill/>
        </p:spPr>
        <p:txBody>
          <a:bodyPr wrap="square" lIns="0" tIns="0" rIns="0" bIns="0" anchor="ctr">
            <a:spAutoFit/>
          </a:bodyPr>
          <a:lstStyle/>
          <a:p>
            <a:pPr marL="0" indent="0" algn="ctr">
              <a:lnSpc>
                <a:spcPct val="100000"/>
              </a:lnSpc>
              <a:spcAft>
                <a:spcPts val="400"/>
              </a:spcAft>
              <a:buNone/>
            </a:pPr>
            <a:r>
              <a:rPr sz="1200" b="0" i="0" dirty="0">
                <a:solidFill>
                  <a:srgbClr val="1F3864"/>
                </a:solidFill>
                <a:latin typeface="Product Sans"/>
                <a:ea typeface="Product Sans"/>
                <a:cs typeface="Product Sans"/>
              </a:rPr>
              <a:t>You taste it</a:t>
            </a:r>
          </a:p>
        </p:txBody>
      </p:sp>
      <p:sp>
        <p:nvSpPr>
          <p:cNvPr id="53" name="TextBox 52"/>
          <p:cNvSpPr txBox="1"/>
          <p:nvPr/>
        </p:nvSpPr>
        <p:spPr>
          <a:xfrm>
            <a:off x="6649516" y="2871215"/>
            <a:ext cx="1461211" cy="20116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4472C4"/>
                </a:solidFill>
                <a:latin typeface="Cascadia Mono"/>
                <a:ea typeface="Cascadia Mono"/>
                <a:cs typeface="Cascadia Mono"/>
              </a:rPr>
              <a:t>= your review</a:t>
            </a:r>
          </a:p>
        </p:txBody>
      </p:sp>
      <p:sp>
        <p:nvSpPr>
          <p:cNvPr id="54" name="Rectangle 53"/>
          <p:cNvSpPr/>
          <p:nvPr/>
        </p:nvSpPr>
        <p:spPr>
          <a:xfrm>
            <a:off x="1535277" y="3328416"/>
            <a:ext cx="5844844" cy="41148"/>
          </a:xfrm>
          <a:prstGeom prst="rect">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Left Arrow 54"/>
          <p:cNvSpPr/>
          <p:nvPr/>
        </p:nvSpPr>
        <p:spPr>
          <a:xfrm>
            <a:off x="1388973" y="3246120"/>
            <a:ext cx="201168" cy="201168"/>
          </a:xfrm>
          <a:prstGeom prst="leftArrow">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2558125" y="3383280"/>
            <a:ext cx="3799149" cy="201168"/>
          </a:xfrm>
          <a:prstGeom prst="rect">
            <a:avLst/>
          </a:prstGeom>
          <a:noFill/>
        </p:spPr>
        <p:txBody>
          <a:bodyPr wrap="square" lIns="0" tIns="0" rIns="0" bIns="0" anchor="ctr">
            <a:spAutoFit/>
          </a:bodyPr>
          <a:lstStyle/>
          <a:p>
            <a:pPr marL="0" indent="0" algn="ctr">
              <a:lnSpc>
                <a:spcPct val="100000"/>
              </a:lnSpc>
              <a:spcAft>
                <a:spcPts val="400"/>
              </a:spcAft>
              <a:buNone/>
            </a:pPr>
            <a:r>
              <a:rPr sz="1000" b="0" i="1">
                <a:solidFill>
                  <a:srgbClr val="595959"/>
                </a:solidFill>
                <a:latin typeface="Product Sans"/>
                <a:ea typeface="Product Sans"/>
                <a:cs typeface="Product Sans"/>
              </a:rPr>
              <a:t>approve — or send it back</a:t>
            </a:r>
          </a:p>
        </p:txBody>
      </p:sp>
      <p:pic>
        <p:nvPicPr>
          <p:cNvPr id="57" name="Picture 56"/>
          <p:cNvPicPr>
            <a:picLocks noChangeAspect="1"/>
          </p:cNvPicPr>
          <p:nvPr/>
        </p:nvPicPr>
        <p:blipFill>
          <a:blip r:embed="rId4"/>
          <a:srcRect l="14545" r="14545"/>
          <a:stretch/>
        </p:blipFill>
        <p:spPr>
          <a:xfrm>
            <a:off x="8549640" y="1261872"/>
            <a:ext cx="3090672" cy="2377440"/>
          </a:xfrm>
          <a:prstGeom prst="rect">
            <a:avLst/>
          </a:prstGeom>
        </p:spPr>
      </p:pic>
      <p:sp>
        <p:nvSpPr>
          <p:cNvPr id="59" name="Rounded Rectangle 58"/>
          <p:cNvSpPr/>
          <p:nvPr/>
        </p:nvSpPr>
        <p:spPr>
          <a:xfrm>
            <a:off x="548640" y="3913632"/>
            <a:ext cx="3602736" cy="157276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786384" y="4050792"/>
            <a:ext cx="3127248"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The recipe book = skills</a:t>
            </a:r>
          </a:p>
        </p:txBody>
      </p:sp>
      <p:sp>
        <p:nvSpPr>
          <p:cNvPr id="61" name="TextBox 60"/>
          <p:cNvSpPr txBox="1"/>
          <p:nvPr/>
        </p:nvSpPr>
        <p:spPr>
          <a:xfrm>
            <a:off x="786384" y="4453128"/>
            <a:ext cx="3127248" cy="923543"/>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Proven procedures per dish — opened only when that dish is ordered</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Consistent quality, no improvising on your model</a:t>
            </a:r>
          </a:p>
        </p:txBody>
      </p:sp>
      <p:sp>
        <p:nvSpPr>
          <p:cNvPr id="62" name="Rounded Rectangle 61"/>
          <p:cNvSpPr/>
          <p:nvPr/>
        </p:nvSpPr>
        <p:spPr>
          <a:xfrm>
            <a:off x="4297680" y="3913632"/>
            <a:ext cx="3602736" cy="157276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4535424" y="4050792"/>
            <a:ext cx="3127248"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And the LLM?</a:t>
            </a:r>
          </a:p>
        </p:txBody>
      </p:sp>
      <p:sp>
        <p:nvSpPr>
          <p:cNvPr id="64" name="TextBox 63"/>
          <p:cNvSpPr txBox="1"/>
          <p:nvPr/>
        </p:nvSpPr>
        <p:spPr>
          <a:xfrm>
            <a:off x="4535424" y="4453128"/>
            <a:ext cx="3127248" cy="923543"/>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The chef's culinary knowledge — it proposes what to cook next</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It never touches the stove. Any LLM works.</a:t>
            </a:r>
          </a:p>
        </p:txBody>
      </p:sp>
      <p:sp>
        <p:nvSpPr>
          <p:cNvPr id="65" name="Rounded Rectangle 64"/>
          <p:cNvSpPr/>
          <p:nvPr/>
        </p:nvSpPr>
        <p:spPr>
          <a:xfrm>
            <a:off x="8037575" y="3913632"/>
            <a:ext cx="3602736" cy="157276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8275319" y="4050792"/>
            <a:ext cx="3127248"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Why the analogy matters</a:t>
            </a:r>
          </a:p>
        </p:txBody>
      </p:sp>
      <p:sp>
        <p:nvSpPr>
          <p:cNvPr id="67" name="TextBox 66"/>
          <p:cNvSpPr txBox="1"/>
          <p:nvPr/>
        </p:nvSpPr>
        <p:spPr>
          <a:xfrm>
            <a:off x="8275319" y="4453128"/>
            <a:ext cx="3127248" cy="923543"/>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Swap the ordering app — Claude Code, Copilot, Codex, Gemini</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Same kitchen, same recipes, same result</a:t>
            </a:r>
          </a:p>
        </p:txBody>
      </p:sp>
      <p:sp>
        <p:nvSpPr>
          <p:cNvPr id="68" name="Rounded Rectangle 67"/>
          <p:cNvSpPr/>
          <p:nvPr/>
        </p:nvSpPr>
        <p:spPr>
          <a:xfrm>
            <a:off x="548640" y="5568696"/>
            <a:ext cx="11091672" cy="603504"/>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p:cNvSpPr txBox="1"/>
          <p:nvPr/>
        </p:nvSpPr>
        <p:spPr>
          <a:xfrm>
            <a:off x="685800" y="5568696"/>
            <a:ext cx="10817352" cy="603504"/>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The rail does not cook and the app does not cook. MCP is plumbing; the agent is the one making decisions — and you taste every plate.</a:t>
            </a:r>
          </a:p>
        </p:txBody>
      </p:sp>
      <p:sp>
        <p:nvSpPr>
          <p:cNvPr id="70" name="TextBox 69"/>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Mapped to MathWorks' “Agentic AI 101”: the agent coordinates; the LLM proposes; tools act; you review.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11</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MCP — the connection between AI agents and MATLAB</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An open protocol. Think USB-C for AI tools: one connector, any agent, any trusted tool.</a:t>
            </a:r>
          </a:p>
        </p:txBody>
      </p:sp>
      <p:sp>
        <p:nvSpPr>
          <p:cNvPr id="8" name="Rounded Rectangle 7"/>
          <p:cNvSpPr/>
          <p:nvPr/>
        </p:nvSpPr>
        <p:spPr>
          <a:xfrm>
            <a:off x="2331720" y="1243584"/>
            <a:ext cx="7543800" cy="3246120"/>
          </a:xfrm>
          <a:prstGeom prst="roundRect">
            <a:avLst>
              <a:gd name="adj" fmla="val 4500"/>
            </a:avLst>
          </a:prstGeom>
          <a:solidFill>
            <a:srgbClr val="FFFFFF"/>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mw_mcp.png"/>
          <p:cNvPicPr>
            <a:picLocks noChangeAspect="1"/>
          </p:cNvPicPr>
          <p:nvPr/>
        </p:nvPicPr>
        <p:blipFill>
          <a:blip r:embed="rId4"/>
          <a:stretch>
            <a:fillRect/>
          </a:stretch>
        </p:blipFill>
        <p:spPr>
          <a:xfrm>
            <a:off x="3109239" y="1243584"/>
            <a:ext cx="5988760" cy="3246119"/>
          </a:xfrm>
          <a:prstGeom prst="rect">
            <a:avLst/>
          </a:prstGeom>
        </p:spPr>
      </p:pic>
      <p:sp>
        <p:nvSpPr>
          <p:cNvPr id="10" name="TextBox 9"/>
          <p:cNvSpPr txBox="1"/>
          <p:nvPr/>
        </p:nvSpPr>
        <p:spPr>
          <a:xfrm>
            <a:off x="548640" y="4535424"/>
            <a:ext cx="11091672" cy="201168"/>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Diagram: MathWorks · Techsource regional webinar deck</a:t>
            </a:r>
          </a:p>
        </p:txBody>
      </p:sp>
      <p:sp>
        <p:nvSpPr>
          <p:cNvPr id="11" name="Rounded Rectangle 10"/>
          <p:cNvSpPr/>
          <p:nvPr/>
        </p:nvSpPr>
        <p:spPr>
          <a:xfrm>
            <a:off x="548640" y="4791456"/>
            <a:ext cx="5394960" cy="84124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786384" y="4901184"/>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Donut 12"/>
          <p:cNvSpPr/>
          <p:nvPr/>
        </p:nvSpPr>
        <p:spPr>
          <a:xfrm>
            <a:off x="852403" y="5015849"/>
            <a:ext cx="125089" cy="125089"/>
          </a:xfrm>
          <a:prstGeom prst="donut">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Donut 13"/>
          <p:cNvSpPr/>
          <p:nvPr/>
        </p:nvSpPr>
        <p:spPr>
          <a:xfrm>
            <a:off x="942746" y="5015849"/>
            <a:ext cx="125089" cy="125089"/>
          </a:xfrm>
          <a:prstGeom prst="donut">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280160" y="4928616"/>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The chat window and the compute are now separate</a:t>
            </a:r>
          </a:p>
        </p:txBody>
      </p:sp>
      <p:sp>
        <p:nvSpPr>
          <p:cNvPr id="16" name="TextBox 15"/>
          <p:cNvSpPr txBox="1"/>
          <p:nvPr/>
        </p:nvSpPr>
        <p:spPr>
          <a:xfrm>
            <a:off x="786384" y="5330952"/>
            <a:ext cx="4919472" cy="192023"/>
          </a:xfrm>
          <a:prstGeom prst="rect">
            <a:avLst/>
          </a:prstGeom>
          <a:noFill/>
        </p:spPr>
        <p:txBody>
          <a:bodyPr wrap="square" lIns="0" tIns="0" rIns="0" bIns="0" anchor="t">
            <a:spAutoFit/>
          </a:bodyPr>
          <a:lstStyle/>
          <a:p>
            <a:pPr marL="0" indent="0" algn="l">
              <a:lnSpc>
                <a:spcPct val="100000"/>
              </a:lnSpc>
              <a:spcAft>
                <a:spcPts val="600"/>
              </a:spcAft>
              <a:buNone/>
            </a:pPr>
            <a:r>
              <a:rPr sz="1200" b="0" i="0">
                <a:solidFill>
                  <a:srgbClr val="262626"/>
                </a:solidFill>
                <a:latin typeface="Product Sans"/>
                <a:ea typeface="Product Sans"/>
                <a:cs typeface="Product Sans"/>
              </a:rPr>
              <a:t>Change your agent without changing your tools — or the reverse</a:t>
            </a:r>
          </a:p>
        </p:txBody>
      </p:sp>
      <p:sp>
        <p:nvSpPr>
          <p:cNvPr id="17" name="Rounded Rectangle 16"/>
          <p:cNvSpPr/>
          <p:nvPr/>
        </p:nvSpPr>
        <p:spPr>
          <a:xfrm>
            <a:off x="6245352" y="4791456"/>
            <a:ext cx="5394960" cy="84124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483096" y="4901184"/>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615135" y="4984577"/>
            <a:ext cx="83393" cy="8339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 Same Side Corner Rectangle 19"/>
          <p:cNvSpPr/>
          <p:nvPr/>
        </p:nvSpPr>
        <p:spPr>
          <a:xfrm>
            <a:off x="6576913" y="5081869"/>
            <a:ext cx="159837" cy="86868"/>
          </a:xfrm>
          <a:prstGeom prst="round2Same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976872" y="4928616"/>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And you stay above the loop</a:t>
            </a:r>
          </a:p>
        </p:txBody>
      </p:sp>
      <p:sp>
        <p:nvSpPr>
          <p:cNvPr id="22" name="TextBox 21"/>
          <p:cNvSpPr txBox="1"/>
          <p:nvPr/>
        </p:nvSpPr>
        <p:spPr>
          <a:xfrm>
            <a:off x="6483096" y="5330952"/>
            <a:ext cx="4919472" cy="192023"/>
          </a:xfrm>
          <a:prstGeom prst="rect">
            <a:avLst/>
          </a:prstGeom>
          <a:noFill/>
        </p:spPr>
        <p:txBody>
          <a:bodyPr wrap="square" lIns="0" tIns="0" rIns="0" bIns="0" anchor="t">
            <a:spAutoFit/>
          </a:bodyPr>
          <a:lstStyle/>
          <a:p>
            <a:pPr marL="0" indent="0" algn="l">
              <a:lnSpc>
                <a:spcPct val="100000"/>
              </a:lnSpc>
              <a:spcAft>
                <a:spcPts val="600"/>
              </a:spcAft>
              <a:buNone/>
            </a:pPr>
            <a:r>
              <a:rPr sz="1200" b="0" i="0">
                <a:solidFill>
                  <a:srgbClr val="262626"/>
                </a:solidFill>
                <a:latin typeface="Product Sans"/>
                <a:ea typeface="Product Sans"/>
                <a:cs typeface="Product Sans"/>
              </a:rPr>
              <a:t>The human sits at the top of the diagram for a reason</a:t>
            </a:r>
          </a:p>
        </p:txBody>
      </p:sp>
      <p:sp>
        <p:nvSpPr>
          <p:cNvPr id="23" name="Rounded Rectangle 22"/>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One standard connector. The tools on the right are the ones you already validate your work with.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12</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It works with the agent you already use</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One MCP server, one configuration pass — the toolkit is agent-agnostic and LLM-agnostic</a:t>
            </a:r>
          </a:p>
        </p:txBody>
      </p:sp>
      <p:sp>
        <p:nvSpPr>
          <p:cNvPr id="8" name="TextBox 7"/>
          <p:cNvSpPr txBox="1"/>
          <p:nvPr/>
        </p:nvSpPr>
        <p:spPr>
          <a:xfrm>
            <a:off x="548640" y="1207008"/>
            <a:ext cx="11091672" cy="219456"/>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SHIPS WITH A READY-MADE TEMPLATE</a:t>
            </a:r>
          </a:p>
        </p:txBody>
      </p:sp>
      <p:sp>
        <p:nvSpPr>
          <p:cNvPr id="9" name="Rounded Rectangle 8"/>
          <p:cNvSpPr/>
          <p:nvPr/>
        </p:nvSpPr>
        <p:spPr>
          <a:xfrm>
            <a:off x="548640" y="1463040"/>
            <a:ext cx="2086660" cy="1865376"/>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claude.png"/>
          <p:cNvPicPr>
            <a:picLocks noChangeAspect="1"/>
          </p:cNvPicPr>
          <p:nvPr/>
        </p:nvPicPr>
        <p:blipFill>
          <a:blip r:embed="rId5"/>
          <a:stretch>
            <a:fillRect/>
          </a:stretch>
        </p:blipFill>
        <p:spPr>
          <a:xfrm>
            <a:off x="960120" y="1875437"/>
            <a:ext cx="1263700" cy="272485"/>
          </a:xfrm>
          <a:prstGeom prst="rect">
            <a:avLst/>
          </a:prstGeom>
        </p:spPr>
      </p:pic>
      <p:sp>
        <p:nvSpPr>
          <p:cNvPr id="11" name="TextBox 10"/>
          <p:cNvSpPr txBox="1"/>
          <p:nvPr/>
        </p:nvSpPr>
        <p:spPr>
          <a:xfrm>
            <a:off x="658368" y="2395728"/>
            <a:ext cx="1867204" cy="292608"/>
          </a:xfrm>
          <a:prstGeom prst="rect">
            <a:avLst/>
          </a:prstGeom>
          <a:noFill/>
        </p:spPr>
        <p:txBody>
          <a:bodyPr wrap="square" lIns="0" tIns="0" rIns="0" bIns="0" anchor="ctr">
            <a:spAutoFit/>
          </a:bodyPr>
          <a:lstStyle/>
          <a:p>
            <a:pPr marL="0" indent="0" algn="ctr">
              <a:lnSpc>
                <a:spcPct val="100000"/>
              </a:lnSpc>
              <a:spcAft>
                <a:spcPts val="400"/>
              </a:spcAft>
              <a:buNone/>
            </a:pPr>
            <a:r>
              <a:rPr sz="1450" b="0" i="0">
                <a:solidFill>
                  <a:srgbClr val="1F3864"/>
                </a:solidFill>
                <a:latin typeface="Product Sans"/>
                <a:ea typeface="Product Sans"/>
                <a:cs typeface="Product Sans"/>
              </a:rPr>
              <a:t>Claude Code</a:t>
            </a:r>
          </a:p>
        </p:txBody>
      </p:sp>
      <p:sp>
        <p:nvSpPr>
          <p:cNvPr id="12" name="TextBox 11"/>
          <p:cNvSpPr txBox="1"/>
          <p:nvPr/>
        </p:nvSpPr>
        <p:spPr>
          <a:xfrm>
            <a:off x="658368" y="2724912"/>
            <a:ext cx="1867204" cy="457200"/>
          </a:xfrm>
          <a:prstGeom prst="rect">
            <a:avLst/>
          </a:prstGeom>
          <a:noFill/>
        </p:spPr>
        <p:txBody>
          <a:bodyPr wrap="square" lIns="0" tIns="0" rIns="0" bIns="0" anchor="t">
            <a:spAutoFit/>
          </a:bodyPr>
          <a:lstStyle/>
          <a:p>
            <a:pPr marL="0" indent="0" algn="ctr">
              <a:lnSpc>
                <a:spcPct val="100000"/>
              </a:lnSpc>
              <a:spcAft>
                <a:spcPts val="400"/>
              </a:spcAft>
              <a:buNone/>
            </a:pPr>
            <a:r>
              <a:rPr sz="1200" b="0" i="0">
                <a:solidFill>
                  <a:srgbClr val="595959"/>
                </a:solidFill>
                <a:latin typeface="Product Sans"/>
                <a:ea typeface="Product Sans"/>
                <a:cs typeface="Product Sans"/>
              </a:rPr>
              <a:t>CLI · Desktop · IDE</a:t>
            </a:r>
          </a:p>
        </p:txBody>
      </p:sp>
      <p:sp>
        <p:nvSpPr>
          <p:cNvPr id="13" name="Rounded Rectangle 12"/>
          <p:cNvSpPr/>
          <p:nvPr/>
        </p:nvSpPr>
        <p:spPr>
          <a:xfrm>
            <a:off x="2799892" y="1463040"/>
            <a:ext cx="2086660" cy="1865376"/>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github.png"/>
          <p:cNvPicPr>
            <a:picLocks noChangeAspect="1"/>
          </p:cNvPicPr>
          <p:nvPr/>
        </p:nvPicPr>
        <p:blipFill>
          <a:blip r:embed="rId6"/>
          <a:stretch>
            <a:fillRect/>
          </a:stretch>
        </p:blipFill>
        <p:spPr>
          <a:xfrm>
            <a:off x="3175711" y="1728216"/>
            <a:ext cx="566928" cy="566928"/>
          </a:xfrm>
          <a:prstGeom prst="rect">
            <a:avLst/>
          </a:prstGeom>
        </p:spPr>
      </p:pic>
      <p:pic>
        <p:nvPicPr>
          <p:cNvPr id="15" name="Picture 14" descr="vscode.png"/>
          <p:cNvPicPr>
            <a:picLocks noChangeAspect="1"/>
          </p:cNvPicPr>
          <p:nvPr/>
        </p:nvPicPr>
        <p:blipFill>
          <a:blip r:embed="rId7"/>
          <a:stretch>
            <a:fillRect/>
          </a:stretch>
        </p:blipFill>
        <p:spPr>
          <a:xfrm>
            <a:off x="3943807" y="1728216"/>
            <a:ext cx="566928" cy="566928"/>
          </a:xfrm>
          <a:prstGeom prst="rect">
            <a:avLst/>
          </a:prstGeom>
        </p:spPr>
      </p:pic>
      <p:sp>
        <p:nvSpPr>
          <p:cNvPr id="16" name="TextBox 15"/>
          <p:cNvSpPr txBox="1"/>
          <p:nvPr/>
        </p:nvSpPr>
        <p:spPr>
          <a:xfrm>
            <a:off x="2909620" y="2395728"/>
            <a:ext cx="1867204" cy="292608"/>
          </a:xfrm>
          <a:prstGeom prst="rect">
            <a:avLst/>
          </a:prstGeom>
          <a:noFill/>
        </p:spPr>
        <p:txBody>
          <a:bodyPr wrap="square" lIns="0" tIns="0" rIns="0" bIns="0" anchor="ctr">
            <a:spAutoFit/>
          </a:bodyPr>
          <a:lstStyle/>
          <a:p>
            <a:pPr marL="0" indent="0" algn="ctr">
              <a:lnSpc>
                <a:spcPct val="100000"/>
              </a:lnSpc>
              <a:spcAft>
                <a:spcPts val="400"/>
              </a:spcAft>
              <a:buNone/>
            </a:pPr>
            <a:r>
              <a:rPr sz="1450" b="0" i="0">
                <a:solidFill>
                  <a:srgbClr val="1F3864"/>
                </a:solidFill>
                <a:latin typeface="Product Sans"/>
                <a:ea typeface="Product Sans"/>
                <a:cs typeface="Product Sans"/>
              </a:rPr>
              <a:t>GitHub Copilot</a:t>
            </a:r>
          </a:p>
        </p:txBody>
      </p:sp>
      <p:sp>
        <p:nvSpPr>
          <p:cNvPr id="17" name="TextBox 16"/>
          <p:cNvSpPr txBox="1"/>
          <p:nvPr/>
        </p:nvSpPr>
        <p:spPr>
          <a:xfrm>
            <a:off x="2909620" y="2724912"/>
            <a:ext cx="1867204" cy="457200"/>
          </a:xfrm>
          <a:prstGeom prst="rect">
            <a:avLst/>
          </a:prstGeom>
          <a:noFill/>
        </p:spPr>
        <p:txBody>
          <a:bodyPr wrap="square" lIns="0" tIns="0" rIns="0" bIns="0" anchor="t">
            <a:spAutoFit/>
          </a:bodyPr>
          <a:lstStyle/>
          <a:p>
            <a:pPr marL="0" indent="0" algn="ctr">
              <a:lnSpc>
                <a:spcPct val="100000"/>
              </a:lnSpc>
              <a:spcAft>
                <a:spcPts val="400"/>
              </a:spcAft>
              <a:buNone/>
            </a:pPr>
            <a:r>
              <a:rPr sz="1200" b="0" i="0">
                <a:solidFill>
                  <a:srgbClr val="595959"/>
                </a:solidFill>
                <a:latin typeface="Product Sans"/>
                <a:ea typeface="Product Sans"/>
                <a:cs typeface="Product Sans"/>
              </a:rPr>
              <a:t>VS Code, agent mode</a:t>
            </a:r>
          </a:p>
        </p:txBody>
      </p:sp>
      <p:sp>
        <p:nvSpPr>
          <p:cNvPr id="18" name="Rounded Rectangle 17"/>
          <p:cNvSpPr/>
          <p:nvPr/>
        </p:nvSpPr>
        <p:spPr>
          <a:xfrm>
            <a:off x="5051145" y="1463040"/>
            <a:ext cx="2086660" cy="1865376"/>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openai.png"/>
          <p:cNvPicPr>
            <a:picLocks noChangeAspect="1"/>
          </p:cNvPicPr>
          <p:nvPr/>
        </p:nvPicPr>
        <p:blipFill>
          <a:blip r:embed="rId8"/>
          <a:stretch>
            <a:fillRect/>
          </a:stretch>
        </p:blipFill>
        <p:spPr>
          <a:xfrm>
            <a:off x="5762525" y="1682496"/>
            <a:ext cx="663900" cy="658368"/>
          </a:xfrm>
          <a:prstGeom prst="rect">
            <a:avLst/>
          </a:prstGeom>
        </p:spPr>
      </p:pic>
      <p:sp>
        <p:nvSpPr>
          <p:cNvPr id="20" name="TextBox 19"/>
          <p:cNvSpPr txBox="1"/>
          <p:nvPr/>
        </p:nvSpPr>
        <p:spPr>
          <a:xfrm>
            <a:off x="5160873" y="2395728"/>
            <a:ext cx="1867204" cy="292608"/>
          </a:xfrm>
          <a:prstGeom prst="rect">
            <a:avLst/>
          </a:prstGeom>
          <a:noFill/>
        </p:spPr>
        <p:txBody>
          <a:bodyPr wrap="square" lIns="0" tIns="0" rIns="0" bIns="0" anchor="ctr">
            <a:spAutoFit/>
          </a:bodyPr>
          <a:lstStyle/>
          <a:p>
            <a:pPr marL="0" indent="0" algn="ctr">
              <a:lnSpc>
                <a:spcPct val="100000"/>
              </a:lnSpc>
              <a:spcAft>
                <a:spcPts val="400"/>
              </a:spcAft>
              <a:buNone/>
            </a:pPr>
            <a:r>
              <a:rPr sz="1450" b="0" i="0">
                <a:solidFill>
                  <a:srgbClr val="1F3864"/>
                </a:solidFill>
                <a:latin typeface="Product Sans"/>
                <a:ea typeface="Product Sans"/>
                <a:cs typeface="Product Sans"/>
              </a:rPr>
              <a:t>OpenAI Codex</a:t>
            </a:r>
          </a:p>
        </p:txBody>
      </p:sp>
      <p:sp>
        <p:nvSpPr>
          <p:cNvPr id="21" name="TextBox 20"/>
          <p:cNvSpPr txBox="1"/>
          <p:nvPr/>
        </p:nvSpPr>
        <p:spPr>
          <a:xfrm>
            <a:off x="5160873" y="2724912"/>
            <a:ext cx="1867204" cy="457200"/>
          </a:xfrm>
          <a:prstGeom prst="rect">
            <a:avLst/>
          </a:prstGeom>
          <a:noFill/>
        </p:spPr>
        <p:txBody>
          <a:bodyPr wrap="square" lIns="0" tIns="0" rIns="0" bIns="0" anchor="t">
            <a:spAutoFit/>
          </a:bodyPr>
          <a:lstStyle/>
          <a:p>
            <a:pPr marL="0" indent="0" algn="ctr">
              <a:lnSpc>
                <a:spcPct val="100000"/>
              </a:lnSpc>
              <a:spcAft>
                <a:spcPts val="400"/>
              </a:spcAft>
              <a:buNone/>
            </a:pPr>
            <a:r>
              <a:rPr sz="1200" b="0" i="0">
                <a:solidFill>
                  <a:srgbClr val="595959"/>
                </a:solidFill>
                <a:latin typeface="Product Sans"/>
                <a:ea typeface="Product Sans"/>
                <a:cs typeface="Product Sans"/>
              </a:rPr>
              <a:t>CLI · Desktop app</a:t>
            </a:r>
          </a:p>
        </p:txBody>
      </p:sp>
      <p:sp>
        <p:nvSpPr>
          <p:cNvPr id="22" name="Rounded Rectangle 21"/>
          <p:cNvSpPr/>
          <p:nvPr/>
        </p:nvSpPr>
        <p:spPr>
          <a:xfrm>
            <a:off x="7302398" y="1463040"/>
            <a:ext cx="2086660" cy="1865376"/>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gemini.png"/>
          <p:cNvPicPr>
            <a:picLocks noChangeAspect="1"/>
          </p:cNvPicPr>
          <p:nvPr/>
        </p:nvPicPr>
        <p:blipFill>
          <a:blip r:embed="rId9"/>
          <a:stretch>
            <a:fillRect/>
          </a:stretch>
        </p:blipFill>
        <p:spPr>
          <a:xfrm>
            <a:off x="7713878" y="1778026"/>
            <a:ext cx="1263700" cy="467306"/>
          </a:xfrm>
          <a:prstGeom prst="rect">
            <a:avLst/>
          </a:prstGeom>
        </p:spPr>
      </p:pic>
      <p:sp>
        <p:nvSpPr>
          <p:cNvPr id="24" name="TextBox 23"/>
          <p:cNvSpPr txBox="1"/>
          <p:nvPr/>
        </p:nvSpPr>
        <p:spPr>
          <a:xfrm>
            <a:off x="7412126" y="2395728"/>
            <a:ext cx="1867204" cy="292608"/>
          </a:xfrm>
          <a:prstGeom prst="rect">
            <a:avLst/>
          </a:prstGeom>
          <a:noFill/>
        </p:spPr>
        <p:txBody>
          <a:bodyPr wrap="square" lIns="0" tIns="0" rIns="0" bIns="0" anchor="ctr">
            <a:spAutoFit/>
          </a:bodyPr>
          <a:lstStyle/>
          <a:p>
            <a:pPr marL="0" indent="0" algn="ctr">
              <a:lnSpc>
                <a:spcPct val="100000"/>
              </a:lnSpc>
              <a:spcAft>
                <a:spcPts val="400"/>
              </a:spcAft>
              <a:buNone/>
            </a:pPr>
            <a:r>
              <a:rPr sz="1450" b="0" i="0">
                <a:solidFill>
                  <a:srgbClr val="1F3864"/>
                </a:solidFill>
                <a:latin typeface="Product Sans"/>
                <a:ea typeface="Product Sans"/>
                <a:cs typeface="Product Sans"/>
              </a:rPr>
              <a:t>Gemini CLI</a:t>
            </a:r>
          </a:p>
        </p:txBody>
      </p:sp>
      <p:sp>
        <p:nvSpPr>
          <p:cNvPr id="25" name="TextBox 24"/>
          <p:cNvSpPr txBox="1"/>
          <p:nvPr/>
        </p:nvSpPr>
        <p:spPr>
          <a:xfrm>
            <a:off x="7412126" y="2724912"/>
            <a:ext cx="1867204" cy="457200"/>
          </a:xfrm>
          <a:prstGeom prst="rect">
            <a:avLst/>
          </a:prstGeom>
          <a:noFill/>
        </p:spPr>
        <p:txBody>
          <a:bodyPr wrap="square" lIns="0" tIns="0" rIns="0" bIns="0" anchor="t">
            <a:spAutoFit/>
          </a:bodyPr>
          <a:lstStyle/>
          <a:p>
            <a:pPr marL="0" indent="0" algn="ctr">
              <a:lnSpc>
                <a:spcPct val="100000"/>
              </a:lnSpc>
              <a:spcAft>
                <a:spcPts val="400"/>
              </a:spcAft>
              <a:buNone/>
            </a:pPr>
            <a:r>
              <a:rPr sz="1200" b="0" i="0">
                <a:solidFill>
                  <a:srgbClr val="595959"/>
                </a:solidFill>
                <a:latin typeface="Product Sans"/>
                <a:ea typeface="Product Sans"/>
                <a:cs typeface="Product Sans"/>
              </a:rPr>
              <a:t>as an extension</a:t>
            </a:r>
          </a:p>
        </p:txBody>
      </p:sp>
      <p:sp>
        <p:nvSpPr>
          <p:cNvPr id="26" name="Rounded Rectangle 25"/>
          <p:cNvSpPr/>
          <p:nvPr/>
        </p:nvSpPr>
        <p:spPr>
          <a:xfrm>
            <a:off x="9553651" y="1463040"/>
            <a:ext cx="2086660" cy="1865376"/>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553651" y="1773936"/>
            <a:ext cx="2086660" cy="475488"/>
          </a:xfrm>
          <a:prstGeom prst="rect">
            <a:avLst/>
          </a:prstGeom>
          <a:noFill/>
        </p:spPr>
        <p:txBody>
          <a:bodyPr wrap="square" lIns="0" tIns="0" rIns="0" bIns="0" anchor="ctr">
            <a:spAutoFit/>
          </a:bodyPr>
          <a:lstStyle/>
          <a:p>
            <a:pPr marL="0" indent="0" algn="ctr">
              <a:lnSpc>
                <a:spcPct val="100000"/>
              </a:lnSpc>
              <a:spcAft>
                <a:spcPts val="400"/>
              </a:spcAft>
              <a:buNone/>
            </a:pPr>
            <a:r>
              <a:rPr sz="2400" b="0" i="0">
                <a:solidFill>
                  <a:srgbClr val="1F3864"/>
                </a:solidFill>
                <a:latin typeface="Product Sans"/>
                <a:ea typeface="Product Sans"/>
                <a:cs typeface="Product Sans"/>
              </a:rPr>
              <a:t>AMP</a:t>
            </a:r>
          </a:p>
        </p:txBody>
      </p:sp>
      <p:sp>
        <p:nvSpPr>
          <p:cNvPr id="28" name="TextBox 27"/>
          <p:cNvSpPr txBox="1"/>
          <p:nvPr/>
        </p:nvSpPr>
        <p:spPr>
          <a:xfrm>
            <a:off x="9663379" y="2395728"/>
            <a:ext cx="1867204" cy="292608"/>
          </a:xfrm>
          <a:prstGeom prst="rect">
            <a:avLst/>
          </a:prstGeom>
          <a:noFill/>
        </p:spPr>
        <p:txBody>
          <a:bodyPr wrap="square" lIns="0" tIns="0" rIns="0" bIns="0" anchor="ctr">
            <a:spAutoFit/>
          </a:bodyPr>
          <a:lstStyle/>
          <a:p>
            <a:pPr marL="0" indent="0" algn="ctr">
              <a:lnSpc>
                <a:spcPct val="100000"/>
              </a:lnSpc>
              <a:spcAft>
                <a:spcPts val="400"/>
              </a:spcAft>
              <a:buNone/>
            </a:pPr>
            <a:r>
              <a:rPr sz="1450" b="0" i="0">
                <a:solidFill>
                  <a:srgbClr val="1F3864"/>
                </a:solidFill>
                <a:latin typeface="Product Sans"/>
                <a:ea typeface="Product Sans"/>
                <a:cs typeface="Product Sans"/>
              </a:rPr>
              <a:t>Amp</a:t>
            </a:r>
          </a:p>
        </p:txBody>
      </p:sp>
      <p:sp>
        <p:nvSpPr>
          <p:cNvPr id="29" name="TextBox 28"/>
          <p:cNvSpPr txBox="1"/>
          <p:nvPr/>
        </p:nvSpPr>
        <p:spPr>
          <a:xfrm>
            <a:off x="9663379" y="2724912"/>
            <a:ext cx="1867204" cy="457200"/>
          </a:xfrm>
          <a:prstGeom prst="rect">
            <a:avLst/>
          </a:prstGeom>
          <a:noFill/>
        </p:spPr>
        <p:txBody>
          <a:bodyPr wrap="square" lIns="0" tIns="0" rIns="0" bIns="0" anchor="t">
            <a:spAutoFit/>
          </a:bodyPr>
          <a:lstStyle/>
          <a:p>
            <a:pPr marL="0" indent="0" algn="ctr">
              <a:lnSpc>
                <a:spcPct val="100000"/>
              </a:lnSpc>
              <a:spcAft>
                <a:spcPts val="400"/>
              </a:spcAft>
              <a:buNone/>
            </a:pPr>
            <a:r>
              <a:rPr sz="1200" b="0" i="0">
                <a:solidFill>
                  <a:srgbClr val="595959"/>
                </a:solidFill>
                <a:latin typeface="Product Sans"/>
                <a:ea typeface="Product Sans"/>
                <a:cs typeface="Product Sans"/>
              </a:rPr>
              <a:t>Sourcegraph</a:t>
            </a:r>
          </a:p>
        </p:txBody>
      </p:sp>
      <p:sp>
        <p:nvSpPr>
          <p:cNvPr id="30" name="TextBox 29"/>
          <p:cNvSpPr txBox="1"/>
          <p:nvPr/>
        </p:nvSpPr>
        <p:spPr>
          <a:xfrm>
            <a:off x="548640" y="3456432"/>
            <a:ext cx="11091672" cy="219456"/>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AND ANYTHING ELSE THAT SPEAKS MCP — TESTED ON THIS MACHINE, NOT AN OFFICIAL LIST</a:t>
            </a:r>
          </a:p>
        </p:txBody>
      </p:sp>
      <p:sp>
        <p:nvSpPr>
          <p:cNvPr id="31" name="Rounded Rectangle 30"/>
          <p:cNvSpPr/>
          <p:nvPr/>
        </p:nvSpPr>
        <p:spPr>
          <a:xfrm>
            <a:off x="548640" y="3694176"/>
            <a:ext cx="5394960" cy="16459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786384" y="3803904"/>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Donut 32"/>
          <p:cNvSpPr/>
          <p:nvPr/>
        </p:nvSpPr>
        <p:spPr>
          <a:xfrm>
            <a:off x="852403" y="3918569"/>
            <a:ext cx="125089" cy="125089"/>
          </a:xfrm>
          <a:prstGeom prst="donut">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Donut 33"/>
          <p:cNvSpPr/>
          <p:nvPr/>
        </p:nvSpPr>
        <p:spPr>
          <a:xfrm>
            <a:off x="942746" y="3918569"/>
            <a:ext cx="125089" cy="125089"/>
          </a:xfrm>
          <a:prstGeom prst="donut">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280160" y="3831336"/>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Not on the list? It still works</a:t>
            </a:r>
          </a:p>
        </p:txBody>
      </p:sp>
      <p:sp>
        <p:nvSpPr>
          <p:cNvPr id="36" name="TextBox 35"/>
          <p:cNvSpPr txBox="1"/>
          <p:nvPr/>
        </p:nvSpPr>
        <p:spPr>
          <a:xfrm>
            <a:off x="786384" y="4233672"/>
            <a:ext cx="4919472" cy="9966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The MATLAB MCP Server is a plain local binary. Any MCP-capable client can be pointed at it — there is nothing special about the five above.</a:t>
            </a:r>
          </a:p>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Tested here: Cursor · Mistral Vibe</a:t>
            </a:r>
          </a:p>
        </p:txBody>
      </p:sp>
      <p:sp>
        <p:nvSpPr>
          <p:cNvPr id="37" name="Rounded Rectangle 36"/>
          <p:cNvSpPr/>
          <p:nvPr/>
        </p:nvSpPr>
        <p:spPr>
          <a:xfrm>
            <a:off x="6245352" y="3694176"/>
            <a:ext cx="5394960" cy="16459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6483096" y="3803904"/>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Block Arc 38"/>
          <p:cNvSpPr/>
          <p:nvPr/>
        </p:nvSpPr>
        <p:spPr>
          <a:xfrm>
            <a:off x="6583862" y="3852550"/>
            <a:ext cx="145938" cy="145938"/>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ounded Rectangle 39"/>
          <p:cNvSpPr/>
          <p:nvPr/>
        </p:nvSpPr>
        <p:spPr>
          <a:xfrm>
            <a:off x="6566489" y="3956791"/>
            <a:ext cx="180685" cy="1389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976872" y="3831336"/>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And it runs on local models</a:t>
            </a:r>
          </a:p>
        </p:txBody>
      </p:sp>
      <p:sp>
        <p:nvSpPr>
          <p:cNvPr id="42" name="TextBox 41"/>
          <p:cNvSpPr txBox="1"/>
          <p:nvPr/>
        </p:nvSpPr>
        <p:spPr>
          <a:xfrm>
            <a:off x="6483096" y="4233672"/>
            <a:ext cx="4919472" cy="9966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The LLM is a separate choice from the agent. Put an open-weights model on your own hardware and nothing leaves the building.</a:t>
            </a:r>
          </a:p>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Tested here: Ollama · LM Studio</a:t>
            </a:r>
          </a:p>
        </p:txBody>
      </p:sp>
      <p:sp>
        <p:nvSpPr>
          <p:cNvPr id="43" name="TextBox 42"/>
          <p:cNvSpPr txBox="1"/>
          <p:nvPr/>
        </p:nvSpPr>
        <p:spPr>
          <a:xfrm>
            <a:off x="3291840" y="5449824"/>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Logos are trademarks of their respective owners, shown to indicate compatibility · sources on the credits slide</a:t>
            </a:r>
          </a:p>
        </p:txBody>
      </p:sp>
      <p:sp>
        <p:nvSpPr>
          <p:cNvPr id="44" name="Rounded Rectangle 43"/>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MCP is an open protocol. If your agent speaks it, the MATLAB tools are already available to 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19</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First — what is Simulink?</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For the half of the room who live in .m files: this is the other half of MATLAB</a:t>
            </a:r>
          </a:p>
        </p:txBody>
      </p:sp>
      <p:sp>
        <p:nvSpPr>
          <p:cNvPr id="8" name="Rounded Rectangle 7"/>
          <p:cNvSpPr/>
          <p:nvPr/>
        </p:nvSpPr>
        <p:spPr>
          <a:xfrm>
            <a:off x="548640" y="1298448"/>
            <a:ext cx="6675120" cy="1783080"/>
          </a:xfrm>
          <a:prstGeom prst="roundRect">
            <a:avLst>
              <a:gd name="adj" fmla="val 4500"/>
            </a:avLst>
          </a:prstGeom>
          <a:solidFill>
            <a:srgbClr val="FFFFFF"/>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demo1_model_tidy.png"/>
          <p:cNvPicPr>
            <a:picLocks noChangeAspect="1"/>
          </p:cNvPicPr>
          <p:nvPr/>
        </p:nvPicPr>
        <p:blipFill>
          <a:blip r:embed="rId5"/>
          <a:stretch>
            <a:fillRect/>
          </a:stretch>
        </p:blipFill>
        <p:spPr>
          <a:xfrm>
            <a:off x="548640" y="1572754"/>
            <a:ext cx="6675120" cy="1234467"/>
          </a:xfrm>
          <a:prstGeom prst="rect">
            <a:avLst/>
          </a:prstGeom>
        </p:spPr>
      </p:pic>
      <p:sp>
        <p:nvSpPr>
          <p:cNvPr id="10" name="TextBox 9"/>
          <p:cNvSpPr txBox="1"/>
          <p:nvPr/>
        </p:nvSpPr>
        <p:spPr>
          <a:xfrm>
            <a:off x="548640" y="3145536"/>
            <a:ext cx="6675120" cy="219456"/>
          </a:xfrm>
          <a:prstGeom prst="rect">
            <a:avLst/>
          </a:prstGeom>
          <a:noFill/>
        </p:spPr>
        <p:txBody>
          <a:bodyPr wrap="square" lIns="0" tIns="0" rIns="0" bIns="0" anchor="ctr">
            <a:spAutoFit/>
          </a:bodyPr>
          <a:lstStyle/>
          <a:p>
            <a:pPr marL="0" indent="0" algn="ctr">
              <a:lnSpc>
                <a:spcPct val="100000"/>
              </a:lnSpc>
              <a:spcAft>
                <a:spcPts val="400"/>
              </a:spcAft>
              <a:buNone/>
            </a:pPr>
            <a:r>
              <a:rPr sz="1100" b="0" i="1">
                <a:solidFill>
                  <a:srgbClr val="595959"/>
                </a:solidFill>
                <a:latin typeface="Product Sans"/>
                <a:ea typeface="Product Sans"/>
                <a:cs typeface="Product Sans"/>
              </a:rPr>
              <a:t>The model you are about to watch the agent build.</a:t>
            </a:r>
          </a:p>
        </p:txBody>
      </p:sp>
      <p:sp>
        <p:nvSpPr>
          <p:cNvPr id="11" name="Rounded Rectangle 10"/>
          <p:cNvSpPr/>
          <p:nvPr/>
        </p:nvSpPr>
        <p:spPr>
          <a:xfrm>
            <a:off x="7543800" y="1298448"/>
            <a:ext cx="4114800" cy="21031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7781544" y="1408175"/>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868411" y="1495043"/>
            <a:ext cx="173736" cy="173736"/>
          </a:xfrm>
          <a:prstGeom prst="ellipse">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7950067" y="1522841"/>
            <a:ext cx="10424" cy="62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955279" y="1576699"/>
            <a:ext cx="48646" cy="10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75320" y="1435607"/>
            <a:ext cx="3145536"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In one sentence</a:t>
            </a:r>
          </a:p>
        </p:txBody>
      </p:sp>
      <p:sp>
        <p:nvSpPr>
          <p:cNvPr id="17" name="TextBox 16"/>
          <p:cNvSpPr txBox="1"/>
          <p:nvPr/>
        </p:nvSpPr>
        <p:spPr>
          <a:xfrm>
            <a:off x="7781544" y="1837943"/>
            <a:ext cx="3639312" cy="1453895"/>
          </a:xfrm>
          <a:prstGeom prst="rect">
            <a:avLst/>
          </a:prstGeom>
          <a:noFill/>
        </p:spPr>
        <p:txBody>
          <a:bodyPr wrap="square" lIns="0" tIns="0" rIns="0" bIns="0" anchor="t">
            <a:spAutoFit/>
          </a:bodyPr>
          <a:lstStyle/>
          <a:p>
            <a:pPr marL="0" indent="0" algn="l">
              <a:lnSpc>
                <a:spcPct val="100000"/>
              </a:lnSpc>
              <a:spcAft>
                <a:spcPts val="600"/>
              </a:spcAft>
              <a:buNone/>
            </a:pPr>
            <a:r>
              <a:rPr sz="1300" b="0" i="0">
                <a:solidFill>
                  <a:srgbClr val="262626"/>
                </a:solidFill>
                <a:latin typeface="Product Sans"/>
                <a:ea typeface="Product Sans"/>
                <a:cs typeface="Product Sans"/>
              </a:rPr>
              <a:t>MATLAB computes on data you already have. Simulink simulates how a system behaves over time — before the hardware exists.</a:t>
            </a:r>
          </a:p>
        </p:txBody>
      </p:sp>
      <p:sp>
        <p:nvSpPr>
          <p:cNvPr id="18" name="Rounded Rectangle 17"/>
          <p:cNvSpPr/>
          <p:nvPr/>
        </p:nvSpPr>
        <p:spPr>
          <a:xfrm>
            <a:off x="548640" y="3520440"/>
            <a:ext cx="2724912" cy="16916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786384" y="363016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Diamond 19"/>
          <p:cNvSpPr/>
          <p:nvPr/>
        </p:nvSpPr>
        <p:spPr>
          <a:xfrm>
            <a:off x="873252" y="3717036"/>
            <a:ext cx="173736" cy="173736"/>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280160" y="3657600"/>
            <a:ext cx="1755647"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You draw it, not type it</a:t>
            </a:r>
          </a:p>
        </p:txBody>
      </p:sp>
      <p:sp>
        <p:nvSpPr>
          <p:cNvPr id="22" name="TextBox 21"/>
          <p:cNvSpPr txBox="1"/>
          <p:nvPr/>
        </p:nvSpPr>
        <p:spPr>
          <a:xfrm>
            <a:off x="786384" y="4059936"/>
            <a:ext cx="2249424" cy="1042415"/>
          </a:xfrm>
          <a:prstGeom prst="rect">
            <a:avLst/>
          </a:prstGeom>
          <a:noFill/>
        </p:spPr>
        <p:txBody>
          <a:bodyPr wrap="square" lIns="0" tIns="0" rIns="0" bIns="0" anchor="t">
            <a:spAutoFit/>
          </a:bodyPr>
          <a:lstStyle/>
          <a:p>
            <a:pPr marL="0" indent="0" algn="l">
              <a:lnSpc>
                <a:spcPct val="100000"/>
              </a:lnSpc>
              <a:spcAft>
                <a:spcPts val="600"/>
              </a:spcAft>
              <a:buNone/>
            </a:pPr>
            <a:r>
              <a:rPr sz="1200" b="0" i="0">
                <a:solidFill>
                  <a:srgbClr val="262626"/>
                </a:solidFill>
                <a:latin typeface="Product Sans"/>
                <a:ea typeface="Product Sans"/>
                <a:cs typeface="Product Sans"/>
              </a:rPr>
              <a:t>Blocks and signals instead of a differential-equation solver you wrote yourself.</a:t>
            </a:r>
          </a:p>
        </p:txBody>
      </p:sp>
      <p:sp>
        <p:nvSpPr>
          <p:cNvPr id="23" name="Rounded Rectangle 22"/>
          <p:cNvSpPr/>
          <p:nvPr/>
        </p:nvSpPr>
        <p:spPr>
          <a:xfrm>
            <a:off x="3392424" y="3520440"/>
            <a:ext cx="2724912" cy="16916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3630168" y="363016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3727460" y="3727460"/>
            <a:ext cx="152887" cy="1528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3689238" y="3744833"/>
            <a:ext cx="38221" cy="138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3880347" y="3744833"/>
            <a:ext cx="38221" cy="138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3689238" y="3796954"/>
            <a:ext cx="38221" cy="138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3880347" y="3796954"/>
            <a:ext cx="38221" cy="138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3689238" y="3849075"/>
            <a:ext cx="38221" cy="138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3880347" y="3849075"/>
            <a:ext cx="38221" cy="138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123944" y="3657600"/>
            <a:ext cx="1755647"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Several physics at once</a:t>
            </a:r>
          </a:p>
        </p:txBody>
      </p:sp>
      <p:sp>
        <p:nvSpPr>
          <p:cNvPr id="33" name="TextBox 32"/>
          <p:cNvSpPr txBox="1"/>
          <p:nvPr/>
        </p:nvSpPr>
        <p:spPr>
          <a:xfrm>
            <a:off x="3630168" y="4059936"/>
            <a:ext cx="2249424" cy="1042415"/>
          </a:xfrm>
          <a:prstGeom prst="rect">
            <a:avLst/>
          </a:prstGeom>
          <a:noFill/>
        </p:spPr>
        <p:txBody>
          <a:bodyPr wrap="square" lIns="0" tIns="0" rIns="0" bIns="0" anchor="t">
            <a:spAutoFit/>
          </a:bodyPr>
          <a:lstStyle/>
          <a:p>
            <a:pPr marL="0" indent="0" algn="l">
              <a:lnSpc>
                <a:spcPct val="100000"/>
              </a:lnSpc>
              <a:spcAft>
                <a:spcPts val="600"/>
              </a:spcAft>
              <a:buNone/>
            </a:pPr>
            <a:r>
              <a:rPr sz="1200" b="0" i="0">
                <a:solidFill>
                  <a:srgbClr val="262626"/>
                </a:solidFill>
                <a:latin typeface="Product Sans"/>
                <a:ea typeface="Product Sans"/>
                <a:cs typeface="Product Sans"/>
              </a:rPr>
              <a:t>Electrical, mechanical and thermal in one model — that is Simscape.</a:t>
            </a:r>
          </a:p>
        </p:txBody>
      </p:sp>
      <p:sp>
        <p:nvSpPr>
          <p:cNvPr id="34" name="Rounded Rectangle 33"/>
          <p:cNvSpPr/>
          <p:nvPr/>
        </p:nvSpPr>
        <p:spPr>
          <a:xfrm>
            <a:off x="6236208" y="3520440"/>
            <a:ext cx="2724912" cy="16916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6473952" y="363016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Block Arc 35"/>
          <p:cNvSpPr/>
          <p:nvPr/>
        </p:nvSpPr>
        <p:spPr>
          <a:xfrm>
            <a:off x="6546921" y="3703137"/>
            <a:ext cx="201533" cy="201533"/>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Isosceles Triangle 36"/>
          <p:cNvSpPr/>
          <p:nvPr/>
        </p:nvSpPr>
        <p:spPr>
          <a:xfrm>
            <a:off x="6678960" y="3689238"/>
            <a:ext cx="72969" cy="6254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967728" y="3657600"/>
            <a:ext cx="1755647"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Change it and re-run</a:t>
            </a:r>
          </a:p>
        </p:txBody>
      </p:sp>
      <p:sp>
        <p:nvSpPr>
          <p:cNvPr id="39" name="TextBox 38"/>
          <p:cNvSpPr txBox="1"/>
          <p:nvPr/>
        </p:nvSpPr>
        <p:spPr>
          <a:xfrm>
            <a:off x="6473952" y="4059936"/>
            <a:ext cx="2249424" cy="1042415"/>
          </a:xfrm>
          <a:prstGeom prst="rect">
            <a:avLst/>
          </a:prstGeom>
          <a:noFill/>
        </p:spPr>
        <p:txBody>
          <a:bodyPr wrap="square" lIns="0" tIns="0" rIns="0" bIns="0" anchor="t">
            <a:spAutoFit/>
          </a:bodyPr>
          <a:lstStyle/>
          <a:p>
            <a:pPr marL="0" indent="0" algn="l">
              <a:lnSpc>
                <a:spcPct val="100000"/>
              </a:lnSpc>
              <a:spcAft>
                <a:spcPts val="600"/>
              </a:spcAft>
              <a:buNone/>
            </a:pPr>
            <a:r>
              <a:rPr sz="1200" b="0" i="0">
                <a:solidFill>
                  <a:srgbClr val="262626"/>
                </a:solidFill>
                <a:latin typeface="Product Sans"/>
                <a:ea typeface="Product Sans"/>
                <a:cs typeface="Product Sans"/>
              </a:rPr>
              <a:t>A design sweep is a loop, not a rebuild. No rig, no lab booking.</a:t>
            </a:r>
          </a:p>
        </p:txBody>
      </p:sp>
      <p:sp>
        <p:nvSpPr>
          <p:cNvPr id="40" name="Rounded Rectangle 39"/>
          <p:cNvSpPr/>
          <p:nvPr/>
        </p:nvSpPr>
        <p:spPr>
          <a:xfrm>
            <a:off x="9079992" y="3520440"/>
            <a:ext cx="2724912" cy="16916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9317736" y="363016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Document 41"/>
          <p:cNvSpPr/>
          <p:nvPr/>
        </p:nvSpPr>
        <p:spPr>
          <a:xfrm>
            <a:off x="9417634" y="3717036"/>
            <a:ext cx="147675" cy="173736"/>
          </a:xfrm>
          <a:prstGeom prst="flowChartDocumen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9811512" y="3657600"/>
            <a:ext cx="1755647"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The model is the spec</a:t>
            </a:r>
          </a:p>
        </p:txBody>
      </p:sp>
      <p:sp>
        <p:nvSpPr>
          <p:cNvPr id="44" name="TextBox 43"/>
          <p:cNvSpPr txBox="1"/>
          <p:nvPr/>
        </p:nvSpPr>
        <p:spPr>
          <a:xfrm>
            <a:off x="9317736" y="4059936"/>
            <a:ext cx="2249424" cy="1042415"/>
          </a:xfrm>
          <a:prstGeom prst="rect">
            <a:avLst/>
          </a:prstGeom>
          <a:noFill/>
        </p:spPr>
        <p:txBody>
          <a:bodyPr wrap="square" lIns="0" tIns="0" rIns="0" bIns="0" anchor="t">
            <a:spAutoFit/>
          </a:bodyPr>
          <a:lstStyle/>
          <a:p>
            <a:pPr marL="0" indent="0" algn="l">
              <a:lnSpc>
                <a:spcPct val="100000"/>
              </a:lnSpc>
              <a:spcAft>
                <a:spcPts val="600"/>
              </a:spcAft>
              <a:buNone/>
            </a:pPr>
            <a:r>
              <a:rPr sz="1200" b="0" i="0">
                <a:solidFill>
                  <a:srgbClr val="262626"/>
                </a:solidFill>
                <a:latin typeface="Product Sans"/>
                <a:ea typeface="Product Sans"/>
                <a:cs typeface="Product Sans"/>
              </a:rPr>
              <a:t>Requirements, tests and embedded C all come off the same diagram.</a:t>
            </a:r>
          </a:p>
        </p:txBody>
      </p:sp>
      <p:sp>
        <p:nvSpPr>
          <p:cNvPr id="45" name="Rounded Rectangle 44"/>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MATLAB is where you compute. Simulink is where you model behaviour over time.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26</a:t>
            </a:r>
          </a:p>
        </p:txBody>
      </p:sp>
      <p:sp>
        <p:nvSpPr>
          <p:cNvPr id="6" name="TextBox 5"/>
          <p:cNvSpPr txBox="1"/>
          <p:nvPr/>
        </p:nvSpPr>
        <p:spPr>
          <a:xfrm>
            <a:off x="1097280" y="1600200"/>
            <a:ext cx="9994392" cy="329184"/>
          </a:xfrm>
          <a:prstGeom prst="rect">
            <a:avLst/>
          </a:prstGeom>
          <a:noFill/>
        </p:spPr>
        <p:txBody>
          <a:bodyPr wrap="square" lIns="0" tIns="0" rIns="0" bIns="0" anchor="ctr">
            <a:spAutoFit/>
          </a:bodyPr>
          <a:lstStyle/>
          <a:p>
            <a:pPr marL="0" indent="0" algn="ctr">
              <a:lnSpc>
                <a:spcPct val="100000"/>
              </a:lnSpc>
              <a:spcAft>
                <a:spcPts val="400"/>
              </a:spcAft>
              <a:buNone/>
            </a:pPr>
            <a:r>
              <a:rPr sz="1350" b="0" i="0">
                <a:solidFill>
                  <a:srgbClr val="4472C4"/>
                </a:solidFill>
                <a:latin typeface="Product Sans"/>
                <a:ea typeface="Product Sans"/>
                <a:cs typeface="Product Sans"/>
              </a:rPr>
              <a:t>PART 4  ·  45 MINUTES  ·  LIVE DEMO</a:t>
            </a:r>
          </a:p>
        </p:txBody>
      </p:sp>
      <p:pic>
        <p:nvPicPr>
          <p:cNvPr id="7" name="Picture 6" descr="image3.png"/>
          <p:cNvPicPr>
            <a:picLocks noChangeAspect="1"/>
          </p:cNvPicPr>
          <p:nvPr/>
        </p:nvPicPr>
        <p:blipFill>
          <a:blip r:embed="rId5"/>
          <a:stretch>
            <a:fillRect/>
          </a:stretch>
        </p:blipFill>
        <p:spPr>
          <a:xfrm>
            <a:off x="0" y="2103120"/>
            <a:ext cx="12191969" cy="1920240"/>
          </a:xfrm>
          <a:prstGeom prst="rect">
            <a:avLst/>
          </a:prstGeom>
        </p:spPr>
      </p:pic>
      <p:sp>
        <p:nvSpPr>
          <p:cNvPr id="8" name="TextBox 7"/>
          <p:cNvSpPr txBox="1"/>
          <p:nvPr/>
        </p:nvSpPr>
        <p:spPr>
          <a:xfrm>
            <a:off x="731520" y="2809324"/>
            <a:ext cx="10725912" cy="507831"/>
          </a:xfrm>
          <a:prstGeom prst="rect">
            <a:avLst/>
          </a:prstGeom>
          <a:noFill/>
        </p:spPr>
        <p:txBody>
          <a:bodyPr wrap="square" lIns="0" tIns="0" rIns="0" bIns="0" anchor="ctr">
            <a:spAutoFit/>
          </a:bodyPr>
          <a:lstStyle/>
          <a:p>
            <a:pPr marL="0" indent="0" algn="ctr">
              <a:lnSpc>
                <a:spcPct val="100000"/>
              </a:lnSpc>
              <a:spcAft>
                <a:spcPts val="400"/>
              </a:spcAft>
              <a:buNone/>
            </a:pPr>
            <a:r>
              <a:rPr sz="3300" b="0" i="0" dirty="0">
                <a:solidFill>
                  <a:srgbClr val="FFFFFF"/>
                </a:solidFill>
                <a:latin typeface="Product Sans"/>
                <a:ea typeface="Product Sans"/>
                <a:cs typeface="Product Sans"/>
              </a:rPr>
              <a:t>The main demo, end to end</a:t>
            </a:r>
          </a:p>
        </p:txBody>
      </p:sp>
      <p:sp>
        <p:nvSpPr>
          <p:cNvPr id="9" name="TextBox 8"/>
          <p:cNvSpPr txBox="1"/>
          <p:nvPr/>
        </p:nvSpPr>
        <p:spPr>
          <a:xfrm>
            <a:off x="1463040" y="4251960"/>
            <a:ext cx="9262872" cy="411480"/>
          </a:xfrm>
          <a:prstGeom prst="rect">
            <a:avLst/>
          </a:prstGeom>
          <a:noFill/>
        </p:spPr>
        <p:txBody>
          <a:bodyPr wrap="square" lIns="0" tIns="0" rIns="0" bIns="0" anchor="ctr">
            <a:spAutoFit/>
          </a:bodyPr>
          <a:lstStyle/>
          <a:p>
            <a:pPr marL="0" indent="0" algn="ctr">
              <a:lnSpc>
                <a:spcPct val="100000"/>
              </a:lnSpc>
              <a:spcAft>
                <a:spcPts val="400"/>
              </a:spcAft>
              <a:buNone/>
            </a:pPr>
            <a:r>
              <a:rPr sz="1500" b="0" i="1">
                <a:solidFill>
                  <a:srgbClr val="595959"/>
                </a:solidFill>
                <a:latin typeface="Product Sans"/>
                <a:ea typeface="Product Sans"/>
                <a:cs typeface="Product Sans"/>
              </a:rPr>
              <a:t>Small prompts · plan first · pause at every checkpoint · demand evidence</a:t>
            </a:r>
          </a:p>
        </p:txBody>
      </p:sp>
      <p:sp>
        <p:nvSpPr>
          <p:cNvPr id="10" name="Rounded Rectangle 9"/>
          <p:cNvSpPr/>
          <p:nvPr/>
        </p:nvSpPr>
        <p:spPr>
          <a:xfrm>
            <a:off x="2121408" y="4892040"/>
            <a:ext cx="2468880" cy="38404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121408" y="4892040"/>
            <a:ext cx="2468880" cy="384048"/>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1F3864"/>
                </a:solidFill>
                <a:latin typeface="Product Sans"/>
                <a:ea typeface="Product Sans"/>
                <a:cs typeface="Product Sans"/>
              </a:rPr>
              <a:t>Built and timed on R2026a</a:t>
            </a:r>
          </a:p>
        </p:txBody>
      </p:sp>
      <p:sp>
        <p:nvSpPr>
          <p:cNvPr id="12" name="Rounded Rectangle 11"/>
          <p:cNvSpPr/>
          <p:nvPr/>
        </p:nvSpPr>
        <p:spPr>
          <a:xfrm>
            <a:off x="4864608" y="4892040"/>
            <a:ext cx="2468880" cy="38404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864608" y="4892040"/>
            <a:ext cx="2468880" cy="384048"/>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1F3864"/>
                </a:solidFill>
                <a:latin typeface="Product Sans"/>
                <a:ea typeface="Product Sans"/>
                <a:cs typeface="Product Sans"/>
              </a:rPr>
              <a:t>Agent connected</a:t>
            </a:r>
          </a:p>
        </p:txBody>
      </p:sp>
      <p:sp>
        <p:nvSpPr>
          <p:cNvPr id="14" name="Rounded Rectangle 13"/>
          <p:cNvSpPr/>
          <p:nvPr/>
        </p:nvSpPr>
        <p:spPr>
          <a:xfrm>
            <a:off x="7607808" y="4892040"/>
            <a:ext cx="2468880" cy="38404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07808" y="4892040"/>
            <a:ext cx="2468880" cy="384048"/>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1F3864"/>
                </a:solidFill>
                <a:latin typeface="Product Sans"/>
                <a:ea typeface="Product Sans"/>
                <a:cs typeface="Product Sans"/>
              </a:rPr>
              <a:t>Show /usage at every step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27</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The loop you are about to watch</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Troubleshoot → fix → verify, with the tool the agent calls at each step</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DEMO METHOD</a:t>
            </a:r>
          </a:p>
        </p:txBody>
      </p:sp>
      <p:pic>
        <p:nvPicPr>
          <p:cNvPr id="10" name="Picture 9" descr="mw_tfv.png"/>
          <p:cNvPicPr>
            <a:picLocks noChangeAspect="1"/>
          </p:cNvPicPr>
          <p:nvPr/>
        </p:nvPicPr>
        <p:blipFill>
          <a:blip r:embed="rId4"/>
          <a:stretch>
            <a:fillRect/>
          </a:stretch>
        </p:blipFill>
        <p:spPr>
          <a:xfrm>
            <a:off x="2324376" y="1280160"/>
            <a:ext cx="7540199" cy="3246120"/>
          </a:xfrm>
          <a:prstGeom prst="rect">
            <a:avLst/>
          </a:prstGeom>
        </p:spPr>
      </p:pic>
      <p:sp>
        <p:nvSpPr>
          <p:cNvPr id="11" name="TextBox 10"/>
          <p:cNvSpPr txBox="1"/>
          <p:nvPr/>
        </p:nvSpPr>
        <p:spPr>
          <a:xfrm>
            <a:off x="548640" y="4590288"/>
            <a:ext cx="11091672" cy="201168"/>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Diagram: MathWorks · “Agentic AI Workflows with MATLAB and Simulink”</a:t>
            </a:r>
          </a:p>
        </p:txBody>
      </p:sp>
      <p:sp>
        <p:nvSpPr>
          <p:cNvPr id="12" name="Rounded Rectangle 11"/>
          <p:cNvSpPr/>
          <p:nvPr/>
        </p:nvSpPr>
        <p:spPr>
          <a:xfrm>
            <a:off x="548640" y="4846320"/>
            <a:ext cx="5394960" cy="7863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86384" y="495604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Block Arc 13"/>
          <p:cNvSpPr/>
          <p:nvPr/>
        </p:nvSpPr>
        <p:spPr>
          <a:xfrm>
            <a:off x="859353" y="5029017"/>
            <a:ext cx="201533" cy="201533"/>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Isosceles Triangle 14"/>
          <p:cNvSpPr/>
          <p:nvPr/>
        </p:nvSpPr>
        <p:spPr>
          <a:xfrm>
            <a:off x="991392" y="5015118"/>
            <a:ext cx="72969" cy="6254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280160" y="4983480"/>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1F3864"/>
                </a:solidFill>
                <a:latin typeface="Product Sans"/>
                <a:ea typeface="Product Sans"/>
                <a:cs typeface="Product Sans"/>
              </a:rPr>
              <a:t>Main demo A is exactly this loop</a:t>
            </a:r>
          </a:p>
        </p:txBody>
      </p:sp>
      <p:sp>
        <p:nvSpPr>
          <p:cNvPr id="17" name="TextBox 16"/>
          <p:cNvSpPr txBox="1"/>
          <p:nvPr/>
        </p:nvSpPr>
        <p:spPr>
          <a:xfrm>
            <a:off x="786384" y="5385816"/>
            <a:ext cx="4919472" cy="137159"/>
          </a:xfrm>
          <a:prstGeom prst="rect">
            <a:avLst/>
          </a:prstGeom>
          <a:noFill/>
        </p:spPr>
        <p:txBody>
          <a:bodyPr wrap="square" lIns="0" tIns="0" rIns="0" bIns="0" anchor="t">
            <a:spAutoFit/>
          </a:bodyPr>
          <a:lstStyle/>
          <a:p>
            <a:pPr marL="0" indent="0" algn="l">
              <a:lnSpc>
                <a:spcPct val="100000"/>
              </a:lnSpc>
              <a:spcAft>
                <a:spcPts val="600"/>
              </a:spcAft>
              <a:buNone/>
            </a:pPr>
            <a:r>
              <a:rPr sz="1250" b="0" i="0">
                <a:solidFill>
                  <a:srgbClr val="262626"/>
                </a:solidFill>
                <a:latin typeface="Product Sans"/>
                <a:ea typeface="Product Sans"/>
                <a:cs typeface="Product Sans"/>
              </a:rPr>
              <a:t>A requirement, a failing test, a fix, and a re-run that proves it</a:t>
            </a:r>
          </a:p>
        </p:txBody>
      </p:sp>
      <p:sp>
        <p:nvSpPr>
          <p:cNvPr id="18" name="Rounded Rectangle 17"/>
          <p:cNvSpPr/>
          <p:nvPr/>
        </p:nvSpPr>
        <p:spPr>
          <a:xfrm>
            <a:off x="6245352" y="4846320"/>
            <a:ext cx="5394960" cy="7863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483096" y="495604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483096" y="4956048"/>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350" b="0" i="0">
                <a:solidFill>
                  <a:srgbClr val="FFFFFF"/>
                </a:solidFill>
                <a:latin typeface="Product Sans"/>
                <a:ea typeface="Product Sans"/>
                <a:cs typeface="Product Sans"/>
              </a:rPr>
              <a:t>✓</a:t>
            </a:r>
          </a:p>
        </p:txBody>
      </p:sp>
      <p:sp>
        <p:nvSpPr>
          <p:cNvPr id="21" name="TextBox 20"/>
          <p:cNvSpPr txBox="1"/>
          <p:nvPr/>
        </p:nvSpPr>
        <p:spPr>
          <a:xfrm>
            <a:off x="6976872" y="4983480"/>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1F3864"/>
                </a:solidFill>
                <a:latin typeface="Product Sans"/>
                <a:ea typeface="Product Sans"/>
                <a:cs typeface="Product Sans"/>
              </a:rPr>
              <a:t>Note the order</a:t>
            </a:r>
          </a:p>
        </p:txBody>
      </p:sp>
      <p:sp>
        <p:nvSpPr>
          <p:cNvPr id="22" name="TextBox 21"/>
          <p:cNvSpPr txBox="1"/>
          <p:nvPr/>
        </p:nvSpPr>
        <p:spPr>
          <a:xfrm>
            <a:off x="6483096" y="5385816"/>
            <a:ext cx="4919472" cy="137159"/>
          </a:xfrm>
          <a:prstGeom prst="rect">
            <a:avLst/>
          </a:prstGeom>
          <a:noFill/>
        </p:spPr>
        <p:txBody>
          <a:bodyPr wrap="square" lIns="0" tIns="0" rIns="0" bIns="0" anchor="t">
            <a:spAutoFit/>
          </a:bodyPr>
          <a:lstStyle/>
          <a:p>
            <a:pPr marL="0" indent="0" algn="l">
              <a:lnSpc>
                <a:spcPct val="100000"/>
              </a:lnSpc>
              <a:spcAft>
                <a:spcPts val="600"/>
              </a:spcAft>
              <a:buNone/>
            </a:pPr>
            <a:r>
              <a:rPr sz="1250" b="0" i="0">
                <a:solidFill>
                  <a:srgbClr val="262626"/>
                </a:solidFill>
                <a:latin typeface="Product Sans"/>
                <a:ea typeface="Product Sans"/>
                <a:cs typeface="Product Sans"/>
              </a:rPr>
              <a:t>The failing test comes before the fix — otherwise nothing is proven</a:t>
            </a:r>
          </a:p>
        </p:txBody>
      </p:sp>
      <p:sp>
        <p:nvSpPr>
          <p:cNvPr id="23" name="Rounded Rectangle 22"/>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The agent never decides whether the test is the right test. You do.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28</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How to drive the agent — and what to show the room</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The discipline that turns a demo into a method people can copy</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DEMO METHOD</a:t>
            </a:r>
          </a:p>
        </p:txBody>
      </p:sp>
      <p:sp>
        <p:nvSpPr>
          <p:cNvPr id="10" name="Rounded Rectangle 9"/>
          <p:cNvSpPr/>
          <p:nvPr/>
        </p:nvSpPr>
        <p:spPr>
          <a:xfrm>
            <a:off x="548640" y="1325880"/>
            <a:ext cx="2724912" cy="12344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786384" y="1435607"/>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Diamond 11"/>
          <p:cNvSpPr/>
          <p:nvPr/>
        </p:nvSpPr>
        <p:spPr>
          <a:xfrm>
            <a:off x="873252" y="1522475"/>
            <a:ext cx="173736" cy="173736"/>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280160" y="1463039"/>
            <a:ext cx="1755647"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Frame</a:t>
            </a:r>
          </a:p>
        </p:txBody>
      </p:sp>
      <p:sp>
        <p:nvSpPr>
          <p:cNvPr id="14" name="TextBox 13"/>
          <p:cNvSpPr txBox="1"/>
          <p:nvPr/>
        </p:nvSpPr>
        <p:spPr>
          <a:xfrm>
            <a:off x="786384" y="1865376"/>
            <a:ext cx="2249424" cy="585215"/>
          </a:xfrm>
          <a:prstGeom prst="rect">
            <a:avLst/>
          </a:prstGeom>
          <a:noFill/>
        </p:spPr>
        <p:txBody>
          <a:bodyPr wrap="square" lIns="0" tIns="0" rIns="0" bIns="0" anchor="t">
            <a:spAutoFit/>
          </a:bodyPr>
          <a:lstStyle/>
          <a:p>
            <a:pPr marL="0" indent="0" algn="l">
              <a:lnSpc>
                <a:spcPct val="100000"/>
              </a:lnSpc>
              <a:spcAft>
                <a:spcPts val="600"/>
              </a:spcAft>
              <a:buNone/>
            </a:pPr>
            <a:r>
              <a:rPr sz="1100" b="0" i="0">
                <a:solidFill>
                  <a:srgbClr val="262626"/>
                </a:solidFill>
                <a:latin typeface="Product Sans"/>
                <a:ea typeface="Product Sans"/>
                <a:cs typeface="Product Sans"/>
              </a:rPr>
              <a:t>Scope one small, testable task. Name the files, the goal, the limits.</a:t>
            </a:r>
          </a:p>
        </p:txBody>
      </p:sp>
      <p:sp>
        <p:nvSpPr>
          <p:cNvPr id="15" name="Rounded Rectangle 14"/>
          <p:cNvSpPr/>
          <p:nvPr/>
        </p:nvSpPr>
        <p:spPr>
          <a:xfrm>
            <a:off x="3392424" y="1325880"/>
            <a:ext cx="2724912" cy="12344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3630168" y="1435607"/>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Document 16"/>
          <p:cNvSpPr/>
          <p:nvPr/>
        </p:nvSpPr>
        <p:spPr>
          <a:xfrm>
            <a:off x="3730066" y="1522475"/>
            <a:ext cx="147675" cy="173736"/>
          </a:xfrm>
          <a:prstGeom prst="flowChartDocumen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123944" y="1463039"/>
            <a:ext cx="1755647"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Plan first</a:t>
            </a:r>
          </a:p>
        </p:txBody>
      </p:sp>
      <p:sp>
        <p:nvSpPr>
          <p:cNvPr id="19" name="TextBox 18"/>
          <p:cNvSpPr txBox="1"/>
          <p:nvPr/>
        </p:nvSpPr>
        <p:spPr>
          <a:xfrm>
            <a:off x="3630168" y="1865376"/>
            <a:ext cx="2249424" cy="585215"/>
          </a:xfrm>
          <a:prstGeom prst="rect">
            <a:avLst/>
          </a:prstGeom>
          <a:noFill/>
        </p:spPr>
        <p:txBody>
          <a:bodyPr wrap="square" lIns="0" tIns="0" rIns="0" bIns="0" anchor="t">
            <a:spAutoFit/>
          </a:bodyPr>
          <a:lstStyle/>
          <a:p>
            <a:pPr marL="0" indent="0" algn="l">
              <a:lnSpc>
                <a:spcPct val="100000"/>
              </a:lnSpc>
              <a:spcAft>
                <a:spcPts val="600"/>
              </a:spcAft>
              <a:buNone/>
            </a:pPr>
            <a:r>
              <a:rPr sz="1100" b="0" i="0">
                <a:solidFill>
                  <a:srgbClr val="262626"/>
                </a:solidFill>
                <a:latin typeface="Product Sans"/>
                <a:ea typeface="Product Sans"/>
                <a:cs typeface="Product Sans"/>
              </a:rPr>
              <a:t>“Ask me questions before you build.” Approve or redirect.</a:t>
            </a:r>
          </a:p>
        </p:txBody>
      </p:sp>
      <p:sp>
        <p:nvSpPr>
          <p:cNvPr id="20" name="Rounded Rectangle 19"/>
          <p:cNvSpPr/>
          <p:nvPr/>
        </p:nvSpPr>
        <p:spPr>
          <a:xfrm>
            <a:off x="6236208" y="1325880"/>
            <a:ext cx="2724912" cy="12344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6473952" y="1435607"/>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539971" y="1543324"/>
            <a:ext cx="215432" cy="1320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6612940" y="1574596"/>
            <a:ext cx="69494" cy="69494"/>
          </a:xfrm>
          <a:prstGeom prst="ellipse">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967728" y="1463039"/>
            <a:ext cx="1755647"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Checkpoint</a:t>
            </a:r>
          </a:p>
        </p:txBody>
      </p:sp>
      <p:sp>
        <p:nvSpPr>
          <p:cNvPr id="25" name="TextBox 24"/>
          <p:cNvSpPr txBox="1"/>
          <p:nvPr/>
        </p:nvSpPr>
        <p:spPr>
          <a:xfrm>
            <a:off x="6473952" y="1865376"/>
            <a:ext cx="2249424" cy="585215"/>
          </a:xfrm>
          <a:prstGeom prst="rect">
            <a:avLst/>
          </a:prstGeom>
          <a:noFill/>
        </p:spPr>
        <p:txBody>
          <a:bodyPr wrap="square" lIns="0" tIns="0" rIns="0" bIns="0" anchor="t">
            <a:spAutoFit/>
          </a:bodyPr>
          <a:lstStyle/>
          <a:p>
            <a:pPr marL="0" indent="0" algn="l">
              <a:lnSpc>
                <a:spcPct val="100000"/>
              </a:lnSpc>
              <a:spcAft>
                <a:spcPts val="600"/>
              </a:spcAft>
              <a:buNone/>
            </a:pPr>
            <a:r>
              <a:rPr sz="1100" b="0" i="0">
                <a:solidFill>
                  <a:srgbClr val="262626"/>
                </a:solidFill>
                <a:latin typeface="Product Sans"/>
                <a:ea typeface="Product Sans"/>
                <a:cs typeface="Product Sans"/>
              </a:rPr>
              <a:t>“Pause after each stage.” Review in Simulink, not in the chat.</a:t>
            </a:r>
          </a:p>
        </p:txBody>
      </p:sp>
      <p:sp>
        <p:nvSpPr>
          <p:cNvPr id="26" name="Rounded Rectangle 25"/>
          <p:cNvSpPr/>
          <p:nvPr/>
        </p:nvSpPr>
        <p:spPr>
          <a:xfrm>
            <a:off x="9079992" y="1325880"/>
            <a:ext cx="2724912" cy="12344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317736" y="1435607"/>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317736" y="1435607"/>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350" b="0" i="0">
                <a:solidFill>
                  <a:srgbClr val="FFFFFF"/>
                </a:solidFill>
                <a:latin typeface="Product Sans"/>
                <a:ea typeface="Product Sans"/>
                <a:cs typeface="Product Sans"/>
              </a:rPr>
              <a:t>✓</a:t>
            </a:r>
          </a:p>
        </p:txBody>
      </p:sp>
      <p:sp>
        <p:nvSpPr>
          <p:cNvPr id="29" name="TextBox 28"/>
          <p:cNvSpPr txBox="1"/>
          <p:nvPr/>
        </p:nvSpPr>
        <p:spPr>
          <a:xfrm>
            <a:off x="9811512" y="1463039"/>
            <a:ext cx="1755647"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Evidence</a:t>
            </a:r>
          </a:p>
        </p:txBody>
      </p:sp>
      <p:sp>
        <p:nvSpPr>
          <p:cNvPr id="30" name="TextBox 29"/>
          <p:cNvSpPr txBox="1"/>
          <p:nvPr/>
        </p:nvSpPr>
        <p:spPr>
          <a:xfrm>
            <a:off x="9317736" y="1865376"/>
            <a:ext cx="2249424" cy="585215"/>
          </a:xfrm>
          <a:prstGeom prst="rect">
            <a:avLst/>
          </a:prstGeom>
          <a:noFill/>
        </p:spPr>
        <p:txBody>
          <a:bodyPr wrap="square" lIns="0" tIns="0" rIns="0" bIns="0" anchor="t">
            <a:spAutoFit/>
          </a:bodyPr>
          <a:lstStyle/>
          <a:p>
            <a:pPr marL="0" indent="0" algn="l">
              <a:lnSpc>
                <a:spcPct val="100000"/>
              </a:lnSpc>
              <a:spcAft>
                <a:spcPts val="600"/>
              </a:spcAft>
              <a:buNone/>
            </a:pPr>
            <a:r>
              <a:rPr sz="1100" b="0" i="0">
                <a:solidFill>
                  <a:srgbClr val="262626"/>
                </a:solidFill>
                <a:latin typeface="Product Sans"/>
                <a:ea typeface="Product Sans"/>
                <a:cs typeface="Product Sans"/>
              </a:rPr>
              <a:t>Accept nothing without artifacts: a run, a test, a plot, a diff.</a:t>
            </a:r>
          </a:p>
        </p:txBody>
      </p:sp>
      <p:sp>
        <p:nvSpPr>
          <p:cNvPr id="31" name="Rounded Rectangle 30"/>
          <p:cNvSpPr/>
          <p:nvPr/>
        </p:nvSpPr>
        <p:spPr>
          <a:xfrm>
            <a:off x="548640" y="2743200"/>
            <a:ext cx="11091672" cy="1234440"/>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77240" y="2852928"/>
            <a:ext cx="10634472" cy="292608"/>
          </a:xfrm>
          <a:prstGeom prst="rect">
            <a:avLst/>
          </a:prstGeom>
          <a:noFill/>
        </p:spPr>
        <p:txBody>
          <a:bodyPr wrap="square" lIns="0" tIns="0" rIns="0" bIns="0" anchor="t">
            <a:spAutoFit/>
          </a:bodyPr>
          <a:lstStyle/>
          <a:p>
            <a:pPr marL="0" indent="0" algn="l">
              <a:lnSpc>
                <a:spcPct val="100000"/>
              </a:lnSpc>
              <a:spcAft>
                <a:spcPts val="400"/>
              </a:spcAft>
              <a:buNone/>
            </a:pPr>
            <a:r>
              <a:rPr sz="1250" b="0" i="0">
                <a:solidFill>
                  <a:srgbClr val="FFFFFF"/>
                </a:solidFill>
                <a:latin typeface="Product Sans"/>
                <a:ea typeface="Product Sans"/>
                <a:cs typeface="Product Sans"/>
              </a:rPr>
              <a:t>SHOW YOUR USAGE — BEFORE, AND AT EVERY CHECKPOINT</a:t>
            </a:r>
          </a:p>
        </p:txBody>
      </p:sp>
      <p:sp>
        <p:nvSpPr>
          <p:cNvPr id="33" name="TextBox 32"/>
          <p:cNvSpPr txBox="1"/>
          <p:nvPr/>
        </p:nvSpPr>
        <p:spPr>
          <a:xfrm>
            <a:off x="777240" y="3200400"/>
            <a:ext cx="10634472" cy="685800"/>
          </a:xfrm>
          <a:prstGeom prst="rect">
            <a:avLst/>
          </a:prstGeom>
          <a:noFill/>
        </p:spPr>
        <p:txBody>
          <a:bodyPr wrap="square" lIns="0" tIns="0" rIns="0" bIns="0" anchor="t">
            <a:spAutoFit/>
          </a:bodyPr>
          <a:lstStyle/>
          <a:p>
            <a:pPr marL="127000" indent="-127000" algn="l">
              <a:lnSpc>
                <a:spcPct val="100000"/>
              </a:lnSpc>
              <a:spcAft>
                <a:spcPts val="400"/>
              </a:spcAft>
              <a:buSzPct val="100000"/>
              <a:buChar char="•"/>
            </a:pPr>
            <a:r>
              <a:rPr sz="1050" b="0" i="0">
                <a:solidFill>
                  <a:srgbClr val="FFFFFF"/>
                </a:solidFill>
                <a:latin typeface="Product Sans"/>
                <a:ea typeface="Product Sans"/>
                <a:cs typeface="Product Sans"/>
              </a:rPr>
              <a:t>Type /usage before the first prompt, and again after each demo. The room sees the real cost of an agent that runs the tool instead of guessing at it.</a:t>
            </a:r>
          </a:p>
          <a:p>
            <a:pPr marL="127000" indent="-127000" algn="l">
              <a:lnSpc>
                <a:spcPct val="100000"/>
              </a:lnSpc>
              <a:spcAft>
                <a:spcPts val="400"/>
              </a:spcAft>
              <a:buSzPct val="100000"/>
              <a:buChar char="•"/>
            </a:pPr>
            <a:r>
              <a:rPr sz="1050" b="0" i="0">
                <a:solidFill>
                  <a:srgbClr val="FFFFFF"/>
                </a:solidFill>
                <a:latin typeface="Product Sans"/>
                <a:ea typeface="Product Sans"/>
                <a:cs typeface="Product Sans"/>
              </a:rPr>
              <a:t>This is the argument for the toolkit: local skills and scoped tools mean fewer round trips, fewer tokens, and fewer wrong turns than a generic agent web-searching block names.</a:t>
            </a:r>
          </a:p>
        </p:txBody>
      </p:sp>
      <p:sp>
        <p:nvSpPr>
          <p:cNvPr id="34" name="Rounded Rectangle 33"/>
          <p:cNvSpPr/>
          <p:nvPr/>
        </p:nvSpPr>
        <p:spPr>
          <a:xfrm>
            <a:off x="548640" y="4160520"/>
            <a:ext cx="5394960" cy="14173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786384" y="427024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918423" y="4353641"/>
            <a:ext cx="83393" cy="8339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ound Same Side Corner Rectangle 36"/>
          <p:cNvSpPr/>
          <p:nvPr/>
        </p:nvSpPr>
        <p:spPr>
          <a:xfrm>
            <a:off x="880201" y="4450933"/>
            <a:ext cx="159837" cy="86868"/>
          </a:xfrm>
          <a:prstGeom prst="round2Same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1280160" y="4297680"/>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Say this out loud</a:t>
            </a:r>
          </a:p>
        </p:txBody>
      </p:sp>
      <p:sp>
        <p:nvSpPr>
          <p:cNvPr id="39" name="TextBox 38"/>
          <p:cNvSpPr txBox="1"/>
          <p:nvPr/>
        </p:nvSpPr>
        <p:spPr>
          <a:xfrm>
            <a:off x="786384" y="4700016"/>
            <a:ext cx="4919472" cy="7680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“I am not checking whether the AI is clever. I am checking whether it is right.”</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“Everything it just did, I can read, run, and revert.”</a:t>
            </a:r>
          </a:p>
        </p:txBody>
      </p:sp>
      <p:sp>
        <p:nvSpPr>
          <p:cNvPr id="40" name="Rounded Rectangle 39"/>
          <p:cNvSpPr/>
          <p:nvPr/>
        </p:nvSpPr>
        <p:spPr>
          <a:xfrm>
            <a:off x="6245352" y="4160520"/>
            <a:ext cx="5394960" cy="14173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6483096" y="427024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Block Arc 41"/>
          <p:cNvSpPr/>
          <p:nvPr/>
        </p:nvSpPr>
        <p:spPr>
          <a:xfrm>
            <a:off x="6556065" y="4343217"/>
            <a:ext cx="201533" cy="201533"/>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Isosceles Triangle 42"/>
          <p:cNvSpPr/>
          <p:nvPr/>
        </p:nvSpPr>
        <p:spPr>
          <a:xfrm>
            <a:off x="6688104" y="4329318"/>
            <a:ext cx="72969" cy="6254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976872" y="4297680"/>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And always</a:t>
            </a:r>
          </a:p>
        </p:txBody>
      </p:sp>
      <p:sp>
        <p:nvSpPr>
          <p:cNvPr id="45" name="TextBox 44"/>
          <p:cNvSpPr txBox="1"/>
          <p:nvPr/>
        </p:nvSpPr>
        <p:spPr>
          <a:xfrm>
            <a:off x="6483096" y="4700016"/>
            <a:ext cx="4919472" cy="7680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git init before the agent edits anything — its output becomes a reviewable diff</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Commit at each accepted checkpoint; that history is your audit log</a:t>
            </a:r>
          </a:p>
        </p:txBody>
      </p:sp>
      <p:sp>
        <p:nvSpPr>
          <p:cNvPr id="46" name="Rounded Rectangle 45"/>
          <p:cNvSpPr/>
          <p:nvPr/>
        </p:nvSpPr>
        <p:spPr>
          <a:xfrm>
            <a:off x="548640" y="576072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685800" y="576072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Treat the agent like a capable new colleague: clear brief, visible plan, reviewed output.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29</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Main demo A · where we are going to end up</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The requirement, met. Red breaches the 10 % overshoot limit; green does not.</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MAIN DEMO A</a:t>
            </a:r>
          </a:p>
        </p:txBody>
      </p:sp>
      <p:sp>
        <p:nvSpPr>
          <p:cNvPr id="10" name="Rounded Rectangle 9"/>
          <p:cNvSpPr/>
          <p:nvPr/>
        </p:nvSpPr>
        <p:spPr>
          <a:xfrm>
            <a:off x="1737360" y="1280160"/>
            <a:ext cx="8732520" cy="4160520"/>
          </a:xfrm>
          <a:prstGeom prst="roundRect">
            <a:avLst>
              <a:gd name="adj" fmla="val 4500"/>
            </a:avLst>
          </a:prstGeom>
          <a:solidFill>
            <a:srgbClr val="FFFFFF"/>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demo2_step.png"/>
          <p:cNvPicPr>
            <a:picLocks noChangeAspect="1"/>
          </p:cNvPicPr>
          <p:nvPr/>
        </p:nvPicPr>
        <p:blipFill>
          <a:blip r:embed="rId4"/>
          <a:stretch>
            <a:fillRect/>
          </a:stretch>
        </p:blipFill>
        <p:spPr>
          <a:xfrm>
            <a:off x="2231676" y="1280160"/>
            <a:ext cx="7743887" cy="4160520"/>
          </a:xfrm>
          <a:prstGeom prst="rect">
            <a:avLst/>
          </a:prstGeom>
        </p:spPr>
      </p:pic>
      <p:sp>
        <p:nvSpPr>
          <p:cNvPr id="12" name="Rounded Rectangle 11"/>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Where this ends: 32.7 % → 3.4 % overshoot, settling 0.216 s → 0.154 s. Nothing is built yet — the agent earns this plot over five prompts.</a:t>
            </a:r>
          </a:p>
        </p:txBody>
      </p:sp>
      <p:sp>
        <p:nvSpPr>
          <p:cNvPr id="14" name="TextBox 13"/>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Run /usage now — and again at every checkpoint.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30</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Main demo A · Build the plant and the controller</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~10 min · five small prompts, a pause after each — architecture before blocks</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MAIN DEMO A</a:t>
            </a:r>
          </a:p>
        </p:txBody>
      </p:sp>
      <p:sp>
        <p:nvSpPr>
          <p:cNvPr id="10" name="TextBox 9"/>
          <p:cNvSpPr txBox="1"/>
          <p:nvPr/>
        </p:nvSpPr>
        <p:spPr>
          <a:xfrm>
            <a:off x="548640" y="1344168"/>
            <a:ext cx="6675120" cy="237744"/>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PROMPTS — ONE AT A TIME, PAUSE BETWEEN EACH</a:t>
            </a:r>
          </a:p>
        </p:txBody>
      </p:sp>
      <p:sp>
        <p:nvSpPr>
          <p:cNvPr id="11" name="Rounded Rectangle 10"/>
          <p:cNvSpPr/>
          <p:nvPr/>
        </p:nvSpPr>
        <p:spPr>
          <a:xfrm>
            <a:off x="548640" y="1600200"/>
            <a:ext cx="6675120" cy="30175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1728216"/>
            <a:ext cx="6309359" cy="2761487"/>
          </a:xfrm>
          <a:prstGeom prst="rect">
            <a:avLst/>
          </a:prstGeom>
          <a:noFill/>
        </p:spPr>
        <p:txBody>
          <a:bodyPr wrap="square" lIns="0" tIns="0" rIns="0" bIns="0" anchor="t">
            <a:spAutoFit/>
          </a:bodyPr>
          <a:lstStyle/>
          <a:p>
            <a:pPr marL="0" indent="0" algn="l">
              <a:lnSpc>
                <a:spcPct val="100000"/>
              </a:lnSpc>
              <a:spcAft>
                <a:spcPts val="100"/>
              </a:spcAft>
              <a:buNone/>
            </a:pPr>
            <a:r>
              <a:rPr sz="1100" b="0" i="0" dirty="0">
                <a:solidFill>
                  <a:srgbClr val="1F3864"/>
                </a:solidFill>
                <a:latin typeface="Cascadia Mono"/>
                <a:ea typeface="Cascadia Mono"/>
                <a:cs typeface="Cascadia Mono"/>
              </a:rPr>
              <a:t>1  I want to model a DC motor with PI speed</a:t>
            </a:r>
          </a:p>
          <a:p>
            <a:pPr marL="0" indent="0" algn="l">
              <a:lnSpc>
                <a:spcPct val="100000"/>
              </a:lnSpc>
              <a:spcAft>
                <a:spcPts val="100"/>
              </a:spcAft>
              <a:buNone/>
            </a:pPr>
            <a:r>
              <a:rPr sz="1100" b="0" i="0" dirty="0">
                <a:solidFill>
                  <a:srgbClr val="1F3864"/>
                </a:solidFill>
                <a:latin typeface="Cascadia Mono"/>
                <a:ea typeface="Cascadia Mono"/>
                <a:cs typeface="Cascadia Mono"/>
              </a:rPr>
              <a:t>   control in </a:t>
            </a:r>
            <a:r>
              <a:rPr sz="1100" b="0" i="0" dirty="0" err="1">
                <a:solidFill>
                  <a:srgbClr val="1F3864"/>
                </a:solidFill>
                <a:latin typeface="Cascadia Mono"/>
                <a:ea typeface="Cascadia Mono"/>
                <a:cs typeface="Cascadia Mono"/>
              </a:rPr>
              <a:t>Simscape</a:t>
            </a:r>
            <a:r>
              <a:rPr sz="1100" b="0" i="0" dirty="0">
                <a:solidFill>
                  <a:srgbClr val="1F3864"/>
                </a:solidFill>
                <a:latin typeface="Cascadia Mono"/>
                <a:ea typeface="Cascadia Mono"/>
                <a:cs typeface="Cascadia Mono"/>
              </a:rPr>
              <a:t>. Before you build</a:t>
            </a:r>
          </a:p>
          <a:p>
            <a:pPr marL="0" indent="0" algn="l">
              <a:lnSpc>
                <a:spcPct val="100000"/>
              </a:lnSpc>
              <a:spcAft>
                <a:spcPts val="100"/>
              </a:spcAft>
              <a:buNone/>
            </a:pPr>
            <a:r>
              <a:rPr sz="1100" b="0" i="0" dirty="0">
                <a:solidFill>
                  <a:srgbClr val="1F3864"/>
                </a:solidFill>
                <a:latin typeface="Cascadia Mono"/>
                <a:ea typeface="Cascadia Mono"/>
                <a:cs typeface="Cascadia Mono"/>
              </a:rPr>
              <a:t>   anything, ask me the questions you need</a:t>
            </a:r>
          </a:p>
          <a:p>
            <a:pPr marL="0" indent="0" algn="l">
              <a:lnSpc>
                <a:spcPct val="100000"/>
              </a:lnSpc>
              <a:spcAft>
                <a:spcPts val="100"/>
              </a:spcAft>
              <a:buNone/>
            </a:pPr>
            <a:r>
              <a:rPr sz="1100" b="0" i="0" dirty="0">
                <a:solidFill>
                  <a:srgbClr val="1F3864"/>
                </a:solidFill>
                <a:latin typeface="Cascadia Mono"/>
                <a:ea typeface="Cascadia Mono"/>
                <a:cs typeface="Cascadia Mono"/>
              </a:rPr>
              <a:t>   answered, then show me the architecture view.</a:t>
            </a:r>
          </a:p>
          <a:p>
            <a:pPr marL="0" indent="0" algn="l">
              <a:lnSpc>
                <a:spcPct val="100000"/>
              </a:lnSpc>
              <a:spcAft>
                <a:spcPts val="100"/>
              </a:spcAft>
              <a:buNone/>
            </a:pPr>
            <a:endParaRPr sz="1100" b="0" i="0" dirty="0">
              <a:solidFill>
                <a:srgbClr val="1F3864"/>
              </a:solidFill>
              <a:latin typeface="Cascadia Mono"/>
              <a:ea typeface="Cascadia Mono"/>
              <a:cs typeface="Cascadia Mono"/>
            </a:endParaRPr>
          </a:p>
          <a:p>
            <a:pPr marL="0" indent="0" algn="l">
              <a:lnSpc>
                <a:spcPct val="100000"/>
              </a:lnSpc>
              <a:spcAft>
                <a:spcPts val="100"/>
              </a:spcAft>
              <a:buNone/>
            </a:pPr>
            <a:r>
              <a:rPr sz="1100" b="0" i="0" dirty="0">
                <a:solidFill>
                  <a:srgbClr val="1F3864"/>
                </a:solidFill>
                <a:latin typeface="Cascadia Mono"/>
                <a:ea typeface="Cascadia Mono"/>
                <a:cs typeface="Cascadia Mono"/>
              </a:rPr>
              <a:t>2  Build only the electrical side: controlled</a:t>
            </a:r>
          </a:p>
          <a:p>
            <a:pPr marL="0" indent="0" algn="l">
              <a:lnSpc>
                <a:spcPct val="100000"/>
              </a:lnSpc>
              <a:spcAft>
                <a:spcPts val="100"/>
              </a:spcAft>
              <a:buNone/>
            </a:pPr>
            <a:r>
              <a:rPr sz="1100" b="0" i="0" dirty="0">
                <a:solidFill>
                  <a:srgbClr val="1F3864"/>
                </a:solidFill>
                <a:latin typeface="Cascadia Mono"/>
                <a:ea typeface="Cascadia Mono"/>
                <a:cs typeface="Cascadia Mono"/>
              </a:rPr>
              <a:t>   voltage source, DC Motor, electrical</a:t>
            </a:r>
          </a:p>
          <a:p>
            <a:pPr marL="0" indent="0" algn="l">
              <a:lnSpc>
                <a:spcPct val="100000"/>
              </a:lnSpc>
              <a:spcAft>
                <a:spcPts val="100"/>
              </a:spcAft>
              <a:buNone/>
            </a:pPr>
            <a:r>
              <a:rPr sz="1100" b="0" i="0" dirty="0">
                <a:solidFill>
                  <a:srgbClr val="1F3864"/>
                </a:solidFill>
                <a:latin typeface="Cascadia Mono"/>
                <a:ea typeface="Cascadia Mono"/>
                <a:cs typeface="Cascadia Mono"/>
              </a:rPr>
              <a:t>   reference, solver config. Then pause.</a:t>
            </a:r>
          </a:p>
          <a:p>
            <a:pPr marL="0" indent="0" algn="l">
              <a:lnSpc>
                <a:spcPct val="100000"/>
              </a:lnSpc>
              <a:spcAft>
                <a:spcPts val="100"/>
              </a:spcAft>
              <a:buNone/>
            </a:pPr>
            <a:endParaRPr sz="1100" b="0" i="0" dirty="0">
              <a:solidFill>
                <a:srgbClr val="1F3864"/>
              </a:solidFill>
              <a:latin typeface="Cascadia Mono"/>
              <a:ea typeface="Cascadia Mono"/>
              <a:cs typeface="Cascadia Mono"/>
            </a:endParaRPr>
          </a:p>
          <a:p>
            <a:pPr marL="0" indent="0" algn="l">
              <a:lnSpc>
                <a:spcPct val="100000"/>
              </a:lnSpc>
              <a:spcAft>
                <a:spcPts val="100"/>
              </a:spcAft>
              <a:buNone/>
            </a:pPr>
            <a:r>
              <a:rPr sz="1100" b="0" i="0" dirty="0">
                <a:solidFill>
                  <a:srgbClr val="1F3864"/>
                </a:solidFill>
                <a:latin typeface="Cascadia Mono"/>
                <a:ea typeface="Cascadia Mono"/>
                <a:cs typeface="Cascadia Mono"/>
              </a:rPr>
              <a:t>3  Add the mechanical load - inertia, damper,</a:t>
            </a:r>
          </a:p>
          <a:p>
            <a:pPr marL="0" indent="0" algn="l">
              <a:lnSpc>
                <a:spcPct val="100000"/>
              </a:lnSpc>
              <a:spcAft>
                <a:spcPts val="100"/>
              </a:spcAft>
              <a:buNone/>
            </a:pPr>
            <a:r>
              <a:rPr sz="1100" b="0" i="0" dirty="0">
                <a:solidFill>
                  <a:srgbClr val="1F3864"/>
                </a:solidFill>
                <a:latin typeface="Cascadia Mono"/>
                <a:ea typeface="Cascadia Mono"/>
                <a:cs typeface="Cascadia Mono"/>
              </a:rPr>
              <a:t>   and a rotational motion sensor. Pause again.</a:t>
            </a:r>
          </a:p>
          <a:p>
            <a:pPr marL="0" indent="0" algn="l">
              <a:lnSpc>
                <a:spcPct val="100000"/>
              </a:lnSpc>
              <a:spcAft>
                <a:spcPts val="100"/>
              </a:spcAft>
              <a:buNone/>
            </a:pPr>
            <a:endParaRPr sz="1100" b="0" i="0" dirty="0">
              <a:solidFill>
                <a:srgbClr val="1F3864"/>
              </a:solidFill>
              <a:latin typeface="Cascadia Mono"/>
              <a:ea typeface="Cascadia Mono"/>
              <a:cs typeface="Cascadia Mono"/>
            </a:endParaRPr>
          </a:p>
          <a:p>
            <a:pPr marL="0" indent="0" algn="l">
              <a:lnSpc>
                <a:spcPct val="100000"/>
              </a:lnSpc>
              <a:spcAft>
                <a:spcPts val="100"/>
              </a:spcAft>
              <a:buNone/>
            </a:pPr>
            <a:r>
              <a:rPr sz="1100" b="0" i="0" dirty="0">
                <a:solidFill>
                  <a:srgbClr val="1F3864"/>
                </a:solidFill>
                <a:latin typeface="Cascadia Mono"/>
                <a:ea typeface="Cascadia Mono"/>
                <a:cs typeface="Cascadia Mono"/>
              </a:rPr>
              <a:t>4  Add the PI controller and close the loop.</a:t>
            </a:r>
          </a:p>
          <a:p>
            <a:pPr marL="0" indent="0" algn="l">
              <a:lnSpc>
                <a:spcPct val="100000"/>
              </a:lnSpc>
              <a:spcAft>
                <a:spcPts val="100"/>
              </a:spcAft>
              <a:buNone/>
            </a:pPr>
            <a:r>
              <a:rPr sz="1100" b="0" i="0" dirty="0">
                <a:solidFill>
                  <a:srgbClr val="1F3864"/>
                </a:solidFill>
                <a:latin typeface="Cascadia Mono"/>
                <a:ea typeface="Cascadia Mono"/>
                <a:cs typeface="Cascadia Mono"/>
              </a:rPr>
              <a:t>   Simulate 1.5 s with a 200 rad/s step at t=1.</a:t>
            </a:r>
          </a:p>
          <a:p>
            <a:pPr marL="0" indent="0" algn="l">
              <a:lnSpc>
                <a:spcPct val="100000"/>
              </a:lnSpc>
              <a:spcAft>
                <a:spcPts val="100"/>
              </a:spcAft>
              <a:buNone/>
            </a:pPr>
            <a:endParaRPr sz="1100" b="0" i="0" dirty="0">
              <a:solidFill>
                <a:srgbClr val="1F3864"/>
              </a:solidFill>
              <a:latin typeface="Cascadia Mono"/>
              <a:ea typeface="Cascadia Mono"/>
              <a:cs typeface="Cascadia Mono"/>
            </a:endParaRPr>
          </a:p>
          <a:p>
            <a:pPr marL="0" indent="0" algn="l">
              <a:lnSpc>
                <a:spcPct val="100000"/>
              </a:lnSpc>
              <a:spcAft>
                <a:spcPts val="100"/>
              </a:spcAft>
              <a:buNone/>
            </a:pPr>
            <a:r>
              <a:rPr sz="1100" b="0" i="0" dirty="0">
                <a:solidFill>
                  <a:srgbClr val="1F3864"/>
                </a:solidFill>
                <a:latin typeface="Cascadia Mono"/>
                <a:ea typeface="Cascadia Mono"/>
                <a:cs typeface="Cascadia Mono"/>
              </a:rPr>
              <a:t>5  (next slide) Restructure into masked subsystems.</a:t>
            </a:r>
          </a:p>
        </p:txBody>
      </p:sp>
      <p:sp>
        <p:nvSpPr>
          <p:cNvPr id="13" name="Rounded Rectangle 12"/>
          <p:cNvSpPr/>
          <p:nvPr/>
        </p:nvSpPr>
        <p:spPr>
          <a:xfrm>
            <a:off x="7543800" y="1600200"/>
            <a:ext cx="4114800" cy="30175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7781544" y="170992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7847563" y="1817644"/>
            <a:ext cx="215432" cy="1320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920532" y="1848916"/>
            <a:ext cx="69494" cy="69494"/>
          </a:xfrm>
          <a:prstGeom prst="ellipse">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75320" y="1737360"/>
            <a:ext cx="3145536"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Watch for</a:t>
            </a:r>
          </a:p>
        </p:txBody>
      </p:sp>
      <p:sp>
        <p:nvSpPr>
          <p:cNvPr id="18" name="TextBox 17"/>
          <p:cNvSpPr txBox="1"/>
          <p:nvPr/>
        </p:nvSpPr>
        <p:spPr>
          <a:xfrm>
            <a:off x="7781544" y="2139696"/>
            <a:ext cx="3639312" cy="2368296"/>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It asks about motor rating, load inertia and units before touching a block</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Blocks appear in YOUR open Simulink — 17 blocks in 2.5 s</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Physical connections use &lt;-&gt;, Simulink signals use -&gt; ; it knows the difference</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R2026a renamed the Step block levels — the agent hits the error, reads the valid names, and fixes itself</a:t>
            </a:r>
          </a:p>
        </p:txBody>
      </p:sp>
      <p:sp>
        <p:nvSpPr>
          <p:cNvPr id="19" name="Rounded Rectangle 18"/>
          <p:cNvSpPr/>
          <p:nvPr/>
        </p:nvSpPr>
        <p:spPr>
          <a:xfrm>
            <a:off x="548640" y="4709160"/>
            <a:ext cx="11091672" cy="841248"/>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49808" y="4791456"/>
            <a:ext cx="3566160" cy="201168"/>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MCP TOOLS CALLED</a:t>
            </a:r>
          </a:p>
        </p:txBody>
      </p:sp>
      <p:sp>
        <p:nvSpPr>
          <p:cNvPr id="21" name="TextBox 20"/>
          <p:cNvSpPr txBox="1"/>
          <p:nvPr/>
        </p:nvSpPr>
        <p:spPr>
          <a:xfrm>
            <a:off x="749808" y="5001768"/>
            <a:ext cx="3566160" cy="475488"/>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1F3864"/>
                </a:solidFill>
                <a:latin typeface="Cascadia Mono"/>
                <a:ea typeface="Cascadia Mono"/>
                <a:cs typeface="Cascadia Mono"/>
              </a:rPr>
              <a:t>model_edit · model_read
model_check · evaluate_matlab_code</a:t>
            </a:r>
          </a:p>
        </p:txBody>
      </p:sp>
      <p:sp>
        <p:nvSpPr>
          <p:cNvPr id="22" name="TextBox 21"/>
          <p:cNvSpPr txBox="1"/>
          <p:nvPr/>
        </p:nvSpPr>
        <p:spPr>
          <a:xfrm>
            <a:off x="4453128" y="4791456"/>
            <a:ext cx="3977639" cy="201168"/>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SKILLS TRIGGERED</a:t>
            </a:r>
          </a:p>
        </p:txBody>
      </p:sp>
      <p:sp>
        <p:nvSpPr>
          <p:cNvPr id="23" name="TextBox 22"/>
          <p:cNvSpPr txBox="1"/>
          <p:nvPr/>
        </p:nvSpPr>
        <p:spPr>
          <a:xfrm>
            <a:off x="4453128" y="5001768"/>
            <a:ext cx="3977639" cy="475488"/>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1F3864"/>
                </a:solidFill>
                <a:latin typeface="Cascadia Mono"/>
                <a:ea typeface="Cascadia Mono"/>
                <a:cs typeface="Cascadia Mono"/>
              </a:rPr>
              <a:t>building-simulink-models
specifying-plant-models · System Composer</a:t>
            </a:r>
          </a:p>
        </p:txBody>
      </p:sp>
      <p:sp>
        <p:nvSpPr>
          <p:cNvPr id="24" name="TextBox 23"/>
          <p:cNvSpPr txBox="1"/>
          <p:nvPr/>
        </p:nvSpPr>
        <p:spPr>
          <a:xfrm>
            <a:off x="8567928" y="4791456"/>
            <a:ext cx="3108960" cy="201168"/>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PRODUCTS REQUIRED</a:t>
            </a:r>
          </a:p>
        </p:txBody>
      </p:sp>
      <p:sp>
        <p:nvSpPr>
          <p:cNvPr id="25" name="Rounded Rectangle 24"/>
          <p:cNvSpPr/>
          <p:nvPr/>
        </p:nvSpPr>
        <p:spPr>
          <a:xfrm>
            <a:off x="8567928" y="4983480"/>
            <a:ext cx="2788920" cy="237744"/>
          </a:xfrm>
          <a:prstGeom prst="roundRect">
            <a:avLst>
              <a:gd name="adj" fmla="val 4500"/>
            </a:avLst>
          </a:prstGeom>
          <a:solidFill>
            <a:srgbClr val="B46A0B"/>
          </a:solidFill>
          <a:ln w="1270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67928" y="4983480"/>
            <a:ext cx="2788920" cy="237744"/>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FFFFFF"/>
                </a:solidFill>
                <a:latin typeface="Product Sans"/>
                <a:ea typeface="Product Sans"/>
                <a:cs typeface="Product Sans"/>
              </a:rPr>
              <a:t>SIMULINK + SIMSCAPE ELECTRICAL</a:t>
            </a:r>
          </a:p>
        </p:txBody>
      </p:sp>
      <p:sp>
        <p:nvSpPr>
          <p:cNvPr id="27" name="Rounded Rectangle 26"/>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Measured on this machine: architecture 4.9 s · 17 blocks 2.5 s · 21 connections 1.1 s · first simulation 4.0 s.</a:t>
            </a:r>
          </a:p>
        </p:txBody>
      </p:sp>
      <p:sp>
        <p:nvSpPr>
          <p:cNvPr id="29" name="TextBox 28"/>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Run /usage now — and again at every checkpoint.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31</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Main demo A · one more prompt to tidy it up</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The agent's first layout is functional and ugly. Ask it to restructure — it costs one prompt.</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MAIN DEMO A</a:t>
            </a:r>
          </a:p>
        </p:txBody>
      </p:sp>
      <p:sp>
        <p:nvSpPr>
          <p:cNvPr id="10" name="TextBox 9"/>
          <p:cNvSpPr txBox="1"/>
          <p:nvPr/>
        </p:nvSpPr>
        <p:spPr>
          <a:xfrm>
            <a:off x="548640" y="1298448"/>
            <a:ext cx="6675120" cy="219456"/>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PROMPT 5 — TIDY IT UP</a:t>
            </a:r>
          </a:p>
        </p:txBody>
      </p:sp>
      <p:sp>
        <p:nvSpPr>
          <p:cNvPr id="11" name="Rounded Rectangle 10"/>
          <p:cNvSpPr/>
          <p:nvPr/>
        </p:nvSpPr>
        <p:spPr>
          <a:xfrm>
            <a:off x="548640" y="1554480"/>
            <a:ext cx="6675120" cy="14173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1682495"/>
            <a:ext cx="6309359" cy="1161288"/>
          </a:xfrm>
          <a:prstGeom prst="rect">
            <a:avLst/>
          </a:prstGeom>
          <a:noFill/>
        </p:spPr>
        <p:txBody>
          <a:bodyPr wrap="square" lIns="0" tIns="0" rIns="0" bIns="0" anchor="t">
            <a:spAutoFit/>
          </a:bodyPr>
          <a:lstStyle/>
          <a:p>
            <a:pPr marL="0" indent="0" algn="l">
              <a:lnSpc>
                <a:spcPct val="100000"/>
              </a:lnSpc>
              <a:spcAft>
                <a:spcPts val="100"/>
              </a:spcAft>
              <a:buNone/>
            </a:pPr>
            <a:r>
              <a:rPr sz="1100" b="0" i="0">
                <a:solidFill>
                  <a:srgbClr val="1F3864"/>
                </a:solidFill>
                <a:latin typeface="Cascadia Mono"/>
                <a:ea typeface="Cascadia Mono"/>
                <a:cs typeface="Cascadia Mono"/>
              </a:rPr>
              <a:t>Restructure this model: put the controller into</a:t>
            </a:r>
          </a:p>
          <a:p>
            <a:pPr marL="0" indent="0" algn="l">
              <a:lnSpc>
                <a:spcPct val="100000"/>
              </a:lnSpc>
              <a:spcAft>
                <a:spcPts val="100"/>
              </a:spcAft>
              <a:buNone/>
            </a:pPr>
            <a:r>
              <a:rPr sz="1100" b="0" i="0">
                <a:solidFill>
                  <a:srgbClr val="1F3864"/>
                </a:solidFill>
                <a:latin typeface="Cascadia Mono"/>
                <a:ea typeface="Cascadia Mono"/>
                <a:cs typeface="Cascadia Mono"/>
              </a:rPr>
              <a:t>a PI Controller subsystem and the plant into a</a:t>
            </a:r>
          </a:p>
          <a:p>
            <a:pPr marL="0" indent="0" algn="l">
              <a:lnSpc>
                <a:spcPct val="100000"/>
              </a:lnSpc>
              <a:spcAft>
                <a:spcPts val="100"/>
              </a:spcAft>
              <a:buNone/>
            </a:pPr>
            <a:r>
              <a:rPr sz="1100" b="0" i="0">
                <a:solidFill>
                  <a:srgbClr val="1F3864"/>
                </a:solidFill>
                <a:latin typeface="Cascadia Mono"/>
                <a:ea typeface="Cascadia Mono"/>
                <a:cs typeface="Cascadia Mono"/>
              </a:rPr>
              <a:t>Motor and Load subsystem. Mask both, give each</a:t>
            </a:r>
          </a:p>
          <a:p>
            <a:pPr marL="0" indent="0" algn="l">
              <a:lnSpc>
                <a:spcPct val="100000"/>
              </a:lnSpc>
              <a:spcAft>
                <a:spcPts val="100"/>
              </a:spcAft>
              <a:buNone/>
            </a:pPr>
            <a:r>
              <a:rPr sz="1100" b="0" i="0">
                <a:solidFill>
                  <a:srgbClr val="1F3864"/>
                </a:solidFill>
                <a:latin typeface="Cascadia Mono"/>
                <a:ea typeface="Cascadia Mono"/>
                <a:cs typeface="Cascadia Mono"/>
              </a:rPr>
              <a:t>a drawn icon and labelled ports, and keep the</a:t>
            </a:r>
          </a:p>
          <a:p>
            <a:pPr marL="0" indent="0" algn="l">
              <a:lnSpc>
                <a:spcPct val="100000"/>
              </a:lnSpc>
              <a:spcAft>
                <a:spcPts val="100"/>
              </a:spcAft>
              <a:buNone/>
            </a:pPr>
            <a:r>
              <a:rPr sz="1100" b="0" i="0">
                <a:solidFill>
                  <a:srgbClr val="1F3864"/>
                </a:solidFill>
                <a:latin typeface="Cascadia Mono"/>
                <a:ea typeface="Cascadia Mono"/>
                <a:cs typeface="Cascadia Mono"/>
              </a:rPr>
              <a:t>behaviour identical - re-run and prove it.</a:t>
            </a:r>
          </a:p>
        </p:txBody>
      </p:sp>
      <p:sp>
        <p:nvSpPr>
          <p:cNvPr id="13" name="Rounded Rectangle 12"/>
          <p:cNvSpPr/>
          <p:nvPr/>
        </p:nvSpPr>
        <p:spPr>
          <a:xfrm>
            <a:off x="7543800" y="1554480"/>
            <a:ext cx="4114800" cy="14173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7781544" y="1664207"/>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5-Point Star 14"/>
          <p:cNvSpPr/>
          <p:nvPr/>
        </p:nvSpPr>
        <p:spPr>
          <a:xfrm>
            <a:off x="7859725" y="1742389"/>
            <a:ext cx="191109" cy="191109"/>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75320" y="1691639"/>
            <a:ext cx="314553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Why bother on stage</a:t>
            </a:r>
          </a:p>
        </p:txBody>
      </p:sp>
      <p:sp>
        <p:nvSpPr>
          <p:cNvPr id="17" name="TextBox 16"/>
          <p:cNvSpPr txBox="1"/>
          <p:nvPr/>
        </p:nvSpPr>
        <p:spPr>
          <a:xfrm>
            <a:off x="7781544" y="2093976"/>
            <a:ext cx="3639312" cy="768096"/>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A tidy model is what a reviewer will accept</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Identical results before and after — the agent proves the refactor was safe</a:t>
            </a:r>
          </a:p>
        </p:txBody>
      </p:sp>
      <p:sp>
        <p:nvSpPr>
          <p:cNvPr id="18" name="Rounded Rectangle 17"/>
          <p:cNvSpPr/>
          <p:nvPr/>
        </p:nvSpPr>
        <p:spPr>
          <a:xfrm>
            <a:off x="548640" y="3154680"/>
            <a:ext cx="11091672" cy="2148840"/>
          </a:xfrm>
          <a:prstGeom prst="roundRect">
            <a:avLst>
              <a:gd name="adj" fmla="val 4500"/>
            </a:avLst>
          </a:prstGeom>
          <a:solidFill>
            <a:srgbClr val="FFFFFF"/>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demo1_model_tidy.png"/>
          <p:cNvPicPr>
            <a:picLocks noChangeAspect="1"/>
          </p:cNvPicPr>
          <p:nvPr/>
        </p:nvPicPr>
        <p:blipFill>
          <a:blip r:embed="rId5"/>
          <a:stretch>
            <a:fillRect/>
          </a:stretch>
        </p:blipFill>
        <p:spPr>
          <a:xfrm>
            <a:off x="548640" y="3203476"/>
            <a:ext cx="11091672" cy="2051246"/>
          </a:xfrm>
          <a:prstGeom prst="rect">
            <a:avLst/>
          </a:prstGeom>
        </p:spPr>
      </p:pic>
      <p:sp>
        <p:nvSpPr>
          <p:cNvPr id="20" name="TextBox 19"/>
          <p:cNvSpPr txBox="1"/>
          <p:nvPr/>
        </p:nvSpPr>
        <p:spPr>
          <a:xfrm>
            <a:off x="548640" y="5413248"/>
            <a:ext cx="11091672" cy="219456"/>
          </a:xfrm>
          <a:prstGeom prst="rect">
            <a:avLst/>
          </a:prstGeom>
          <a:noFill/>
        </p:spPr>
        <p:txBody>
          <a:bodyPr wrap="square" lIns="0" tIns="0" rIns="0" bIns="0" anchor="ctr">
            <a:spAutoFit/>
          </a:bodyPr>
          <a:lstStyle/>
          <a:p>
            <a:pPr marL="0" indent="0" algn="ctr">
              <a:lnSpc>
                <a:spcPct val="100000"/>
              </a:lnSpc>
              <a:spcAft>
                <a:spcPts val="400"/>
              </a:spcAft>
              <a:buNone/>
            </a:pPr>
            <a:r>
              <a:rPr sz="1100" b="0" i="1">
                <a:solidFill>
                  <a:srgbClr val="595959"/>
                </a:solidFill>
                <a:latin typeface="Product Sans"/>
                <a:ea typeface="Product Sans"/>
                <a:cs typeface="Product Sans"/>
              </a:rPr>
              <a:t>Top level after the restructure: four blocks, drawn icons, labelled ports — and the feedback loop readable at a glance.</a:t>
            </a:r>
          </a:p>
        </p:txBody>
      </p:sp>
      <p:sp>
        <p:nvSpPr>
          <p:cNvPr id="21" name="Rounded Rectangle 20"/>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Same model, same numbers: 32.7 % overshoot, 200.0 rad/s steady state. Restructuring changed the presentation, not the physics.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32</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Main demo A · debrief — and it was still wrong</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Nothing errored. The check passed. The simulation ran. It was still physically nonsense.</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MAIN DEMO A</a:t>
            </a:r>
          </a:p>
        </p:txBody>
      </p:sp>
      <p:sp>
        <p:nvSpPr>
          <p:cNvPr id="10" name="Rounded Rectangle 9"/>
          <p:cNvSpPr/>
          <p:nvPr/>
        </p:nvSpPr>
        <p:spPr>
          <a:xfrm>
            <a:off x="548640" y="1353312"/>
            <a:ext cx="3602736" cy="20116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786384" y="1463039"/>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Document 11"/>
          <p:cNvSpPr/>
          <p:nvPr/>
        </p:nvSpPr>
        <p:spPr>
          <a:xfrm>
            <a:off x="886282" y="1549907"/>
            <a:ext cx="147675" cy="173736"/>
          </a:xfrm>
          <a:prstGeom prst="flowChartDocumen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280160" y="1490472"/>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What it handed me</a:t>
            </a:r>
          </a:p>
        </p:txBody>
      </p:sp>
      <p:sp>
        <p:nvSpPr>
          <p:cNvPr id="14" name="TextBox 13"/>
          <p:cNvSpPr txBox="1"/>
          <p:nvPr/>
        </p:nvSpPr>
        <p:spPr>
          <a:xfrm>
            <a:off x="786384" y="1892807"/>
            <a:ext cx="3127248" cy="1362456"/>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A model that compiled, passed model_check, and simulated cleanly</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Step to 200 rad/s — after a full 5 s it reached 166.8</a:t>
            </a:r>
          </a:p>
        </p:txBody>
      </p:sp>
      <p:sp>
        <p:nvSpPr>
          <p:cNvPr id="15" name="Rounded Rectangle 14"/>
          <p:cNvSpPr/>
          <p:nvPr/>
        </p:nvSpPr>
        <p:spPr>
          <a:xfrm>
            <a:off x="4297680" y="1353312"/>
            <a:ext cx="3602736" cy="20116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4535424" y="1463039"/>
            <a:ext cx="347472" cy="347472"/>
          </a:xfrm>
          <a:prstGeom prst="ellipse">
            <a:avLst/>
          </a:prstGeom>
          <a:solidFill>
            <a:srgbClr val="A32A2A"/>
          </a:solidFill>
          <a:ln w="1905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Isosceles Triangle 16"/>
          <p:cNvSpPr/>
          <p:nvPr/>
        </p:nvSpPr>
        <p:spPr>
          <a:xfrm>
            <a:off x="4604918" y="1541221"/>
            <a:ext cx="208483" cy="191109"/>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535424" y="1497787"/>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A32A2A"/>
                </a:solidFill>
                <a:latin typeface="Product Sans"/>
                <a:ea typeface="Product Sans"/>
                <a:cs typeface="Product Sans"/>
              </a:rPr>
              <a:t>!</a:t>
            </a:r>
          </a:p>
        </p:txBody>
      </p:sp>
      <p:sp>
        <p:nvSpPr>
          <p:cNvPr id="19" name="TextBox 18"/>
          <p:cNvSpPr txBox="1"/>
          <p:nvPr/>
        </p:nvSpPr>
        <p:spPr>
          <a:xfrm>
            <a:off x="5029200" y="1490472"/>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What was actually wrong</a:t>
            </a:r>
          </a:p>
        </p:txBody>
      </p:sp>
      <p:sp>
        <p:nvSpPr>
          <p:cNvPr id="20" name="TextBox 19"/>
          <p:cNvSpPr txBox="1"/>
          <p:nvPr/>
        </p:nvSpPr>
        <p:spPr>
          <a:xfrm>
            <a:off x="4535424" y="1892807"/>
            <a:ext cx="3127248" cy="1362456"/>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It took the DC Motor defaults: a 0.08 W, 1.5 V hobby motor</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And the Inertia default: 0.01 kg·m² — a substantial flywheel</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No software could know that. It is a modelling judgement.</a:t>
            </a:r>
          </a:p>
        </p:txBody>
      </p:sp>
      <p:sp>
        <p:nvSpPr>
          <p:cNvPr id="21" name="Rounded Rectangle 20"/>
          <p:cNvSpPr/>
          <p:nvPr/>
        </p:nvSpPr>
        <p:spPr>
          <a:xfrm>
            <a:off x="8037575" y="1353312"/>
            <a:ext cx="3602736" cy="20116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8275319" y="1463039"/>
            <a:ext cx="347472" cy="347472"/>
          </a:xfrm>
          <a:prstGeom prst="ellipse">
            <a:avLst/>
          </a:prstGeom>
          <a:solidFill>
            <a:srgbClr val="2F7D3B"/>
          </a:solidFill>
          <a:ln w="1905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Gear 6 22"/>
          <p:cNvSpPr/>
          <p:nvPr/>
        </p:nvSpPr>
        <p:spPr>
          <a:xfrm>
            <a:off x="8362187" y="1549907"/>
            <a:ext cx="173736" cy="173736"/>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769096" y="1490472"/>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The fix — one prompt</a:t>
            </a:r>
          </a:p>
        </p:txBody>
      </p:sp>
      <p:sp>
        <p:nvSpPr>
          <p:cNvPr id="25" name="TextBox 24"/>
          <p:cNvSpPr txBox="1"/>
          <p:nvPr/>
        </p:nvSpPr>
        <p:spPr>
          <a:xfrm>
            <a:off x="8275319" y="1892807"/>
            <a:ext cx="3127248" cy="1362456"/>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“Those defaults are physically inconsistent. Parameterise for a ~200 W motor.”</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Corrected: 19.9 rad/s per volt, settles in 0.15 s</a:t>
            </a:r>
          </a:p>
        </p:txBody>
      </p:sp>
      <p:sp>
        <p:nvSpPr>
          <p:cNvPr id="26" name="Rounded Rectangle 25"/>
          <p:cNvSpPr/>
          <p:nvPr/>
        </p:nvSpPr>
        <p:spPr>
          <a:xfrm>
            <a:off x="548640" y="3493008"/>
            <a:ext cx="5394960" cy="1938528"/>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77240" y="3621024"/>
            <a:ext cx="4937760" cy="512064"/>
          </a:xfrm>
          <a:prstGeom prst="rect">
            <a:avLst/>
          </a:prstGeom>
          <a:noFill/>
        </p:spPr>
        <p:txBody>
          <a:bodyPr wrap="square" lIns="0" tIns="0" rIns="0" bIns="0" anchor="t">
            <a:spAutoFit/>
          </a:bodyPr>
          <a:lstStyle/>
          <a:p>
            <a:pPr marL="0" indent="0" algn="l">
              <a:lnSpc>
                <a:spcPct val="100000"/>
              </a:lnSpc>
              <a:spcAft>
                <a:spcPts val="400"/>
              </a:spcAft>
              <a:buNone/>
            </a:pPr>
            <a:r>
              <a:rPr sz="1250" b="0" i="0">
                <a:solidFill>
                  <a:srgbClr val="FFFFFF"/>
                </a:solidFill>
                <a:latin typeface="Product Sans"/>
                <a:ea typeface="Product Sans"/>
                <a:cs typeface="Product Sans"/>
              </a:rPr>
              <a:t>THIS IS THE ARGUMENT FOR</a:t>
            </a:r>
          </a:p>
          <a:p>
            <a:pPr marL="0" indent="0" algn="l">
              <a:lnSpc>
                <a:spcPct val="100000"/>
              </a:lnSpc>
              <a:spcAft>
                <a:spcPts val="400"/>
              </a:spcAft>
              <a:buNone/>
            </a:pPr>
            <a:r>
              <a:rPr sz="1250" b="0" i="0">
                <a:solidFill>
                  <a:srgbClr val="FFFFFF"/>
                </a:solidFill>
                <a:latin typeface="Product Sans"/>
                <a:ea typeface="Product Sans"/>
                <a:cs typeface="Product Sans"/>
              </a:rPr>
              <a:t>HUMAN-IN-THE-LOOP</a:t>
            </a:r>
          </a:p>
        </p:txBody>
      </p:sp>
      <p:sp>
        <p:nvSpPr>
          <p:cNvPr id="28" name="TextBox 27"/>
          <p:cNvSpPr txBox="1"/>
          <p:nvPr/>
        </p:nvSpPr>
        <p:spPr>
          <a:xfrm>
            <a:off x="777240" y="4224528"/>
            <a:ext cx="4937760" cy="1097280"/>
          </a:xfrm>
          <a:prstGeom prst="rect">
            <a:avLst/>
          </a:prstGeom>
          <a:noFill/>
        </p:spPr>
        <p:txBody>
          <a:bodyPr wrap="square" lIns="0" tIns="0" rIns="0" bIns="0" anchor="t">
            <a:spAutoFit/>
          </a:bodyPr>
          <a:lstStyle/>
          <a:p>
            <a:pPr marL="0" indent="0" algn="l">
              <a:lnSpc>
                <a:spcPct val="100000"/>
              </a:lnSpc>
              <a:spcAft>
                <a:spcPts val="400"/>
              </a:spcAft>
              <a:buNone/>
            </a:pPr>
            <a:r>
              <a:rPr sz="1200" b="0" i="0">
                <a:solidFill>
                  <a:srgbClr val="FFFFFF"/>
                </a:solidFill>
                <a:latin typeface="Product Sans"/>
                <a:ea typeface="Product Sans"/>
                <a:cs typeface="Product Sans"/>
              </a:rPr>
              <a:t>The agent is a fast, tireless junior engineer with no physical intuition. It builds what you ask, correctly, and never notices that the physics is silly. Catching that in four seconds is what your expertise is worth.</a:t>
            </a:r>
          </a:p>
        </p:txBody>
      </p:sp>
      <p:sp>
        <p:nvSpPr>
          <p:cNvPr id="29" name="Rounded Rectangle 28"/>
          <p:cNvSpPr/>
          <p:nvPr/>
        </p:nvSpPr>
        <p:spPr>
          <a:xfrm>
            <a:off x="6245352" y="3493008"/>
            <a:ext cx="5394960" cy="1938528"/>
          </a:xfrm>
          <a:prstGeom prst="roundRect">
            <a:avLst>
              <a:gd name="adj" fmla="val 4500"/>
            </a:avLst>
          </a:prstGeom>
          <a:solidFill>
            <a:srgbClr val="FFFFFF"/>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Picture 29" descr="demo1_debrief.png"/>
          <p:cNvPicPr>
            <a:picLocks noChangeAspect="1"/>
          </p:cNvPicPr>
          <p:nvPr/>
        </p:nvPicPr>
        <p:blipFill>
          <a:blip r:embed="rId5"/>
          <a:stretch>
            <a:fillRect/>
          </a:stretch>
        </p:blipFill>
        <p:spPr>
          <a:xfrm>
            <a:off x="6582279" y="3493008"/>
            <a:ext cx="4721104" cy="1938528"/>
          </a:xfrm>
          <a:prstGeom prst="rect">
            <a:avLst/>
          </a:prstGeom>
        </p:spPr>
      </p:pic>
      <p:sp>
        <p:nvSpPr>
          <p:cNvPr id="31" name="Rounded Rectangle 30"/>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I can tell you what the agent did. Only you can tell whether the physics is right — and that is exactly the point.</a:t>
            </a:r>
          </a:p>
        </p:txBody>
      </p:sp>
      <p:sp>
        <p:nvSpPr>
          <p:cNvPr id="33" name="TextBox 32"/>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Run /usage now — and again at every checkpoint.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33</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Main demo A · requirement → failing test → green</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~6 min · the loop that makes an agent trustworthy: it must fail first</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MAIN DEMO A</a:t>
            </a:r>
          </a:p>
        </p:txBody>
      </p:sp>
      <p:sp>
        <p:nvSpPr>
          <p:cNvPr id="10" name="TextBox 9"/>
          <p:cNvSpPr txBox="1"/>
          <p:nvPr/>
        </p:nvSpPr>
        <p:spPr>
          <a:xfrm>
            <a:off x="548640" y="1344168"/>
            <a:ext cx="6675120" cy="237744"/>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PROMPT — COPY &amp; PASTE</a:t>
            </a:r>
          </a:p>
        </p:txBody>
      </p:sp>
      <p:sp>
        <p:nvSpPr>
          <p:cNvPr id="11" name="Rounded Rectangle 10"/>
          <p:cNvSpPr/>
          <p:nvPr/>
        </p:nvSpPr>
        <p:spPr>
          <a:xfrm>
            <a:off x="548640" y="1600200"/>
            <a:ext cx="6675120" cy="21488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1728216"/>
            <a:ext cx="6309359" cy="1892808"/>
          </a:xfrm>
          <a:prstGeom prst="rect">
            <a:avLst/>
          </a:prstGeom>
          <a:noFill/>
        </p:spPr>
        <p:txBody>
          <a:bodyPr wrap="square" lIns="0" tIns="0" rIns="0" bIns="0" anchor="t">
            <a:spAutoFit/>
          </a:bodyPr>
          <a:lstStyle/>
          <a:p>
            <a:pPr marL="0" indent="0" algn="l">
              <a:lnSpc>
                <a:spcPct val="100000"/>
              </a:lnSpc>
              <a:spcAft>
                <a:spcPts val="100"/>
              </a:spcAft>
              <a:buNone/>
            </a:pPr>
            <a:r>
              <a:rPr sz="1100" b="0" i="0">
                <a:solidFill>
                  <a:srgbClr val="1F3864"/>
                </a:solidFill>
                <a:latin typeface="Cascadia Mono"/>
                <a:ea typeface="Cascadia Mono"/>
                <a:cs typeface="Cascadia Mono"/>
              </a:rPr>
              <a:t>Requirement: overshoot &lt;= 10% and settling</a:t>
            </a:r>
          </a:p>
          <a:p>
            <a:pPr marL="0" indent="0" algn="l">
              <a:lnSpc>
                <a:spcPct val="100000"/>
              </a:lnSpc>
              <a:spcAft>
                <a:spcPts val="100"/>
              </a:spcAft>
              <a:buNone/>
            </a:pPr>
            <a:r>
              <a:rPr sz="1100" b="0" i="0">
                <a:solidFill>
                  <a:srgbClr val="1F3864"/>
                </a:solidFill>
                <a:latin typeface="Cascadia Mono"/>
                <a:ea typeface="Cascadia Mono"/>
                <a:cs typeface="Cascadia Mono"/>
              </a:rPr>
              <a:t>time &lt;= 0.3 s on the speed step.</a:t>
            </a:r>
          </a:p>
          <a:p>
            <a:pPr marL="0" indent="0" algn="l">
              <a:lnSpc>
                <a:spcPct val="100000"/>
              </a:lnSpc>
              <a:spcAft>
                <a:spcPts val="100"/>
              </a:spcAft>
              <a:buNone/>
            </a:pPr>
            <a:endParaRPr sz="1100" b="0" i="0">
              <a:solidFill>
                <a:srgbClr val="1F3864"/>
              </a:solidFill>
              <a:latin typeface="Cascadia Mono"/>
              <a:ea typeface="Cascadia Mono"/>
              <a:cs typeface="Cascadia Mono"/>
            </a:endParaRPr>
          </a:p>
          <a:p>
            <a:pPr marL="0" indent="0" algn="l">
              <a:lnSpc>
                <a:spcPct val="100000"/>
              </a:lnSpc>
              <a:spcAft>
                <a:spcPts val="100"/>
              </a:spcAft>
              <a:buNone/>
            </a:pPr>
            <a:r>
              <a:rPr sz="1100" b="0" i="0">
                <a:solidFill>
                  <a:srgbClr val="1F3864"/>
                </a:solidFill>
                <a:latin typeface="Cascadia Mono"/>
                <a:ea typeface="Cascadia Mono"/>
                <a:cs typeface="Cascadia Mono"/>
              </a:rPr>
              <a:t>Write a test that captures this requirement and</a:t>
            </a:r>
          </a:p>
          <a:p>
            <a:pPr marL="0" indent="0" algn="l">
              <a:lnSpc>
                <a:spcPct val="100000"/>
              </a:lnSpc>
              <a:spcAft>
                <a:spcPts val="100"/>
              </a:spcAft>
              <a:buNone/>
            </a:pPr>
            <a:r>
              <a:rPr sz="1100" b="0" i="0">
                <a:solidFill>
                  <a:srgbClr val="1F3864"/>
                </a:solidFill>
                <a:latin typeface="Cascadia Mono"/>
                <a:ea typeface="Cascadia Mono"/>
                <a:cs typeface="Cascadia Mono"/>
              </a:rPr>
              <a:t>show it FAILING on the current gains. Do not</a:t>
            </a:r>
          </a:p>
          <a:p>
            <a:pPr marL="0" indent="0" algn="l">
              <a:lnSpc>
                <a:spcPct val="100000"/>
              </a:lnSpc>
              <a:spcAft>
                <a:spcPts val="100"/>
              </a:spcAft>
              <a:buNone/>
            </a:pPr>
            <a:r>
              <a:rPr sz="1100" b="0" i="0">
                <a:solidFill>
                  <a:srgbClr val="1F3864"/>
                </a:solidFill>
                <a:latin typeface="Cascadia Mono"/>
                <a:ea typeface="Cascadia Mono"/>
                <a:cs typeface="Cascadia Mono"/>
              </a:rPr>
              <a:t>change the gains before the failing test exists.</a:t>
            </a:r>
          </a:p>
          <a:p>
            <a:pPr marL="0" indent="0" algn="l">
              <a:lnSpc>
                <a:spcPct val="100000"/>
              </a:lnSpc>
              <a:spcAft>
                <a:spcPts val="100"/>
              </a:spcAft>
              <a:buNone/>
            </a:pPr>
            <a:endParaRPr sz="1100" b="0" i="0">
              <a:solidFill>
                <a:srgbClr val="1F3864"/>
              </a:solidFill>
              <a:latin typeface="Cascadia Mono"/>
              <a:ea typeface="Cascadia Mono"/>
              <a:cs typeface="Cascadia Mono"/>
            </a:endParaRPr>
          </a:p>
          <a:p>
            <a:pPr marL="0" indent="0" algn="l">
              <a:lnSpc>
                <a:spcPct val="100000"/>
              </a:lnSpc>
              <a:spcAft>
                <a:spcPts val="100"/>
              </a:spcAft>
              <a:buNone/>
            </a:pPr>
            <a:r>
              <a:rPr sz="1100" b="0" i="0">
                <a:solidFill>
                  <a:srgbClr val="1F3864"/>
                </a:solidFill>
                <a:latin typeface="Cascadia Mono"/>
                <a:ea typeface="Cascadia Mono"/>
                <a:cs typeface="Cascadia Mono"/>
              </a:rPr>
              <a:t>Then retune the PI gains until it passes, and</a:t>
            </a:r>
          </a:p>
          <a:p>
            <a:pPr marL="0" indent="0" algn="l">
              <a:lnSpc>
                <a:spcPct val="100000"/>
              </a:lnSpc>
              <a:spcAft>
                <a:spcPts val="100"/>
              </a:spcAft>
              <a:buNone/>
            </a:pPr>
            <a:r>
              <a:rPr sz="1100" b="0" i="0">
                <a:solidFill>
                  <a:srgbClr val="1F3864"/>
                </a:solidFill>
                <a:latin typeface="Cascadia Mono"/>
                <a:ea typeface="Cascadia Mono"/>
                <a:cs typeface="Cascadia Mono"/>
              </a:rPr>
              <a:t>show me the before/after responses as evidence.</a:t>
            </a:r>
          </a:p>
        </p:txBody>
      </p:sp>
      <p:sp>
        <p:nvSpPr>
          <p:cNvPr id="13" name="Rounded Rectangle 12"/>
          <p:cNvSpPr/>
          <p:nvPr/>
        </p:nvSpPr>
        <p:spPr>
          <a:xfrm>
            <a:off x="7543800" y="1600200"/>
            <a:ext cx="4114800" cy="21488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7781544" y="170992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7847563" y="1817644"/>
            <a:ext cx="215432" cy="1320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920532" y="1848916"/>
            <a:ext cx="69494" cy="69494"/>
          </a:xfrm>
          <a:prstGeom prst="ellipse">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75320" y="1737360"/>
            <a:ext cx="3145536"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Watch for</a:t>
            </a:r>
          </a:p>
        </p:txBody>
      </p:sp>
      <p:sp>
        <p:nvSpPr>
          <p:cNvPr id="18" name="TextBox 17"/>
          <p:cNvSpPr txBox="1"/>
          <p:nvPr/>
        </p:nvSpPr>
        <p:spPr>
          <a:xfrm>
            <a:off x="7781544" y="2139696"/>
            <a:ext cx="3639312" cy="149961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The failing test comes FIRST — the requirement is now pinned down</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The fix is a parameter change, not a rewrite</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Numbers come from the executed simulation, not from prose</a:t>
            </a:r>
          </a:p>
        </p:txBody>
      </p:sp>
      <p:sp>
        <p:nvSpPr>
          <p:cNvPr id="19" name="Rounded Rectangle 18"/>
          <p:cNvSpPr/>
          <p:nvPr/>
        </p:nvSpPr>
        <p:spPr>
          <a:xfrm>
            <a:off x="548640" y="3858768"/>
            <a:ext cx="11091672" cy="932688"/>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49808" y="3941063"/>
            <a:ext cx="3657600" cy="201168"/>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MEASURED ON THIS MACHINE</a:t>
            </a:r>
          </a:p>
        </p:txBody>
      </p:sp>
      <p:sp>
        <p:nvSpPr>
          <p:cNvPr id="21" name="TextBox 20"/>
          <p:cNvSpPr txBox="1"/>
          <p:nvPr/>
        </p:nvSpPr>
        <p:spPr>
          <a:xfrm>
            <a:off x="2331720" y="4160520"/>
            <a:ext cx="2834640" cy="182880"/>
          </a:xfrm>
          <a:prstGeom prst="rect">
            <a:avLst/>
          </a:prstGeom>
          <a:noFill/>
        </p:spPr>
        <p:txBody>
          <a:bodyPr wrap="square" lIns="0" tIns="0" rIns="0" bIns="0" anchor="t">
            <a:spAutoFit/>
          </a:bodyPr>
          <a:lstStyle/>
          <a:p>
            <a:pPr marL="0" indent="0" algn="l">
              <a:lnSpc>
                <a:spcPct val="100000"/>
              </a:lnSpc>
              <a:spcAft>
                <a:spcPts val="400"/>
              </a:spcAft>
              <a:buNone/>
            </a:pPr>
            <a:r>
              <a:rPr sz="1000" b="0" i="0">
                <a:solidFill>
                  <a:srgbClr val="595959"/>
                </a:solidFill>
                <a:latin typeface="Product Sans"/>
                <a:ea typeface="Product Sans"/>
                <a:cs typeface="Product Sans"/>
              </a:rPr>
              <a:t>Gains</a:t>
            </a:r>
          </a:p>
        </p:txBody>
      </p:sp>
      <p:sp>
        <p:nvSpPr>
          <p:cNvPr id="22" name="TextBox 21"/>
          <p:cNvSpPr txBox="1"/>
          <p:nvPr/>
        </p:nvSpPr>
        <p:spPr>
          <a:xfrm>
            <a:off x="5486400" y="4160520"/>
            <a:ext cx="1920240" cy="182880"/>
          </a:xfrm>
          <a:prstGeom prst="rect">
            <a:avLst/>
          </a:prstGeom>
          <a:noFill/>
        </p:spPr>
        <p:txBody>
          <a:bodyPr wrap="square" lIns="0" tIns="0" rIns="0" bIns="0" anchor="t">
            <a:spAutoFit/>
          </a:bodyPr>
          <a:lstStyle/>
          <a:p>
            <a:pPr marL="0" indent="0" algn="l">
              <a:lnSpc>
                <a:spcPct val="100000"/>
              </a:lnSpc>
              <a:spcAft>
                <a:spcPts val="400"/>
              </a:spcAft>
              <a:buNone/>
            </a:pPr>
            <a:r>
              <a:rPr sz="1000" b="0" i="0">
                <a:solidFill>
                  <a:srgbClr val="595959"/>
                </a:solidFill>
                <a:latin typeface="Product Sans"/>
                <a:ea typeface="Product Sans"/>
                <a:cs typeface="Product Sans"/>
              </a:rPr>
              <a:t>Overshoot</a:t>
            </a:r>
          </a:p>
        </p:txBody>
      </p:sp>
      <p:sp>
        <p:nvSpPr>
          <p:cNvPr id="23" name="TextBox 22"/>
          <p:cNvSpPr txBox="1"/>
          <p:nvPr/>
        </p:nvSpPr>
        <p:spPr>
          <a:xfrm>
            <a:off x="7589520" y="4160520"/>
            <a:ext cx="1920240" cy="182880"/>
          </a:xfrm>
          <a:prstGeom prst="rect">
            <a:avLst/>
          </a:prstGeom>
          <a:noFill/>
        </p:spPr>
        <p:txBody>
          <a:bodyPr wrap="square" lIns="0" tIns="0" rIns="0" bIns="0" anchor="t">
            <a:spAutoFit/>
          </a:bodyPr>
          <a:lstStyle/>
          <a:p>
            <a:pPr marL="0" indent="0" algn="l">
              <a:lnSpc>
                <a:spcPct val="100000"/>
              </a:lnSpc>
              <a:spcAft>
                <a:spcPts val="400"/>
              </a:spcAft>
              <a:buNone/>
            </a:pPr>
            <a:r>
              <a:rPr sz="1000" b="0" i="0">
                <a:solidFill>
                  <a:srgbClr val="595959"/>
                </a:solidFill>
                <a:latin typeface="Product Sans"/>
                <a:ea typeface="Product Sans"/>
                <a:cs typeface="Product Sans"/>
              </a:rPr>
              <a:t>Settling</a:t>
            </a:r>
          </a:p>
        </p:txBody>
      </p:sp>
      <p:sp>
        <p:nvSpPr>
          <p:cNvPr id="24" name="TextBox 23"/>
          <p:cNvSpPr txBox="1"/>
          <p:nvPr/>
        </p:nvSpPr>
        <p:spPr>
          <a:xfrm>
            <a:off x="9692640" y="4160520"/>
            <a:ext cx="1828800" cy="182880"/>
          </a:xfrm>
          <a:prstGeom prst="rect">
            <a:avLst/>
          </a:prstGeom>
          <a:noFill/>
        </p:spPr>
        <p:txBody>
          <a:bodyPr wrap="square" lIns="0" tIns="0" rIns="0" bIns="0" anchor="t">
            <a:spAutoFit/>
          </a:bodyPr>
          <a:lstStyle/>
          <a:p>
            <a:pPr marL="0" indent="0" algn="l">
              <a:lnSpc>
                <a:spcPct val="100000"/>
              </a:lnSpc>
              <a:spcAft>
                <a:spcPts val="400"/>
              </a:spcAft>
              <a:buNone/>
            </a:pPr>
            <a:r>
              <a:rPr sz="1000" b="0" i="0">
                <a:solidFill>
                  <a:srgbClr val="595959"/>
                </a:solidFill>
                <a:latin typeface="Product Sans"/>
                <a:ea typeface="Product Sans"/>
                <a:cs typeface="Product Sans"/>
              </a:rPr>
              <a:t>Verdict</a:t>
            </a:r>
          </a:p>
        </p:txBody>
      </p:sp>
      <p:sp>
        <p:nvSpPr>
          <p:cNvPr id="25" name="TextBox 24"/>
          <p:cNvSpPr txBox="1"/>
          <p:nvPr/>
        </p:nvSpPr>
        <p:spPr>
          <a:xfrm>
            <a:off x="749808" y="4352544"/>
            <a:ext cx="1417320" cy="201168"/>
          </a:xfrm>
          <a:prstGeom prst="rect">
            <a:avLst/>
          </a:prstGeom>
          <a:noFill/>
        </p:spPr>
        <p:txBody>
          <a:bodyPr wrap="square" lIns="0" tIns="0" rIns="0" bIns="0" anchor="t">
            <a:spAutoFit/>
          </a:bodyPr>
          <a:lstStyle/>
          <a:p>
            <a:pPr marL="0" indent="0" algn="l">
              <a:lnSpc>
                <a:spcPct val="100000"/>
              </a:lnSpc>
              <a:spcAft>
                <a:spcPts val="400"/>
              </a:spcAft>
              <a:buNone/>
            </a:pPr>
            <a:r>
              <a:rPr sz="1100" b="0" i="0">
                <a:solidFill>
                  <a:srgbClr val="1F3864"/>
                </a:solidFill>
                <a:latin typeface="Product Sans"/>
                <a:ea typeface="Product Sans"/>
                <a:cs typeface="Product Sans"/>
              </a:rPr>
              <a:t>Before</a:t>
            </a:r>
          </a:p>
        </p:txBody>
      </p:sp>
      <p:sp>
        <p:nvSpPr>
          <p:cNvPr id="26" name="TextBox 25"/>
          <p:cNvSpPr txBox="1"/>
          <p:nvPr/>
        </p:nvSpPr>
        <p:spPr>
          <a:xfrm>
            <a:off x="2331720" y="4352544"/>
            <a:ext cx="2834640" cy="201168"/>
          </a:xfrm>
          <a:prstGeom prst="rect">
            <a:avLst/>
          </a:prstGeom>
          <a:noFill/>
        </p:spPr>
        <p:txBody>
          <a:bodyPr wrap="square" lIns="0" tIns="0" rIns="0" bIns="0" anchor="t">
            <a:spAutoFit/>
          </a:bodyPr>
          <a:lstStyle/>
          <a:p>
            <a:pPr marL="0" indent="0" algn="l">
              <a:lnSpc>
                <a:spcPct val="100000"/>
              </a:lnSpc>
              <a:spcAft>
                <a:spcPts val="400"/>
              </a:spcAft>
              <a:buNone/>
            </a:pPr>
            <a:r>
              <a:rPr sz="1100" b="0" i="0">
                <a:solidFill>
                  <a:srgbClr val="1F3864"/>
                </a:solidFill>
                <a:latin typeface="Cascadia Mono"/>
                <a:ea typeface="Cascadia Mono"/>
                <a:cs typeface="Cascadia Mono"/>
              </a:rPr>
              <a:t>Kp = 0.02, Ki = 5</a:t>
            </a:r>
          </a:p>
        </p:txBody>
      </p:sp>
      <p:sp>
        <p:nvSpPr>
          <p:cNvPr id="27" name="TextBox 26"/>
          <p:cNvSpPr txBox="1"/>
          <p:nvPr/>
        </p:nvSpPr>
        <p:spPr>
          <a:xfrm>
            <a:off x="5486400" y="4352544"/>
            <a:ext cx="1920240" cy="201168"/>
          </a:xfrm>
          <a:prstGeom prst="rect">
            <a:avLst/>
          </a:prstGeom>
          <a:noFill/>
        </p:spPr>
        <p:txBody>
          <a:bodyPr wrap="square" lIns="0" tIns="0" rIns="0" bIns="0" anchor="t">
            <a:spAutoFit/>
          </a:bodyPr>
          <a:lstStyle/>
          <a:p>
            <a:pPr marL="0" indent="0" algn="l">
              <a:lnSpc>
                <a:spcPct val="100000"/>
              </a:lnSpc>
              <a:spcAft>
                <a:spcPts val="400"/>
              </a:spcAft>
              <a:buNone/>
            </a:pPr>
            <a:r>
              <a:rPr sz="1100" b="0" i="0">
                <a:solidFill>
                  <a:srgbClr val="A32A2A"/>
                </a:solidFill>
                <a:latin typeface="Cascadia Mono"/>
                <a:ea typeface="Cascadia Mono"/>
                <a:cs typeface="Cascadia Mono"/>
              </a:rPr>
              <a:t>32.7 %</a:t>
            </a:r>
          </a:p>
        </p:txBody>
      </p:sp>
      <p:sp>
        <p:nvSpPr>
          <p:cNvPr id="28" name="TextBox 27"/>
          <p:cNvSpPr txBox="1"/>
          <p:nvPr/>
        </p:nvSpPr>
        <p:spPr>
          <a:xfrm>
            <a:off x="7589520" y="4352544"/>
            <a:ext cx="1920240" cy="201168"/>
          </a:xfrm>
          <a:prstGeom prst="rect">
            <a:avLst/>
          </a:prstGeom>
          <a:noFill/>
        </p:spPr>
        <p:txBody>
          <a:bodyPr wrap="square" lIns="0" tIns="0" rIns="0" bIns="0" anchor="t">
            <a:spAutoFit/>
          </a:bodyPr>
          <a:lstStyle/>
          <a:p>
            <a:pPr marL="0" indent="0" algn="l">
              <a:lnSpc>
                <a:spcPct val="100000"/>
              </a:lnSpc>
              <a:spcAft>
                <a:spcPts val="400"/>
              </a:spcAft>
              <a:buNone/>
            </a:pPr>
            <a:r>
              <a:rPr sz="1100" b="0" i="0">
                <a:solidFill>
                  <a:srgbClr val="1F3864"/>
                </a:solidFill>
                <a:latin typeface="Cascadia Mono"/>
                <a:ea typeface="Cascadia Mono"/>
                <a:cs typeface="Cascadia Mono"/>
              </a:rPr>
              <a:t>0.216 s</a:t>
            </a:r>
          </a:p>
        </p:txBody>
      </p:sp>
      <p:sp>
        <p:nvSpPr>
          <p:cNvPr id="29" name="TextBox 28"/>
          <p:cNvSpPr txBox="1"/>
          <p:nvPr/>
        </p:nvSpPr>
        <p:spPr>
          <a:xfrm>
            <a:off x="9692640" y="4352544"/>
            <a:ext cx="1828800" cy="201168"/>
          </a:xfrm>
          <a:prstGeom prst="rect">
            <a:avLst/>
          </a:prstGeom>
          <a:noFill/>
        </p:spPr>
        <p:txBody>
          <a:bodyPr wrap="square" lIns="0" tIns="0" rIns="0" bIns="0" anchor="t">
            <a:spAutoFit/>
          </a:bodyPr>
          <a:lstStyle/>
          <a:p>
            <a:pPr marL="0" indent="0" algn="l">
              <a:lnSpc>
                <a:spcPct val="100000"/>
              </a:lnSpc>
              <a:spcAft>
                <a:spcPts val="400"/>
              </a:spcAft>
              <a:buNone/>
            </a:pPr>
            <a:r>
              <a:rPr sz="1100" b="1" i="0">
                <a:solidFill>
                  <a:srgbClr val="A32A2A"/>
                </a:solidFill>
                <a:latin typeface="Product Sans"/>
                <a:ea typeface="Product Sans"/>
                <a:cs typeface="Product Sans"/>
              </a:rPr>
              <a:t>FAIL</a:t>
            </a:r>
          </a:p>
        </p:txBody>
      </p:sp>
      <p:sp>
        <p:nvSpPr>
          <p:cNvPr id="30" name="TextBox 29"/>
          <p:cNvSpPr txBox="1"/>
          <p:nvPr/>
        </p:nvSpPr>
        <p:spPr>
          <a:xfrm>
            <a:off x="749808" y="4562856"/>
            <a:ext cx="1417320" cy="201168"/>
          </a:xfrm>
          <a:prstGeom prst="rect">
            <a:avLst/>
          </a:prstGeom>
          <a:noFill/>
        </p:spPr>
        <p:txBody>
          <a:bodyPr wrap="square" lIns="0" tIns="0" rIns="0" bIns="0" anchor="t">
            <a:spAutoFit/>
          </a:bodyPr>
          <a:lstStyle/>
          <a:p>
            <a:pPr marL="0" indent="0" algn="l">
              <a:lnSpc>
                <a:spcPct val="100000"/>
              </a:lnSpc>
              <a:spcAft>
                <a:spcPts val="400"/>
              </a:spcAft>
              <a:buNone/>
            </a:pPr>
            <a:r>
              <a:rPr sz="1100" b="0" i="0">
                <a:solidFill>
                  <a:srgbClr val="1F3864"/>
                </a:solidFill>
                <a:latin typeface="Product Sans"/>
                <a:ea typeface="Product Sans"/>
                <a:cs typeface="Product Sans"/>
              </a:rPr>
              <a:t>After</a:t>
            </a:r>
          </a:p>
        </p:txBody>
      </p:sp>
      <p:sp>
        <p:nvSpPr>
          <p:cNvPr id="31" name="TextBox 30"/>
          <p:cNvSpPr txBox="1"/>
          <p:nvPr/>
        </p:nvSpPr>
        <p:spPr>
          <a:xfrm>
            <a:off x="2331720" y="4562856"/>
            <a:ext cx="2834640" cy="201168"/>
          </a:xfrm>
          <a:prstGeom prst="rect">
            <a:avLst/>
          </a:prstGeom>
          <a:noFill/>
        </p:spPr>
        <p:txBody>
          <a:bodyPr wrap="square" lIns="0" tIns="0" rIns="0" bIns="0" anchor="t">
            <a:spAutoFit/>
          </a:bodyPr>
          <a:lstStyle/>
          <a:p>
            <a:pPr marL="0" indent="0" algn="l">
              <a:lnSpc>
                <a:spcPct val="100000"/>
              </a:lnSpc>
              <a:spcAft>
                <a:spcPts val="400"/>
              </a:spcAft>
              <a:buNone/>
            </a:pPr>
            <a:r>
              <a:rPr sz="1100" b="0" i="0">
                <a:solidFill>
                  <a:srgbClr val="1F3864"/>
                </a:solidFill>
                <a:latin typeface="Cascadia Mono"/>
                <a:ea typeface="Cascadia Mono"/>
                <a:cs typeface="Cascadia Mono"/>
              </a:rPr>
              <a:t>Kp = 0.05, Ki = 2</a:t>
            </a:r>
          </a:p>
        </p:txBody>
      </p:sp>
      <p:sp>
        <p:nvSpPr>
          <p:cNvPr id="32" name="TextBox 31"/>
          <p:cNvSpPr txBox="1"/>
          <p:nvPr/>
        </p:nvSpPr>
        <p:spPr>
          <a:xfrm>
            <a:off x="5486400" y="4562856"/>
            <a:ext cx="1920240" cy="201168"/>
          </a:xfrm>
          <a:prstGeom prst="rect">
            <a:avLst/>
          </a:prstGeom>
          <a:noFill/>
        </p:spPr>
        <p:txBody>
          <a:bodyPr wrap="square" lIns="0" tIns="0" rIns="0" bIns="0" anchor="t">
            <a:spAutoFit/>
          </a:bodyPr>
          <a:lstStyle/>
          <a:p>
            <a:pPr marL="0" indent="0" algn="l">
              <a:lnSpc>
                <a:spcPct val="100000"/>
              </a:lnSpc>
              <a:spcAft>
                <a:spcPts val="400"/>
              </a:spcAft>
              <a:buNone/>
            </a:pPr>
            <a:r>
              <a:rPr sz="1100" b="0" i="0">
                <a:solidFill>
                  <a:srgbClr val="2F7D3B"/>
                </a:solidFill>
                <a:latin typeface="Cascadia Mono"/>
                <a:ea typeface="Cascadia Mono"/>
                <a:cs typeface="Cascadia Mono"/>
              </a:rPr>
              <a:t>3.4 %</a:t>
            </a:r>
          </a:p>
        </p:txBody>
      </p:sp>
      <p:sp>
        <p:nvSpPr>
          <p:cNvPr id="33" name="TextBox 32"/>
          <p:cNvSpPr txBox="1"/>
          <p:nvPr/>
        </p:nvSpPr>
        <p:spPr>
          <a:xfrm>
            <a:off x="7589520" y="4562856"/>
            <a:ext cx="1920240" cy="201168"/>
          </a:xfrm>
          <a:prstGeom prst="rect">
            <a:avLst/>
          </a:prstGeom>
          <a:noFill/>
        </p:spPr>
        <p:txBody>
          <a:bodyPr wrap="square" lIns="0" tIns="0" rIns="0" bIns="0" anchor="t">
            <a:spAutoFit/>
          </a:bodyPr>
          <a:lstStyle/>
          <a:p>
            <a:pPr marL="0" indent="0" algn="l">
              <a:lnSpc>
                <a:spcPct val="100000"/>
              </a:lnSpc>
              <a:spcAft>
                <a:spcPts val="400"/>
              </a:spcAft>
              <a:buNone/>
            </a:pPr>
            <a:r>
              <a:rPr sz="1100" b="0" i="0">
                <a:solidFill>
                  <a:srgbClr val="1F3864"/>
                </a:solidFill>
                <a:latin typeface="Cascadia Mono"/>
                <a:ea typeface="Cascadia Mono"/>
                <a:cs typeface="Cascadia Mono"/>
              </a:rPr>
              <a:t>0.154 s</a:t>
            </a:r>
          </a:p>
        </p:txBody>
      </p:sp>
      <p:sp>
        <p:nvSpPr>
          <p:cNvPr id="34" name="TextBox 33"/>
          <p:cNvSpPr txBox="1"/>
          <p:nvPr/>
        </p:nvSpPr>
        <p:spPr>
          <a:xfrm>
            <a:off x="9692640" y="4562856"/>
            <a:ext cx="1828800" cy="201168"/>
          </a:xfrm>
          <a:prstGeom prst="rect">
            <a:avLst/>
          </a:prstGeom>
          <a:noFill/>
        </p:spPr>
        <p:txBody>
          <a:bodyPr wrap="square" lIns="0" tIns="0" rIns="0" bIns="0" anchor="t">
            <a:spAutoFit/>
          </a:bodyPr>
          <a:lstStyle/>
          <a:p>
            <a:pPr marL="0" indent="0" algn="l">
              <a:lnSpc>
                <a:spcPct val="100000"/>
              </a:lnSpc>
              <a:spcAft>
                <a:spcPts val="400"/>
              </a:spcAft>
              <a:buNone/>
            </a:pPr>
            <a:r>
              <a:rPr sz="1100" b="1" i="0">
                <a:solidFill>
                  <a:srgbClr val="2F7D3B"/>
                </a:solidFill>
                <a:latin typeface="Product Sans"/>
                <a:ea typeface="Product Sans"/>
                <a:cs typeface="Product Sans"/>
              </a:rPr>
              <a:t>PASS</a:t>
            </a:r>
          </a:p>
        </p:txBody>
      </p:sp>
      <p:sp>
        <p:nvSpPr>
          <p:cNvPr id="35" name="Rounded Rectangle 34"/>
          <p:cNvSpPr/>
          <p:nvPr/>
        </p:nvSpPr>
        <p:spPr>
          <a:xfrm>
            <a:off x="548640" y="4956048"/>
            <a:ext cx="11091672" cy="731520"/>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749808" y="5038344"/>
            <a:ext cx="3566160" cy="201168"/>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MCP TOOLS CALLED</a:t>
            </a:r>
          </a:p>
        </p:txBody>
      </p:sp>
      <p:sp>
        <p:nvSpPr>
          <p:cNvPr id="37" name="TextBox 36"/>
          <p:cNvSpPr txBox="1"/>
          <p:nvPr/>
        </p:nvSpPr>
        <p:spPr>
          <a:xfrm>
            <a:off x="749808" y="5248656"/>
            <a:ext cx="3566160" cy="475488"/>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1F3864"/>
                </a:solidFill>
                <a:latin typeface="Cascadia Mono"/>
                <a:ea typeface="Cascadia Mono"/>
                <a:cs typeface="Cascadia Mono"/>
              </a:rPr>
              <a:t>model_test · model_edit
model_query_params</a:t>
            </a:r>
          </a:p>
        </p:txBody>
      </p:sp>
      <p:sp>
        <p:nvSpPr>
          <p:cNvPr id="38" name="TextBox 37"/>
          <p:cNvSpPr txBox="1"/>
          <p:nvPr/>
        </p:nvSpPr>
        <p:spPr>
          <a:xfrm>
            <a:off x="4453128" y="5038344"/>
            <a:ext cx="3977639" cy="201168"/>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SKILLS TRIGGERED</a:t>
            </a:r>
          </a:p>
        </p:txBody>
      </p:sp>
      <p:sp>
        <p:nvSpPr>
          <p:cNvPr id="39" name="TextBox 38"/>
          <p:cNvSpPr txBox="1"/>
          <p:nvPr/>
        </p:nvSpPr>
        <p:spPr>
          <a:xfrm>
            <a:off x="4453128" y="5248656"/>
            <a:ext cx="3977639" cy="475488"/>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1F3864"/>
                </a:solidFill>
                <a:latin typeface="Cascadia Mono"/>
                <a:ea typeface="Cascadia Mono"/>
                <a:cs typeface="Cascadia Mono"/>
              </a:rPr>
              <a:t>testing-simulink-models
simulating-simulink-models</a:t>
            </a:r>
          </a:p>
        </p:txBody>
      </p:sp>
      <p:sp>
        <p:nvSpPr>
          <p:cNvPr id="40" name="TextBox 39"/>
          <p:cNvSpPr txBox="1"/>
          <p:nvPr/>
        </p:nvSpPr>
        <p:spPr>
          <a:xfrm>
            <a:off x="8567928" y="5038344"/>
            <a:ext cx="3108960" cy="201168"/>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PRODUCTS REQUIRED</a:t>
            </a:r>
          </a:p>
        </p:txBody>
      </p:sp>
      <p:sp>
        <p:nvSpPr>
          <p:cNvPr id="41" name="Rounded Rectangle 40"/>
          <p:cNvSpPr/>
          <p:nvPr/>
        </p:nvSpPr>
        <p:spPr>
          <a:xfrm>
            <a:off x="8567928" y="5230368"/>
            <a:ext cx="2788920" cy="237744"/>
          </a:xfrm>
          <a:prstGeom prst="roundRect">
            <a:avLst>
              <a:gd name="adj" fmla="val 4500"/>
            </a:avLst>
          </a:prstGeom>
          <a:solidFill>
            <a:srgbClr val="B46A0B"/>
          </a:solidFill>
          <a:ln w="1270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8567928" y="5230368"/>
            <a:ext cx="2788920" cy="237744"/>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FFFFFF"/>
                </a:solidFill>
                <a:latin typeface="Product Sans"/>
                <a:ea typeface="Product Sans"/>
                <a:cs typeface="Product Sans"/>
              </a:rPr>
              <a:t>SIMULINK (+ Simulink Test)</a:t>
            </a:r>
          </a:p>
        </p:txBody>
      </p:sp>
      <p:sp>
        <p:nvSpPr>
          <p:cNvPr id="43" name="Rounded Rectangle 42"/>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Diagnose → reproduce with a failing test → fix → re-run to green. The agent closes the loop and proves the fix.</a:t>
            </a:r>
          </a:p>
        </p:txBody>
      </p:sp>
      <p:sp>
        <p:nvSpPr>
          <p:cNvPr id="45" name="TextBox 44"/>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Run /usage now — and again at every checkpoint.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16</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dirty="0">
                <a:solidFill>
                  <a:srgbClr val="4472C4"/>
                </a:solidFill>
                <a:latin typeface="Product Sans"/>
                <a:ea typeface="Product Sans"/>
                <a:cs typeface="Product Sans"/>
              </a:rPr>
              <a:t>What the MATLAB Agentic Toolkit actually is</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Two things: the server that connects, and the skills that guide</a:t>
            </a:r>
          </a:p>
        </p:txBody>
      </p:sp>
      <p:sp>
        <p:nvSpPr>
          <p:cNvPr id="8" name="Rounded Rectangle 7"/>
          <p:cNvSpPr/>
          <p:nvPr/>
        </p:nvSpPr>
        <p:spPr>
          <a:xfrm>
            <a:off x="548640" y="1298448"/>
            <a:ext cx="5669280" cy="1874519"/>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786384" y="1408175"/>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Donut 9"/>
          <p:cNvSpPr/>
          <p:nvPr/>
        </p:nvSpPr>
        <p:spPr>
          <a:xfrm>
            <a:off x="852403" y="1522841"/>
            <a:ext cx="125089" cy="125089"/>
          </a:xfrm>
          <a:prstGeom prst="donut">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Donut 10"/>
          <p:cNvSpPr/>
          <p:nvPr/>
        </p:nvSpPr>
        <p:spPr>
          <a:xfrm>
            <a:off x="942746" y="1522841"/>
            <a:ext cx="125089" cy="125089"/>
          </a:xfrm>
          <a:prstGeom prst="donut">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280160" y="1435607"/>
            <a:ext cx="4700016" cy="292608"/>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1 · MATLAB MCP Core Server</a:t>
            </a:r>
          </a:p>
        </p:txBody>
      </p:sp>
      <p:sp>
        <p:nvSpPr>
          <p:cNvPr id="13" name="TextBox 12"/>
          <p:cNvSpPr txBox="1"/>
          <p:nvPr/>
        </p:nvSpPr>
        <p:spPr>
          <a:xfrm>
            <a:off x="786384" y="1837943"/>
            <a:ext cx="5193792" cy="12252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The connection between AI agents and MATLAB — it carries the tools and resources.</a:t>
            </a:r>
          </a:p>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A local binary. Your code, models and data never leave the machine.</a:t>
            </a:r>
          </a:p>
        </p:txBody>
      </p:sp>
      <p:sp>
        <p:nvSpPr>
          <p:cNvPr id="14" name="Rounded Rectangle 13"/>
          <p:cNvSpPr/>
          <p:nvPr/>
        </p:nvSpPr>
        <p:spPr>
          <a:xfrm>
            <a:off x="548640" y="3310128"/>
            <a:ext cx="5669280" cy="2139696"/>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786384" y="3419856"/>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62827" y="3513673"/>
            <a:ext cx="90342" cy="1598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967069" y="3513673"/>
            <a:ext cx="90342" cy="1598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954907" y="3503249"/>
            <a:ext cx="10424" cy="180685"/>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280160" y="3447288"/>
            <a:ext cx="4700016" cy="292608"/>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2 · MATLAB Skills</a:t>
            </a:r>
          </a:p>
        </p:txBody>
      </p:sp>
      <p:sp>
        <p:nvSpPr>
          <p:cNvPr id="20" name="TextBox 19"/>
          <p:cNvSpPr txBox="1"/>
          <p:nvPr/>
        </p:nvSpPr>
        <p:spPr>
          <a:xfrm>
            <a:off x="786384" y="3849624"/>
            <a:ext cx="5193792" cy="1490472"/>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Guidance on how to approach a task in MATLAB like an expert would.</a:t>
            </a:r>
          </a:p>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This is why the agent asked about phase distortion instead of guessing a filter.</a:t>
            </a:r>
          </a:p>
          <a:p>
            <a:pPr marL="127000" indent="-127000" algn="l">
              <a:lnSpc>
                <a:spcPct val="100000"/>
              </a:lnSpc>
              <a:spcAft>
                <a:spcPts val="600"/>
              </a:spcAft>
              <a:buSzPct val="100000"/>
              <a:buChar char="•"/>
            </a:pPr>
            <a:r>
              <a:rPr sz="1300" b="0" i="0">
                <a:solidFill>
                  <a:srgbClr val="262626"/>
                </a:solidFill>
                <a:latin typeface="Product Sans"/>
                <a:ea typeface="Product Sans"/>
                <a:cs typeface="Product Sans"/>
              </a:rPr>
              <a:t>155 skills across 25 domains, plus 22 Model-Based Design skills for Simulink.</a:t>
            </a:r>
          </a:p>
        </p:txBody>
      </p:sp>
      <p:sp>
        <p:nvSpPr>
          <p:cNvPr id="21" name="Rounded Rectangle 20"/>
          <p:cNvSpPr/>
          <p:nvPr/>
        </p:nvSpPr>
        <p:spPr>
          <a:xfrm>
            <a:off x="6492240" y="1298448"/>
            <a:ext cx="5148072" cy="4151376"/>
          </a:xfrm>
          <a:prstGeom prst="roundRect">
            <a:avLst>
              <a:gd name="adj" fmla="val 4500"/>
            </a:avLst>
          </a:prstGeom>
          <a:solidFill>
            <a:srgbClr val="FFFFFF"/>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mw_stack.png"/>
          <p:cNvPicPr>
            <a:picLocks noChangeAspect="1"/>
          </p:cNvPicPr>
          <p:nvPr/>
        </p:nvPicPr>
        <p:blipFill>
          <a:blip r:embed="rId4"/>
          <a:stretch>
            <a:fillRect/>
          </a:stretch>
        </p:blipFill>
        <p:spPr>
          <a:xfrm>
            <a:off x="7146999" y="1298448"/>
            <a:ext cx="3838552" cy="4151376"/>
          </a:xfrm>
          <a:prstGeom prst="rect">
            <a:avLst/>
          </a:prstGeom>
        </p:spPr>
      </p:pic>
      <p:sp>
        <p:nvSpPr>
          <p:cNvPr id="23" name="TextBox 22"/>
          <p:cNvSpPr txBox="1"/>
          <p:nvPr/>
        </p:nvSpPr>
        <p:spPr>
          <a:xfrm>
            <a:off x="548640" y="5504688"/>
            <a:ext cx="11091672" cy="201168"/>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Diagram: MathWorks · Techsource regional webinar deck</a:t>
            </a:r>
          </a:p>
        </p:txBody>
      </p:sp>
      <p:sp>
        <p:nvSpPr>
          <p:cNvPr id="24" name="Rounded Rectangle 23"/>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github.com/matlab/matlab-agentic-toolkit — published by MathWorks, and it runs on the MATLAB licence you already have.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17</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Skills: packaged expertise, loaded on demand</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Tools do things. Skills know how.</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PART 3</a:t>
            </a:r>
          </a:p>
        </p:txBody>
      </p:sp>
      <p:sp>
        <p:nvSpPr>
          <p:cNvPr id="10" name="Rounded Rectangle 9"/>
          <p:cNvSpPr/>
          <p:nvPr/>
        </p:nvSpPr>
        <p:spPr>
          <a:xfrm>
            <a:off x="548640" y="1371600"/>
            <a:ext cx="4754880" cy="30175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31520" y="1499616"/>
            <a:ext cx="4389120" cy="2761487"/>
          </a:xfrm>
          <a:prstGeom prst="rect">
            <a:avLst/>
          </a:prstGeom>
          <a:noFill/>
        </p:spPr>
        <p:txBody>
          <a:bodyPr wrap="square" lIns="0" tIns="0" rIns="0" bIns="0" anchor="t">
            <a:spAutoFit/>
          </a:bodyPr>
          <a:lstStyle/>
          <a:p>
            <a:pPr marL="0" indent="0" algn="l">
              <a:lnSpc>
                <a:spcPct val="100000"/>
              </a:lnSpc>
              <a:spcAft>
                <a:spcPts val="100"/>
              </a:spcAft>
              <a:buNone/>
            </a:pPr>
            <a:r>
              <a:rPr sz="1150" b="0" i="0">
                <a:solidFill>
                  <a:srgbClr val="1F3864"/>
                </a:solidFill>
                <a:latin typeface="Cascadia Mono"/>
                <a:ea typeface="Cascadia Mono"/>
                <a:cs typeface="Cascadia Mono"/>
              </a:rPr>
              <a:t>skills/design-digital-filter/SKILL.md</a:t>
            </a:r>
          </a:p>
          <a:p>
            <a:pPr marL="0" indent="0" algn="l">
              <a:lnSpc>
                <a:spcPct val="100000"/>
              </a:lnSpc>
              <a:spcAft>
                <a:spcPts val="100"/>
              </a:spcAft>
              <a:buNone/>
            </a:pPr>
            <a:endParaRPr sz="1150" b="0" i="0">
              <a:solidFill>
                <a:srgbClr val="1F3864"/>
              </a:solidFill>
              <a:latin typeface="Cascadia Mono"/>
              <a:ea typeface="Cascadia Mono"/>
              <a:cs typeface="Cascadia Mono"/>
            </a:endParaRPr>
          </a:p>
          <a:p>
            <a:pPr marL="0" indent="0" algn="l">
              <a:lnSpc>
                <a:spcPct val="100000"/>
              </a:lnSpc>
              <a:spcAft>
                <a:spcPts val="100"/>
              </a:spcAft>
              <a:buNone/>
            </a:pPr>
            <a:r>
              <a:rPr sz="1150" b="0" i="0">
                <a:solidFill>
                  <a:srgbClr val="1F3864"/>
                </a:solidFill>
                <a:latin typeface="Cascadia Mono"/>
                <a:ea typeface="Cascadia Mono"/>
                <a:cs typeface="Cascadia Mono"/>
              </a:rPr>
              <a:t>---</a:t>
            </a:r>
          </a:p>
          <a:p>
            <a:pPr marL="0" indent="0" algn="l">
              <a:lnSpc>
                <a:spcPct val="100000"/>
              </a:lnSpc>
              <a:spcAft>
                <a:spcPts val="100"/>
              </a:spcAft>
              <a:buNone/>
            </a:pPr>
            <a:r>
              <a:rPr sz="1150" b="0" i="0">
                <a:solidFill>
                  <a:srgbClr val="1F3864"/>
                </a:solidFill>
                <a:latin typeface="Cascadia Mono"/>
                <a:ea typeface="Cascadia Mono"/>
                <a:cs typeface="Cascadia Mono"/>
              </a:rPr>
              <a:t>name: design-digital-filter</a:t>
            </a:r>
          </a:p>
          <a:p>
            <a:pPr marL="0" indent="0" algn="l">
              <a:lnSpc>
                <a:spcPct val="100000"/>
              </a:lnSpc>
              <a:spcAft>
                <a:spcPts val="100"/>
              </a:spcAft>
              <a:buNone/>
            </a:pPr>
            <a:r>
              <a:rPr sz="1150" b="0" i="0">
                <a:solidFill>
                  <a:srgbClr val="1F3864"/>
                </a:solidFill>
                <a:latin typeface="Cascadia Mono"/>
                <a:ea typeface="Cascadia Mono"/>
                <a:cs typeface="Cascadia Mono"/>
              </a:rPr>
              <a:t>description: when to trigger this</a:t>
            </a:r>
          </a:p>
          <a:p>
            <a:pPr marL="0" indent="0" algn="l">
              <a:lnSpc>
                <a:spcPct val="100000"/>
              </a:lnSpc>
              <a:spcAft>
                <a:spcPts val="100"/>
              </a:spcAft>
              <a:buNone/>
            </a:pPr>
            <a:r>
              <a:rPr sz="1150" b="0" i="0">
                <a:solidFill>
                  <a:srgbClr val="1F3864"/>
                </a:solidFill>
                <a:latin typeface="Cascadia Mono"/>
                <a:ea typeface="Cascadia Mono"/>
                <a:cs typeface="Cascadia Mono"/>
              </a:rPr>
              <a:t>  skill - and when not to</a:t>
            </a:r>
          </a:p>
          <a:p>
            <a:pPr marL="0" indent="0" algn="l">
              <a:lnSpc>
                <a:spcPct val="100000"/>
              </a:lnSpc>
              <a:spcAft>
                <a:spcPts val="100"/>
              </a:spcAft>
              <a:buNone/>
            </a:pPr>
            <a:r>
              <a:rPr sz="1150" b="0" i="0">
                <a:solidFill>
                  <a:srgbClr val="1F3864"/>
                </a:solidFill>
                <a:latin typeface="Cascadia Mono"/>
                <a:ea typeface="Cascadia Mono"/>
                <a:cs typeface="Cascadia Mono"/>
              </a:rPr>
              <a:t>---</a:t>
            </a:r>
          </a:p>
          <a:p>
            <a:pPr marL="0" indent="0" algn="l">
              <a:lnSpc>
                <a:spcPct val="100000"/>
              </a:lnSpc>
              <a:spcAft>
                <a:spcPts val="100"/>
              </a:spcAft>
              <a:buNone/>
            </a:pPr>
            <a:endParaRPr sz="1150" b="0" i="0">
              <a:solidFill>
                <a:srgbClr val="1F3864"/>
              </a:solidFill>
              <a:latin typeface="Cascadia Mono"/>
              <a:ea typeface="Cascadia Mono"/>
              <a:cs typeface="Cascadia Mono"/>
            </a:endParaRPr>
          </a:p>
          <a:p>
            <a:pPr marL="0" indent="0" algn="l">
              <a:lnSpc>
                <a:spcPct val="100000"/>
              </a:lnSpc>
              <a:spcAft>
                <a:spcPts val="100"/>
              </a:spcAft>
              <a:buNone/>
            </a:pPr>
            <a:r>
              <a:rPr sz="1150" b="0" i="0">
                <a:solidFill>
                  <a:srgbClr val="1F3864"/>
                </a:solidFill>
                <a:latin typeface="Cascadia Mono"/>
                <a:ea typeface="Cascadia Mono"/>
                <a:cs typeface="Cascadia Mono"/>
              </a:rPr>
              <a:t># Instructions</a:t>
            </a:r>
          </a:p>
          <a:p>
            <a:pPr marL="0" indent="0" algn="l">
              <a:lnSpc>
                <a:spcPct val="100000"/>
              </a:lnSpc>
              <a:spcAft>
                <a:spcPts val="100"/>
              </a:spcAft>
              <a:buNone/>
            </a:pPr>
            <a:r>
              <a:rPr sz="1150" b="0" i="0">
                <a:solidFill>
                  <a:srgbClr val="1F3864"/>
                </a:solidFill>
                <a:latin typeface="Cascadia Mono"/>
                <a:ea typeface="Cascadia Mono"/>
                <a:cs typeface="Cascadia Mono"/>
              </a:rPr>
              <a:t>Correct APIs for this release.</a:t>
            </a:r>
          </a:p>
          <a:p>
            <a:pPr marL="0" indent="0" algn="l">
              <a:lnSpc>
                <a:spcPct val="100000"/>
              </a:lnSpc>
              <a:spcAft>
                <a:spcPts val="100"/>
              </a:spcAft>
              <a:buNone/>
            </a:pPr>
            <a:r>
              <a:rPr sz="1150" b="0" i="0">
                <a:solidFill>
                  <a:srgbClr val="1F3864"/>
                </a:solidFill>
                <a:latin typeface="Cascadia Mono"/>
                <a:ea typeface="Cascadia Mono"/>
                <a:cs typeface="Cascadia Mono"/>
              </a:rPr>
              <a:t>The proven sequence of steps.</a:t>
            </a:r>
          </a:p>
          <a:p>
            <a:pPr marL="0" indent="0" algn="l">
              <a:lnSpc>
                <a:spcPct val="100000"/>
              </a:lnSpc>
              <a:spcAft>
                <a:spcPts val="100"/>
              </a:spcAft>
              <a:buNone/>
            </a:pPr>
            <a:r>
              <a:rPr sz="1150" b="0" i="0">
                <a:solidFill>
                  <a:srgbClr val="1F3864"/>
                </a:solidFill>
                <a:latin typeface="Cascadia Mono"/>
                <a:ea typeface="Cascadia Mono"/>
                <a:cs typeface="Cascadia Mono"/>
              </a:rPr>
              <a:t>Clarifying questions to ask first.</a:t>
            </a:r>
          </a:p>
          <a:p>
            <a:pPr marL="0" indent="0" algn="l">
              <a:lnSpc>
                <a:spcPct val="100000"/>
              </a:lnSpc>
              <a:spcAft>
                <a:spcPts val="100"/>
              </a:spcAft>
              <a:buNone/>
            </a:pPr>
            <a:r>
              <a:rPr sz="1150" b="0" i="0">
                <a:solidFill>
                  <a:srgbClr val="1F3864"/>
                </a:solidFill>
                <a:latin typeface="Cascadia Mono"/>
                <a:ea typeface="Cascadia Mono"/>
                <a:cs typeface="Cascadia Mono"/>
              </a:rPr>
              <a:t>Pitfalls to avoid.</a:t>
            </a:r>
          </a:p>
        </p:txBody>
      </p:sp>
      <p:sp>
        <p:nvSpPr>
          <p:cNvPr id="12" name="Rounded Rectangle 11"/>
          <p:cNvSpPr/>
          <p:nvPr/>
        </p:nvSpPr>
        <p:spPr>
          <a:xfrm>
            <a:off x="5577840" y="1371600"/>
            <a:ext cx="6062472" cy="30175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5815583" y="148132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892027" y="1575145"/>
            <a:ext cx="90342" cy="1598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996269" y="1575145"/>
            <a:ext cx="90342" cy="1598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984107" y="1564721"/>
            <a:ext cx="10424" cy="180685"/>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309359" y="1508760"/>
            <a:ext cx="5093208" cy="292608"/>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What a skill actually buys you</a:t>
            </a:r>
          </a:p>
        </p:txBody>
      </p:sp>
      <p:sp>
        <p:nvSpPr>
          <p:cNvPr id="18" name="TextBox 17"/>
          <p:cNvSpPr txBox="1"/>
          <p:nvPr/>
        </p:nvSpPr>
        <p:spPr>
          <a:xfrm>
            <a:off x="5815583" y="1911095"/>
            <a:ext cx="5586983" cy="2368296"/>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50" b="1" i="0">
                <a:solidFill>
                  <a:srgbClr val="262626"/>
                </a:solidFill>
                <a:latin typeface="Product Sans"/>
                <a:ea typeface="Product Sans"/>
                <a:cs typeface="Product Sans"/>
              </a:rPr>
              <a:t>The right knowledge at the right time — loaded only when the task matches, so hundreds cost nothing until used</a:t>
            </a:r>
          </a:p>
          <a:p>
            <a:pPr marL="127000" indent="-127000" algn="l">
              <a:lnSpc>
                <a:spcPct val="100000"/>
              </a:lnSpc>
              <a:spcAft>
                <a:spcPts val="600"/>
              </a:spcAft>
              <a:buSzPct val="100000"/>
              <a:buChar char="•"/>
            </a:pPr>
            <a:r>
              <a:rPr sz="1250" b="1" i="0">
                <a:solidFill>
                  <a:srgbClr val="262626"/>
                </a:solidFill>
                <a:latin typeface="Product Sans"/>
                <a:ea typeface="Product Sans"/>
                <a:cs typeface="Product Sans"/>
              </a:rPr>
              <a:t>Reliability: proven procedures encoded, and grounding against hallucination</a:t>
            </a:r>
          </a:p>
          <a:p>
            <a:pPr marL="127000" indent="-127000" algn="l">
              <a:lnSpc>
                <a:spcPct val="100000"/>
              </a:lnSpc>
              <a:spcAft>
                <a:spcPts val="600"/>
              </a:spcAft>
              <a:buSzPct val="100000"/>
              <a:buChar char="•"/>
            </a:pPr>
            <a:r>
              <a:rPr sz="1250" b="1" i="0">
                <a:solidFill>
                  <a:srgbClr val="262626"/>
                </a:solidFill>
                <a:latin typeface="Product Sans"/>
                <a:ea typeface="Product Sans"/>
                <a:cs typeface="Product Sans"/>
              </a:rPr>
              <a:t>Knowledge the model cannot have: your domain conventions and your institutional memory</a:t>
            </a:r>
          </a:p>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Without one the agent improvises. With one it asked about phase distortion instead of guessing a filter.</a:t>
            </a:r>
          </a:p>
        </p:txBody>
      </p:sp>
      <p:sp>
        <p:nvSpPr>
          <p:cNvPr id="19" name="Rounded Rectangle 18"/>
          <p:cNvSpPr/>
          <p:nvPr/>
        </p:nvSpPr>
        <p:spPr>
          <a:xfrm>
            <a:off x="548640" y="4572000"/>
            <a:ext cx="11091672" cy="914400"/>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7240" y="4663440"/>
            <a:ext cx="10634472" cy="237744"/>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WHAT SHIPS TODAY</a:t>
            </a:r>
          </a:p>
        </p:txBody>
      </p:sp>
      <p:sp>
        <p:nvSpPr>
          <p:cNvPr id="21" name="TextBox 20"/>
          <p:cNvSpPr txBox="1"/>
          <p:nvPr/>
        </p:nvSpPr>
        <p:spPr>
          <a:xfrm>
            <a:off x="777240" y="4919472"/>
            <a:ext cx="10634472" cy="475488"/>
          </a:xfrm>
          <a:prstGeom prst="rect">
            <a:avLst/>
          </a:prstGeom>
          <a:noFill/>
        </p:spPr>
        <p:txBody>
          <a:bodyPr wrap="square" lIns="0" tIns="0" rIns="0" bIns="0" anchor="t">
            <a:spAutoFit/>
          </a:bodyPr>
          <a:lstStyle/>
          <a:p>
            <a:pPr marL="127000" indent="-127000" algn="l">
              <a:lnSpc>
                <a:spcPct val="100000"/>
              </a:lnSpc>
              <a:spcAft>
                <a:spcPts val="400"/>
              </a:spcAft>
              <a:buSzPct val="100000"/>
              <a:buChar char="•"/>
            </a:pPr>
            <a:r>
              <a:rPr sz="1050" b="0" i="0">
                <a:solidFill>
                  <a:srgbClr val="262626"/>
                </a:solidFill>
                <a:latin typeface="Product Sans"/>
                <a:ea typeface="Product Sans"/>
                <a:cs typeface="Product Sans"/>
              </a:rPr>
              <a:t>MATLAB Agentic Toolkit — 155 skills across 25 domains (automotive, signal processing, AI, RF, test &amp; measurement, code generation)</a:t>
            </a:r>
          </a:p>
          <a:p>
            <a:pPr marL="127000" indent="-127000" algn="l">
              <a:lnSpc>
                <a:spcPct val="100000"/>
              </a:lnSpc>
              <a:spcAft>
                <a:spcPts val="400"/>
              </a:spcAft>
              <a:buSzPct val="100000"/>
              <a:buChar char="•"/>
            </a:pPr>
            <a:r>
              <a:rPr sz="1050" b="0" i="0">
                <a:solidFill>
                  <a:srgbClr val="262626"/>
                </a:solidFill>
                <a:latin typeface="Product Sans"/>
                <a:ea typeface="Product Sans"/>
                <a:cs typeface="Product Sans"/>
              </a:rPr>
              <a:t>Simulink Agentic Toolkit — 22 MBD skills across 6 groups (modelling, MBSE, verification, simulation, code gen, control) — updated weekly</a:t>
            </a:r>
          </a:p>
        </p:txBody>
      </p:sp>
      <p:sp>
        <p:nvSpPr>
          <p:cNvPr id="22" name="Rounded Rectangle 21"/>
          <p:cNvSpPr/>
          <p:nvPr/>
        </p:nvSpPr>
        <p:spPr>
          <a:xfrm>
            <a:off x="548640" y="566928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85800" y="566928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Skills tell your agent how to do things correctly the first time around — and a skill is just a markdown file.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18</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Author your own skill — encode a lab standard</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The convention you re-explain to every new student becomes something the agent applies every time</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PART 3</a:t>
            </a:r>
          </a:p>
        </p:txBody>
      </p:sp>
      <p:sp>
        <p:nvSpPr>
          <p:cNvPr id="10" name="TextBox 9"/>
          <p:cNvSpPr txBox="1"/>
          <p:nvPr/>
        </p:nvSpPr>
        <p:spPr>
          <a:xfrm>
            <a:off x="548640" y="1344168"/>
            <a:ext cx="6675120" cy="237744"/>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PROMPT — COPY &amp; PASTE</a:t>
            </a:r>
          </a:p>
        </p:txBody>
      </p:sp>
      <p:sp>
        <p:nvSpPr>
          <p:cNvPr id="11" name="Rounded Rectangle 10"/>
          <p:cNvSpPr/>
          <p:nvPr/>
        </p:nvSpPr>
        <p:spPr>
          <a:xfrm>
            <a:off x="548640" y="1600200"/>
            <a:ext cx="6675120" cy="23317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1728216"/>
            <a:ext cx="6309359" cy="2075687"/>
          </a:xfrm>
          <a:prstGeom prst="rect">
            <a:avLst/>
          </a:prstGeom>
          <a:noFill/>
        </p:spPr>
        <p:txBody>
          <a:bodyPr wrap="square" lIns="0" tIns="0" rIns="0" bIns="0" anchor="t">
            <a:spAutoFit/>
          </a:bodyPr>
          <a:lstStyle/>
          <a:p>
            <a:pPr marL="0" indent="0" algn="l">
              <a:lnSpc>
                <a:spcPct val="100000"/>
              </a:lnSpc>
              <a:spcAft>
                <a:spcPts val="100"/>
              </a:spcAft>
              <a:buNone/>
            </a:pPr>
            <a:r>
              <a:rPr sz="1100" b="0" i="0">
                <a:solidFill>
                  <a:srgbClr val="1F3864"/>
                </a:solidFill>
                <a:latin typeface="Cascadia Mono"/>
                <a:ea typeface="Cascadia Mono"/>
                <a:cs typeface="Cascadia Mono"/>
              </a:rPr>
              <a:t>Create a skill called ancl-model-standard:</a:t>
            </a:r>
          </a:p>
          <a:p>
            <a:pPr marL="0" indent="0" algn="l">
              <a:lnSpc>
                <a:spcPct val="100000"/>
              </a:lnSpc>
              <a:spcAft>
                <a:spcPts val="100"/>
              </a:spcAft>
              <a:buNone/>
            </a:pPr>
            <a:endParaRPr sz="1100" b="0" i="0">
              <a:solidFill>
                <a:srgbClr val="1F3864"/>
              </a:solidFill>
              <a:latin typeface="Cascadia Mono"/>
              <a:ea typeface="Cascadia Mono"/>
              <a:cs typeface="Cascadia Mono"/>
            </a:endParaRPr>
          </a:p>
          <a:p>
            <a:pPr marL="0" indent="0" algn="l">
              <a:lnSpc>
                <a:spcPct val="100000"/>
              </a:lnSpc>
              <a:spcAft>
                <a:spcPts val="100"/>
              </a:spcAft>
              <a:buNone/>
            </a:pPr>
            <a:r>
              <a:rPr sz="1100" b="0" i="0">
                <a:solidFill>
                  <a:srgbClr val="1F3864"/>
                </a:solidFill>
                <a:latin typeface="Cascadia Mono"/>
                <a:ea typeface="Cascadia Mono"/>
                <a:cs typeface="Cascadia Mono"/>
              </a:rPr>
              <a:t>  new models use fixed-step ode3 at 1 ms unless</a:t>
            </a:r>
          </a:p>
          <a:p>
            <a:pPr marL="0" indent="0" algn="l">
              <a:lnSpc>
                <a:spcPct val="100000"/>
              </a:lnSpc>
              <a:spcAft>
                <a:spcPts val="100"/>
              </a:spcAft>
              <a:buNone/>
            </a:pPr>
            <a:r>
              <a:rPr sz="1100" b="0" i="0">
                <a:solidFill>
                  <a:srgbClr val="1F3864"/>
                </a:solidFill>
                <a:latin typeface="Cascadia Mono"/>
                <a:ea typeface="Cascadia Mono"/>
                <a:cs typeface="Cascadia Mono"/>
              </a:rPr>
              <a:t>  justified; signals on named buses per our</a:t>
            </a:r>
          </a:p>
          <a:p>
            <a:pPr marL="0" indent="0" algn="l">
              <a:lnSpc>
                <a:spcPct val="100000"/>
              </a:lnSpc>
              <a:spcAft>
                <a:spcPts val="100"/>
              </a:spcAft>
              <a:buNone/>
            </a:pPr>
            <a:r>
              <a:rPr sz="1100" b="0" i="0">
                <a:solidFill>
                  <a:srgbClr val="1F3864"/>
                </a:solidFill>
                <a:latin typeface="Cascadia Mono"/>
                <a:ea typeface="Cascadia Mono"/>
                <a:cs typeface="Cascadia Mono"/>
              </a:rPr>
              <a:t>  convention; no Goto/From across subsystem</a:t>
            </a:r>
          </a:p>
          <a:p>
            <a:pPr marL="0" indent="0" algn="l">
              <a:lnSpc>
                <a:spcPct val="100000"/>
              </a:lnSpc>
              <a:spcAft>
                <a:spcPts val="100"/>
              </a:spcAft>
              <a:buNone/>
            </a:pPr>
            <a:r>
              <a:rPr sz="1100" b="0" i="0">
                <a:solidFill>
                  <a:srgbClr val="1F3864"/>
                </a:solidFill>
                <a:latin typeface="Cascadia Mono"/>
                <a:ea typeface="Cascadia Mono"/>
                <a:cs typeface="Cascadia Mono"/>
              </a:rPr>
              <a:t>  boundaries; every subsystem documented;</a:t>
            </a:r>
          </a:p>
          <a:p>
            <a:pPr marL="0" indent="0" algn="l">
              <a:lnSpc>
                <a:spcPct val="100000"/>
              </a:lnSpc>
              <a:spcAft>
                <a:spcPts val="100"/>
              </a:spcAft>
              <a:buNone/>
            </a:pPr>
            <a:r>
              <a:rPr sz="1100" b="0" i="0">
                <a:solidFill>
                  <a:srgbClr val="1F3864"/>
                </a:solidFill>
                <a:latin typeface="Cascadia Mono"/>
                <a:ea typeface="Cascadia Mono"/>
                <a:cs typeface="Cascadia Mono"/>
              </a:rPr>
              <a:t>  every figure exported at 300 dpi with</a:t>
            </a:r>
          </a:p>
          <a:p>
            <a:pPr marL="0" indent="0" algn="l">
              <a:lnSpc>
                <a:spcPct val="100000"/>
              </a:lnSpc>
              <a:spcAft>
                <a:spcPts val="100"/>
              </a:spcAft>
              <a:buNone/>
            </a:pPr>
            <a:r>
              <a:rPr sz="1100" b="0" i="0">
                <a:solidFill>
                  <a:srgbClr val="1F3864"/>
                </a:solidFill>
                <a:latin typeface="Cascadia Mono"/>
                <a:ea typeface="Cascadia Mono"/>
                <a:cs typeface="Cascadia Mono"/>
              </a:rPr>
              <a:t>  labelled axes and units.</a:t>
            </a:r>
          </a:p>
          <a:p>
            <a:pPr marL="0" indent="0" algn="l">
              <a:lnSpc>
                <a:spcPct val="100000"/>
              </a:lnSpc>
              <a:spcAft>
                <a:spcPts val="100"/>
              </a:spcAft>
              <a:buNone/>
            </a:pPr>
            <a:endParaRPr sz="1100" b="0" i="0">
              <a:solidFill>
                <a:srgbClr val="1F3864"/>
              </a:solidFill>
              <a:latin typeface="Cascadia Mono"/>
              <a:ea typeface="Cascadia Mono"/>
              <a:cs typeface="Cascadia Mono"/>
            </a:endParaRPr>
          </a:p>
          <a:p>
            <a:pPr marL="0" indent="0" algn="l">
              <a:lnSpc>
                <a:spcPct val="100000"/>
              </a:lnSpc>
              <a:spcAft>
                <a:spcPts val="100"/>
              </a:spcAft>
              <a:buNone/>
            </a:pPr>
            <a:r>
              <a:rPr sz="1100" b="0" i="0">
                <a:solidFill>
                  <a:srgbClr val="1F3864"/>
                </a:solidFill>
                <a:latin typeface="Cascadia Mono"/>
                <a:ea typeface="Cascadia Mono"/>
                <a:cs typeface="Cascadia Mono"/>
              </a:rPr>
              <a:t>Use the toolkit skills as a structural template.</a:t>
            </a:r>
          </a:p>
          <a:p>
            <a:pPr marL="0" indent="0" algn="l">
              <a:lnSpc>
                <a:spcPct val="100000"/>
              </a:lnSpc>
              <a:spcAft>
                <a:spcPts val="100"/>
              </a:spcAft>
              <a:buNone/>
            </a:pPr>
            <a:r>
              <a:rPr sz="1100" b="0" i="0">
                <a:solidFill>
                  <a:srgbClr val="1F3864"/>
                </a:solidFill>
                <a:latin typeface="Cascadia Mono"/>
                <a:ea typeface="Cascadia Mono"/>
                <a:cs typeface="Cascadia Mono"/>
              </a:rPr>
              <a:t>Then build any new model and show me it complies.</a:t>
            </a:r>
          </a:p>
        </p:txBody>
      </p:sp>
      <p:sp>
        <p:nvSpPr>
          <p:cNvPr id="13" name="Rounded Rectangle 12"/>
          <p:cNvSpPr/>
          <p:nvPr/>
        </p:nvSpPr>
        <p:spPr>
          <a:xfrm>
            <a:off x="7543800" y="1600200"/>
            <a:ext cx="4114800" cy="23317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7781544" y="170992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5-Point Star 14"/>
          <p:cNvSpPr/>
          <p:nvPr/>
        </p:nvSpPr>
        <p:spPr>
          <a:xfrm>
            <a:off x="7859725" y="1788109"/>
            <a:ext cx="191109" cy="191109"/>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75320" y="1737360"/>
            <a:ext cx="3145536"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Good skills are…</a:t>
            </a:r>
          </a:p>
        </p:txBody>
      </p:sp>
      <p:sp>
        <p:nvSpPr>
          <p:cNvPr id="17" name="TextBox 16"/>
          <p:cNvSpPr txBox="1"/>
          <p:nvPr/>
        </p:nvSpPr>
        <p:spPr>
          <a:xfrm>
            <a:off x="7781544" y="2139696"/>
            <a:ext cx="3639312" cy="16824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Narrow — one workflow, done right</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Triggered precisely — the description says when, and when not</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Tested — try prompts that should and should not fire it</a:t>
            </a:r>
          </a:p>
        </p:txBody>
      </p:sp>
      <p:sp>
        <p:nvSpPr>
          <p:cNvPr id="18" name="Rounded Rectangle 17"/>
          <p:cNvSpPr/>
          <p:nvPr/>
        </p:nvSpPr>
        <p:spPr>
          <a:xfrm>
            <a:off x="548640" y="4069080"/>
            <a:ext cx="5394960" cy="14173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786384" y="417880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Document 19"/>
          <p:cNvSpPr/>
          <p:nvPr/>
        </p:nvSpPr>
        <p:spPr>
          <a:xfrm>
            <a:off x="886282" y="4265676"/>
            <a:ext cx="147675" cy="173736"/>
          </a:xfrm>
          <a:prstGeom prst="flowChartDocumen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280160" y="4206240"/>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What labs encode first</a:t>
            </a:r>
          </a:p>
        </p:txBody>
      </p:sp>
      <p:sp>
        <p:nvSpPr>
          <p:cNvPr id="22" name="TextBox 21"/>
          <p:cNvSpPr txBox="1"/>
          <p:nvPr/>
        </p:nvSpPr>
        <p:spPr>
          <a:xfrm>
            <a:off x="786384" y="4608576"/>
            <a:ext cx="4919472" cy="7680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Modelling conventions: naming, bus structure, solver policy</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Review checklists the agent must satisfy before handover</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Report and figure formats for papers and deliverables</a:t>
            </a:r>
          </a:p>
        </p:txBody>
      </p:sp>
      <p:sp>
        <p:nvSpPr>
          <p:cNvPr id="23" name="Rounded Rectangle 22"/>
          <p:cNvSpPr/>
          <p:nvPr/>
        </p:nvSpPr>
        <p:spPr>
          <a:xfrm>
            <a:off x="6245352" y="4069080"/>
            <a:ext cx="5394960" cy="14173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6483096" y="417880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483096" y="4178808"/>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900" b="0" i="0">
                <a:solidFill>
                  <a:srgbClr val="FFFFFF"/>
                </a:solidFill>
                <a:latin typeface="Cascadia Mono"/>
                <a:ea typeface="Cascadia Mono"/>
                <a:cs typeface="Cascadia Mono"/>
              </a:rPr>
              <a:t>{ }</a:t>
            </a:r>
          </a:p>
        </p:txBody>
      </p:sp>
      <p:sp>
        <p:nvSpPr>
          <p:cNvPr id="26" name="TextBox 25"/>
          <p:cNvSpPr txBox="1"/>
          <p:nvPr/>
        </p:nvSpPr>
        <p:spPr>
          <a:xfrm>
            <a:off x="6976872" y="4206240"/>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Manage them like code</a:t>
            </a:r>
          </a:p>
        </p:txBody>
      </p:sp>
      <p:sp>
        <p:nvSpPr>
          <p:cNvPr id="27" name="TextBox 26"/>
          <p:cNvSpPr txBox="1"/>
          <p:nvPr/>
        </p:nvSpPr>
        <p:spPr>
          <a:xfrm>
            <a:off x="6483096" y="4608576"/>
            <a:ext cx="4919472" cy="7680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050" b="0" i="0">
                <a:solidFill>
                  <a:srgbClr val="262626"/>
                </a:solidFill>
                <a:latin typeface="Product Sans"/>
                <a:ea typeface="Product Sans"/>
                <a:cs typeface="Product Sans"/>
              </a:rPr>
              <a:t>Keep skills in git next to the project they govern</a:t>
            </a:r>
          </a:p>
          <a:p>
            <a:pPr marL="127000" indent="-127000" algn="l">
              <a:lnSpc>
                <a:spcPct val="100000"/>
              </a:lnSpc>
              <a:spcAft>
                <a:spcPts val="600"/>
              </a:spcAft>
              <a:buSzPct val="100000"/>
              <a:buChar char="•"/>
            </a:pPr>
            <a:r>
              <a:rPr sz="1050" b="0" i="0">
                <a:solidFill>
                  <a:srgbClr val="262626"/>
                </a:solidFill>
                <a:latin typeface="Product Sans"/>
                <a:ea typeface="Product Sans"/>
                <a:cs typeface="Product Sans"/>
              </a:rPr>
              <a:t>Keep yours separate from the MathWorks catalog — updates will not overwrite them</a:t>
            </a:r>
          </a:p>
          <a:p>
            <a:pPr marL="127000" indent="-127000" algn="l">
              <a:lnSpc>
                <a:spcPct val="100000"/>
              </a:lnSpc>
              <a:spcAft>
                <a:spcPts val="600"/>
              </a:spcAft>
              <a:buSzPct val="100000"/>
              <a:buChar char="•"/>
            </a:pPr>
            <a:r>
              <a:rPr sz="1050" b="0" i="0">
                <a:solidFill>
                  <a:srgbClr val="262626"/>
                </a:solidFill>
                <a:latin typeface="Product Sans"/>
                <a:ea typeface="Product Sans"/>
                <a:cs typeface="Product Sans"/>
              </a:rPr>
              <a:t>One shared repo per lab; layer, do not fork</a:t>
            </a:r>
          </a:p>
        </p:txBody>
      </p:sp>
      <p:sp>
        <p:nvSpPr>
          <p:cNvPr id="28" name="Rounded Rectangle 27"/>
          <p:cNvSpPr/>
          <p:nvPr/>
        </p:nvSpPr>
        <p:spPr>
          <a:xfrm>
            <a:off x="548640" y="566928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85800" y="566928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Rubric checks, data pipelines, naming rules, report formats — institutional memory your agent applies every time.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20</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dirty="0">
                <a:solidFill>
                  <a:srgbClr val="4472C4"/>
                </a:solidFill>
                <a:latin typeface="Product Sans"/>
                <a:ea typeface="Product Sans"/>
                <a:cs typeface="Product Sans"/>
              </a:rPr>
              <a:t>Simulink Agentic Toolkit — the model side</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Connect agents to Simulink, giving them both the ability and the knowledge to work with models</a:t>
            </a:r>
          </a:p>
        </p:txBody>
      </p:sp>
      <p:sp>
        <p:nvSpPr>
          <p:cNvPr id="8" name="Rounded Rectangle 7"/>
          <p:cNvSpPr/>
          <p:nvPr/>
        </p:nvSpPr>
        <p:spPr>
          <a:xfrm>
            <a:off x="548640" y="1298448"/>
            <a:ext cx="5989320" cy="1170432"/>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786384" y="1408175"/>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Donut 9"/>
          <p:cNvSpPr/>
          <p:nvPr/>
        </p:nvSpPr>
        <p:spPr>
          <a:xfrm>
            <a:off x="852403" y="1522841"/>
            <a:ext cx="125089" cy="125089"/>
          </a:xfrm>
          <a:prstGeom prst="donut">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Donut 10"/>
          <p:cNvSpPr/>
          <p:nvPr/>
        </p:nvSpPr>
        <p:spPr>
          <a:xfrm>
            <a:off x="942746" y="1522841"/>
            <a:ext cx="125089" cy="125089"/>
          </a:xfrm>
          <a:prstGeom prst="donut">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280160" y="1435607"/>
            <a:ext cx="5020056" cy="292608"/>
          </a:xfrm>
          <a:prstGeom prst="rect">
            <a:avLst/>
          </a:prstGeom>
          <a:noFill/>
        </p:spPr>
        <p:txBody>
          <a:bodyPr wrap="square" lIns="0" tIns="0" rIns="0" bIns="0" anchor="ctr">
            <a:spAutoFit/>
          </a:bodyPr>
          <a:lstStyle/>
          <a:p>
            <a:pPr marL="0" indent="0" algn="l">
              <a:lnSpc>
                <a:spcPct val="100000"/>
              </a:lnSpc>
              <a:spcAft>
                <a:spcPts val="400"/>
              </a:spcAft>
              <a:buNone/>
            </a:pPr>
            <a:r>
              <a:rPr sz="1400" b="0" i="0">
                <a:solidFill>
                  <a:srgbClr val="1F3864"/>
                </a:solidFill>
                <a:latin typeface="Product Sans"/>
                <a:ea typeface="Product Sans"/>
                <a:cs typeface="Product Sans"/>
              </a:rPr>
              <a:t>Builds on the MATLAB MCP Server</a:t>
            </a:r>
          </a:p>
        </p:txBody>
      </p:sp>
      <p:sp>
        <p:nvSpPr>
          <p:cNvPr id="13" name="TextBox 12"/>
          <p:cNvSpPr txBox="1"/>
          <p:nvPr/>
        </p:nvSpPr>
        <p:spPr>
          <a:xfrm>
            <a:off x="786384" y="1837943"/>
            <a:ext cx="5513831" cy="521208"/>
          </a:xfrm>
          <a:prstGeom prst="rect">
            <a:avLst/>
          </a:prstGeom>
          <a:noFill/>
        </p:spPr>
        <p:txBody>
          <a:bodyPr wrap="square" lIns="0" tIns="0" rIns="0" bIns="0" anchor="t">
            <a:spAutoFit/>
          </a:bodyPr>
          <a:lstStyle/>
          <a:p>
            <a:pPr marL="0" indent="0" algn="l">
              <a:lnSpc>
                <a:spcPct val="100000"/>
              </a:lnSpc>
              <a:spcAft>
                <a:spcPts val="600"/>
              </a:spcAft>
              <a:buNone/>
            </a:pPr>
            <a:r>
              <a:rPr sz="1300" b="0" i="0">
                <a:solidFill>
                  <a:srgbClr val="262626"/>
                </a:solidFill>
                <a:latin typeface="Product Sans"/>
                <a:ea typeface="Product Sans"/>
                <a:cs typeface="Product Sans"/>
              </a:rPr>
              <a:t>Same binary, same setup. Installing both toolkits is one pass.</a:t>
            </a:r>
          </a:p>
        </p:txBody>
      </p:sp>
      <p:sp>
        <p:nvSpPr>
          <p:cNvPr id="14" name="Rounded Rectangle 13"/>
          <p:cNvSpPr/>
          <p:nvPr/>
        </p:nvSpPr>
        <p:spPr>
          <a:xfrm>
            <a:off x="548640" y="2615184"/>
            <a:ext cx="5989320" cy="137160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786384" y="2724912"/>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Gear 6 15"/>
          <p:cNvSpPr/>
          <p:nvPr/>
        </p:nvSpPr>
        <p:spPr>
          <a:xfrm>
            <a:off x="873252" y="2811779"/>
            <a:ext cx="173736" cy="173736"/>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280160" y="2752344"/>
            <a:ext cx="5020056" cy="292608"/>
          </a:xfrm>
          <a:prstGeom prst="rect">
            <a:avLst/>
          </a:prstGeom>
          <a:noFill/>
        </p:spPr>
        <p:txBody>
          <a:bodyPr wrap="square" lIns="0" tIns="0" rIns="0" bIns="0" anchor="ctr">
            <a:spAutoFit/>
          </a:bodyPr>
          <a:lstStyle/>
          <a:p>
            <a:pPr marL="0" indent="0" algn="l">
              <a:lnSpc>
                <a:spcPct val="100000"/>
              </a:lnSpc>
              <a:spcAft>
                <a:spcPts val="400"/>
              </a:spcAft>
              <a:buNone/>
            </a:pPr>
            <a:r>
              <a:rPr sz="1400" b="0" i="0">
                <a:solidFill>
                  <a:srgbClr val="1F3864"/>
                </a:solidFill>
                <a:latin typeface="Product Sans"/>
                <a:ea typeface="Product Sans"/>
                <a:cs typeface="Product Sans"/>
              </a:rPr>
              <a:t>MCP tools built for models</a:t>
            </a:r>
          </a:p>
        </p:txBody>
      </p:sp>
      <p:sp>
        <p:nvSpPr>
          <p:cNvPr id="18" name="TextBox 17"/>
          <p:cNvSpPr txBox="1"/>
          <p:nvPr/>
        </p:nvSpPr>
        <p:spPr>
          <a:xfrm>
            <a:off x="786384" y="3154679"/>
            <a:ext cx="5513831" cy="722375"/>
          </a:xfrm>
          <a:prstGeom prst="rect">
            <a:avLst/>
          </a:prstGeom>
          <a:noFill/>
        </p:spPr>
        <p:txBody>
          <a:bodyPr wrap="square" lIns="0" tIns="0" rIns="0" bIns="0" anchor="t">
            <a:spAutoFit/>
          </a:bodyPr>
          <a:lstStyle/>
          <a:p>
            <a:pPr marL="0" indent="0" algn="l">
              <a:lnSpc>
                <a:spcPct val="100000"/>
              </a:lnSpc>
              <a:spcAft>
                <a:spcPts val="600"/>
              </a:spcAft>
              <a:buNone/>
            </a:pPr>
            <a:r>
              <a:rPr sz="1300" b="0" i="0">
                <a:solidFill>
                  <a:srgbClr val="262626"/>
                </a:solidFill>
                <a:latin typeface="Product Sans"/>
                <a:ea typeface="Product Sans"/>
                <a:cs typeface="Product Sans"/>
              </a:rPr>
              <a:t>Reading, editing, querying, testing and checking Simulink models — eight tools, not raw scripting against a canvas.</a:t>
            </a:r>
          </a:p>
        </p:txBody>
      </p:sp>
      <p:sp>
        <p:nvSpPr>
          <p:cNvPr id="19" name="Rounded Rectangle 18"/>
          <p:cNvSpPr/>
          <p:nvPr/>
        </p:nvSpPr>
        <p:spPr>
          <a:xfrm>
            <a:off x="548640" y="4133087"/>
            <a:ext cx="5989320" cy="1316736"/>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786384" y="4242816"/>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62827" y="4336633"/>
            <a:ext cx="90342" cy="1598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967069" y="4336633"/>
            <a:ext cx="90342" cy="1598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954907" y="4326209"/>
            <a:ext cx="10424" cy="180685"/>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280160" y="4270248"/>
            <a:ext cx="5020056" cy="292608"/>
          </a:xfrm>
          <a:prstGeom prst="rect">
            <a:avLst/>
          </a:prstGeom>
          <a:noFill/>
        </p:spPr>
        <p:txBody>
          <a:bodyPr wrap="square" lIns="0" tIns="0" rIns="0" bIns="0" anchor="ctr">
            <a:spAutoFit/>
          </a:bodyPr>
          <a:lstStyle/>
          <a:p>
            <a:pPr marL="0" indent="0" algn="l">
              <a:lnSpc>
                <a:spcPct val="100000"/>
              </a:lnSpc>
              <a:spcAft>
                <a:spcPts val="400"/>
              </a:spcAft>
              <a:buNone/>
            </a:pPr>
            <a:r>
              <a:rPr sz="1400" b="0" i="0">
                <a:solidFill>
                  <a:srgbClr val="1F3864"/>
                </a:solidFill>
                <a:latin typeface="Product Sans"/>
                <a:ea typeface="Product Sans"/>
                <a:cs typeface="Product Sans"/>
              </a:rPr>
              <a:t>Skills that encode Model-Based Design</a:t>
            </a:r>
          </a:p>
        </p:txBody>
      </p:sp>
      <p:sp>
        <p:nvSpPr>
          <p:cNvPr id="25" name="TextBox 24"/>
          <p:cNvSpPr txBox="1"/>
          <p:nvPr/>
        </p:nvSpPr>
        <p:spPr>
          <a:xfrm>
            <a:off x="786384" y="4672584"/>
            <a:ext cx="5513831" cy="667511"/>
          </a:xfrm>
          <a:prstGeom prst="rect">
            <a:avLst/>
          </a:prstGeom>
          <a:noFill/>
        </p:spPr>
        <p:txBody>
          <a:bodyPr wrap="square" lIns="0" tIns="0" rIns="0" bIns="0" anchor="t">
            <a:spAutoFit/>
          </a:bodyPr>
          <a:lstStyle/>
          <a:p>
            <a:pPr marL="0" indent="0" algn="l">
              <a:lnSpc>
                <a:spcPct val="100000"/>
              </a:lnSpc>
              <a:spcAft>
                <a:spcPts val="600"/>
              </a:spcAft>
              <a:buNone/>
            </a:pPr>
            <a:r>
              <a:rPr sz="1300" b="0" i="0">
                <a:solidFill>
                  <a:srgbClr val="262626"/>
                </a:solidFill>
                <a:latin typeface="Product Sans"/>
                <a:ea typeface="Product Sans"/>
                <a:cs typeface="Product Sans"/>
              </a:rPr>
              <a:t>Model building, plant specification, testing, requirements and architecture modelling — the practice, not just the API.</a:t>
            </a:r>
          </a:p>
        </p:txBody>
      </p:sp>
      <p:sp>
        <p:nvSpPr>
          <p:cNvPr id="27" name="TextBox 26"/>
          <p:cNvSpPr txBox="1"/>
          <p:nvPr/>
        </p:nvSpPr>
        <p:spPr>
          <a:xfrm>
            <a:off x="548640" y="5504688"/>
            <a:ext cx="11091672" cy="201168"/>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Diagram: MathWorks · “Agentic AI Workflows with MATLAB and Simulink”</a:t>
            </a:r>
          </a:p>
        </p:txBody>
      </p:sp>
      <p:sp>
        <p:nvSpPr>
          <p:cNvPr id="28" name="Rounded Rectangle 27"/>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github.com/matlab/simulink-agentic-toolkit — R2023a or later, with Simulink.</a:t>
            </a:r>
          </a:p>
        </p:txBody>
      </p:sp>
      <p:pic>
        <p:nvPicPr>
          <p:cNvPr id="31" name="Picture 30">
            <a:extLst>
              <a:ext uri="{FF2B5EF4-FFF2-40B4-BE49-F238E27FC236}">
                <a16:creationId xmlns:a16="http://schemas.microsoft.com/office/drawing/2014/main" id="{6778AF81-3CB0-4E44-17AB-174A9BBA9E4F}"/>
              </a:ext>
            </a:extLst>
          </p:cNvPr>
          <p:cNvPicPr>
            <a:picLocks noChangeAspect="1"/>
          </p:cNvPicPr>
          <p:nvPr/>
        </p:nvPicPr>
        <p:blipFill>
          <a:blip r:embed="rId4"/>
          <a:stretch>
            <a:fillRect/>
          </a:stretch>
        </p:blipFill>
        <p:spPr>
          <a:xfrm>
            <a:off x="7795317" y="1298984"/>
            <a:ext cx="3533856" cy="410511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21</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Eight tools that see and touch your model</a:t>
            </a:r>
            <a:endParaRPr lang="en-US" sz="2400" dirty="0"/>
          </a:p>
        </p:txBody>
      </p:sp>
      <p:sp>
        <p:nvSpPr>
          <p:cNvPr id="7" name="Text 3"/>
          <p:cNvSpPr/>
          <p:nvPr/>
        </p:nvSpPr>
        <p:spPr>
          <a:xfrm>
            <a:off x="548640" y="859536"/>
            <a:ext cx="8869680" cy="292608"/>
          </a:xfrm>
          <a:prstGeom prst="rect">
            <a:avLst/>
          </a:prstGeom>
          <a:noFill/>
          <a:ln/>
        </p:spPr>
        <p:txBody>
          <a:bodyPr wrap="square" lIns="0" tIns="0" rIns="0" bIns="0" rtlCol="0" anchor="ctr"/>
          <a:lstStyle/>
          <a:p>
            <a:pPr marL="0" indent="0">
              <a:buNone/>
            </a:pPr>
            <a:r>
              <a:rPr lang="en-US" sz="1250" b="0" i="1" dirty="0">
                <a:solidFill>
                  <a:srgbClr val="595959"/>
                </a:solidFill>
                <a:latin typeface="Product Sans" pitchFamily="34" charset="0"/>
                <a:ea typeface="Product Sans" pitchFamily="34" charset="-122"/>
                <a:cs typeface="Product Sans" pitchFamily="34" charset="-120"/>
              </a:rPr>
              <a:t>No screenshots, no guessing — structured access to the real thing</a:t>
            </a:r>
            <a:endParaRPr lang="en-US" sz="1250" dirty="0"/>
          </a:p>
        </p:txBody>
      </p:sp>
      <p:sp>
        <p:nvSpPr>
          <p:cNvPr id="8" name="Shape 4"/>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9" name="Text 5"/>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PART 3</a:t>
            </a:r>
            <a:endParaRPr lang="en-US" sz="950" dirty="0"/>
          </a:p>
        </p:txBody>
      </p:sp>
      <p:sp>
        <p:nvSpPr>
          <p:cNvPr id="10" name="Shape 6"/>
          <p:cNvSpPr/>
          <p:nvPr/>
        </p:nvSpPr>
        <p:spPr>
          <a:xfrm>
            <a:off x="548640" y="1481328"/>
            <a:ext cx="5404104" cy="914400"/>
          </a:xfrm>
          <a:prstGeom prst="roundRect">
            <a:avLst>
              <a:gd name="adj" fmla="val 6000"/>
            </a:avLst>
          </a:prstGeom>
          <a:solidFill>
            <a:srgbClr val="F2F5FB"/>
          </a:solidFill>
          <a:ln w="9525">
            <a:solidFill>
              <a:srgbClr val="C9D6EE"/>
            </a:solidFill>
            <a:prstDash val="solid"/>
          </a:ln>
        </p:spPr>
        <p:txBody>
          <a:bodyPr/>
          <a:lstStyle/>
          <a:p>
            <a:endParaRPr lang="en-US"/>
          </a:p>
        </p:txBody>
      </p:sp>
      <p:sp>
        <p:nvSpPr>
          <p:cNvPr id="11" name="Text 7"/>
          <p:cNvSpPr/>
          <p:nvPr/>
        </p:nvSpPr>
        <p:spPr>
          <a:xfrm>
            <a:off x="713232" y="1554480"/>
            <a:ext cx="3108960" cy="274320"/>
          </a:xfrm>
          <a:prstGeom prst="rect">
            <a:avLst/>
          </a:prstGeom>
          <a:noFill/>
          <a:ln/>
        </p:spPr>
        <p:txBody>
          <a:bodyPr wrap="square" lIns="0" tIns="0" rIns="0" bIns="0" rtlCol="0" anchor="ctr"/>
          <a:lstStyle/>
          <a:p>
            <a:pPr marL="0" indent="0">
              <a:buNone/>
            </a:pPr>
            <a:r>
              <a:rPr lang="en-US" sz="1200" b="1" dirty="0">
                <a:solidFill>
                  <a:srgbClr val="4472C4"/>
                </a:solidFill>
                <a:latin typeface="Cascadia Mono" pitchFamily="34" charset="0"/>
                <a:ea typeface="Cascadia Mono" pitchFamily="34" charset="-122"/>
                <a:cs typeface="Cascadia Mono" pitchFamily="34" charset="-120"/>
              </a:rPr>
              <a:t>model_overview</a:t>
            </a:r>
            <a:endParaRPr lang="en-US" sz="1200" dirty="0"/>
          </a:p>
        </p:txBody>
      </p:sp>
      <p:sp>
        <p:nvSpPr>
          <p:cNvPr id="12" name="Text 8"/>
          <p:cNvSpPr/>
          <p:nvPr/>
        </p:nvSpPr>
        <p:spPr>
          <a:xfrm>
            <a:off x="713232" y="1865376"/>
            <a:ext cx="5074920" cy="457200"/>
          </a:xfrm>
          <a:prstGeom prst="rect">
            <a:avLst/>
          </a:prstGeom>
          <a:noFill/>
          <a:ln/>
        </p:spPr>
        <p:txBody>
          <a:bodyPr wrap="square" lIns="0" tIns="0" rIns="0" bIns="0" rtlCol="0" anchor="ctr"/>
          <a:lstStyle/>
          <a:p>
            <a:pPr marL="0" indent="0">
              <a:buNone/>
            </a:pPr>
            <a:r>
              <a:rPr lang="en-US" sz="1000" b="0" dirty="0">
                <a:solidFill>
                  <a:srgbClr val="595959"/>
                </a:solidFill>
                <a:latin typeface="Product Sans" pitchFamily="34" charset="0"/>
                <a:ea typeface="Product Sans" pitchFamily="34" charset="-122"/>
                <a:cs typeface="Product Sans" pitchFamily="34" charset="-120"/>
              </a:rPr>
              <a:t>Structure summary: subsystems, interfaces, hierarchy</a:t>
            </a:r>
            <a:endParaRPr lang="en-US" sz="1000" dirty="0"/>
          </a:p>
        </p:txBody>
      </p:sp>
      <p:sp>
        <p:nvSpPr>
          <p:cNvPr id="13" name="Shape 9"/>
          <p:cNvSpPr/>
          <p:nvPr/>
        </p:nvSpPr>
        <p:spPr>
          <a:xfrm>
            <a:off x="6236208" y="1481328"/>
            <a:ext cx="5404104" cy="914400"/>
          </a:xfrm>
          <a:prstGeom prst="roundRect">
            <a:avLst>
              <a:gd name="adj" fmla="val 6000"/>
            </a:avLst>
          </a:prstGeom>
          <a:solidFill>
            <a:srgbClr val="F2F5FB"/>
          </a:solidFill>
          <a:ln w="9525">
            <a:solidFill>
              <a:srgbClr val="C9D6EE"/>
            </a:solidFill>
            <a:prstDash val="solid"/>
          </a:ln>
        </p:spPr>
        <p:txBody>
          <a:bodyPr/>
          <a:lstStyle/>
          <a:p>
            <a:endParaRPr lang="en-US"/>
          </a:p>
        </p:txBody>
      </p:sp>
      <p:sp>
        <p:nvSpPr>
          <p:cNvPr id="14" name="Text 10"/>
          <p:cNvSpPr/>
          <p:nvPr/>
        </p:nvSpPr>
        <p:spPr>
          <a:xfrm>
            <a:off x="6400800" y="1554480"/>
            <a:ext cx="3108960" cy="274320"/>
          </a:xfrm>
          <a:prstGeom prst="rect">
            <a:avLst/>
          </a:prstGeom>
          <a:noFill/>
          <a:ln/>
        </p:spPr>
        <p:txBody>
          <a:bodyPr wrap="square" lIns="0" tIns="0" rIns="0" bIns="0" rtlCol="0" anchor="ctr"/>
          <a:lstStyle/>
          <a:p>
            <a:pPr marL="0" indent="0">
              <a:buNone/>
            </a:pPr>
            <a:r>
              <a:rPr lang="en-US" sz="1200" b="1" dirty="0">
                <a:solidFill>
                  <a:srgbClr val="4472C4"/>
                </a:solidFill>
                <a:latin typeface="Cascadia Mono" pitchFamily="34" charset="0"/>
                <a:ea typeface="Cascadia Mono" pitchFamily="34" charset="-122"/>
                <a:cs typeface="Cascadia Mono" pitchFamily="34" charset="-120"/>
              </a:rPr>
              <a:t>model_read</a:t>
            </a:r>
            <a:endParaRPr lang="en-US" sz="1200" dirty="0"/>
          </a:p>
        </p:txBody>
      </p:sp>
      <p:sp>
        <p:nvSpPr>
          <p:cNvPr id="15" name="Text 11"/>
          <p:cNvSpPr/>
          <p:nvPr/>
        </p:nvSpPr>
        <p:spPr>
          <a:xfrm>
            <a:off x="6400800" y="1865376"/>
            <a:ext cx="5074920" cy="457200"/>
          </a:xfrm>
          <a:prstGeom prst="rect">
            <a:avLst/>
          </a:prstGeom>
          <a:noFill/>
          <a:ln/>
        </p:spPr>
        <p:txBody>
          <a:bodyPr wrap="square" lIns="0" tIns="0" rIns="0" bIns="0" rtlCol="0" anchor="ctr"/>
          <a:lstStyle/>
          <a:p>
            <a:pPr marL="0" indent="0">
              <a:buNone/>
            </a:pPr>
            <a:r>
              <a:rPr lang="en-US" sz="1000" b="0" dirty="0">
                <a:solidFill>
                  <a:srgbClr val="595959"/>
                </a:solidFill>
                <a:latin typeface="Product Sans" pitchFamily="34" charset="0"/>
                <a:ea typeface="Product Sans" pitchFamily="34" charset="-122"/>
                <a:cs typeface="Product Sans" pitchFamily="34" charset="-120"/>
              </a:rPr>
              <a:t>Blocks, parameters, and connections in detail</a:t>
            </a:r>
            <a:endParaRPr lang="en-US" sz="1000" dirty="0"/>
          </a:p>
        </p:txBody>
      </p:sp>
      <p:sp>
        <p:nvSpPr>
          <p:cNvPr id="16" name="Shape 12"/>
          <p:cNvSpPr/>
          <p:nvPr/>
        </p:nvSpPr>
        <p:spPr>
          <a:xfrm>
            <a:off x="548640" y="2514600"/>
            <a:ext cx="5404104" cy="914400"/>
          </a:xfrm>
          <a:prstGeom prst="roundRect">
            <a:avLst>
              <a:gd name="adj" fmla="val 6000"/>
            </a:avLst>
          </a:prstGeom>
          <a:solidFill>
            <a:srgbClr val="F2F5FB"/>
          </a:solidFill>
          <a:ln w="9525">
            <a:solidFill>
              <a:srgbClr val="C9D6EE"/>
            </a:solidFill>
            <a:prstDash val="solid"/>
          </a:ln>
        </p:spPr>
        <p:txBody>
          <a:bodyPr/>
          <a:lstStyle/>
          <a:p>
            <a:endParaRPr lang="en-US"/>
          </a:p>
        </p:txBody>
      </p:sp>
      <p:sp>
        <p:nvSpPr>
          <p:cNvPr id="17" name="Text 13"/>
          <p:cNvSpPr/>
          <p:nvPr/>
        </p:nvSpPr>
        <p:spPr>
          <a:xfrm>
            <a:off x="713232" y="2587752"/>
            <a:ext cx="3108960" cy="274320"/>
          </a:xfrm>
          <a:prstGeom prst="rect">
            <a:avLst/>
          </a:prstGeom>
          <a:noFill/>
          <a:ln/>
        </p:spPr>
        <p:txBody>
          <a:bodyPr wrap="square" lIns="0" tIns="0" rIns="0" bIns="0" rtlCol="0" anchor="ctr"/>
          <a:lstStyle/>
          <a:p>
            <a:pPr marL="0" indent="0">
              <a:buNone/>
            </a:pPr>
            <a:r>
              <a:rPr lang="en-US" sz="1200" b="1" dirty="0">
                <a:solidFill>
                  <a:srgbClr val="4472C4"/>
                </a:solidFill>
                <a:latin typeface="Cascadia Mono" pitchFamily="34" charset="0"/>
                <a:ea typeface="Cascadia Mono" pitchFamily="34" charset="-122"/>
                <a:cs typeface="Cascadia Mono" pitchFamily="34" charset="-120"/>
              </a:rPr>
              <a:t>model_edit</a:t>
            </a:r>
            <a:endParaRPr lang="en-US" sz="1200" dirty="0"/>
          </a:p>
        </p:txBody>
      </p:sp>
      <p:sp>
        <p:nvSpPr>
          <p:cNvPr id="18" name="Text 14"/>
          <p:cNvSpPr/>
          <p:nvPr/>
        </p:nvSpPr>
        <p:spPr>
          <a:xfrm>
            <a:off x="713232" y="2898648"/>
            <a:ext cx="5074920" cy="457200"/>
          </a:xfrm>
          <a:prstGeom prst="rect">
            <a:avLst/>
          </a:prstGeom>
          <a:noFill/>
          <a:ln/>
        </p:spPr>
        <p:txBody>
          <a:bodyPr wrap="square" lIns="0" tIns="0" rIns="0" bIns="0" rtlCol="0" anchor="ctr"/>
          <a:lstStyle/>
          <a:p>
            <a:pPr marL="0" indent="0">
              <a:buNone/>
            </a:pPr>
            <a:r>
              <a:rPr lang="en-US" sz="1000" b="0" dirty="0">
                <a:solidFill>
                  <a:srgbClr val="595959"/>
                </a:solidFill>
                <a:latin typeface="Product Sans" pitchFamily="34" charset="0"/>
                <a:ea typeface="Product Sans" pitchFamily="34" charset="-122"/>
                <a:cs typeface="Product Sans" pitchFamily="34" charset="-120"/>
              </a:rPr>
              <a:t>Add, connect, modify — precise, scriptable edits</a:t>
            </a:r>
            <a:endParaRPr lang="en-US" sz="1000" dirty="0"/>
          </a:p>
        </p:txBody>
      </p:sp>
      <p:sp>
        <p:nvSpPr>
          <p:cNvPr id="19" name="Shape 15"/>
          <p:cNvSpPr/>
          <p:nvPr/>
        </p:nvSpPr>
        <p:spPr>
          <a:xfrm>
            <a:off x="6236208" y="2514600"/>
            <a:ext cx="5404104" cy="914400"/>
          </a:xfrm>
          <a:prstGeom prst="roundRect">
            <a:avLst>
              <a:gd name="adj" fmla="val 6000"/>
            </a:avLst>
          </a:prstGeom>
          <a:solidFill>
            <a:srgbClr val="F2F5FB"/>
          </a:solidFill>
          <a:ln w="9525">
            <a:solidFill>
              <a:srgbClr val="C9D6EE"/>
            </a:solidFill>
            <a:prstDash val="solid"/>
          </a:ln>
        </p:spPr>
        <p:txBody>
          <a:bodyPr/>
          <a:lstStyle/>
          <a:p>
            <a:endParaRPr lang="en-US"/>
          </a:p>
        </p:txBody>
      </p:sp>
      <p:sp>
        <p:nvSpPr>
          <p:cNvPr id="20" name="Text 16"/>
          <p:cNvSpPr/>
          <p:nvPr/>
        </p:nvSpPr>
        <p:spPr>
          <a:xfrm>
            <a:off x="6400800" y="2587752"/>
            <a:ext cx="3108960" cy="274320"/>
          </a:xfrm>
          <a:prstGeom prst="rect">
            <a:avLst/>
          </a:prstGeom>
          <a:noFill/>
          <a:ln/>
        </p:spPr>
        <p:txBody>
          <a:bodyPr wrap="square" lIns="0" tIns="0" rIns="0" bIns="0" rtlCol="0" anchor="ctr"/>
          <a:lstStyle/>
          <a:p>
            <a:pPr marL="0" indent="0">
              <a:buNone/>
            </a:pPr>
            <a:r>
              <a:rPr lang="en-US" sz="1200" b="1" dirty="0">
                <a:solidFill>
                  <a:srgbClr val="4472C4"/>
                </a:solidFill>
                <a:latin typeface="Cascadia Mono" pitchFamily="34" charset="0"/>
                <a:ea typeface="Cascadia Mono" pitchFamily="34" charset="-122"/>
                <a:cs typeface="Cascadia Mono" pitchFamily="34" charset="-120"/>
              </a:rPr>
              <a:t>model_test</a:t>
            </a:r>
            <a:endParaRPr lang="en-US" sz="1200" dirty="0"/>
          </a:p>
        </p:txBody>
      </p:sp>
      <p:sp>
        <p:nvSpPr>
          <p:cNvPr id="21" name="Text 17"/>
          <p:cNvSpPr/>
          <p:nvPr/>
        </p:nvSpPr>
        <p:spPr>
          <a:xfrm>
            <a:off x="6400800" y="2898648"/>
            <a:ext cx="5074920" cy="457200"/>
          </a:xfrm>
          <a:prstGeom prst="rect">
            <a:avLst/>
          </a:prstGeom>
          <a:noFill/>
          <a:ln/>
        </p:spPr>
        <p:txBody>
          <a:bodyPr wrap="square" lIns="0" tIns="0" rIns="0" bIns="0" rtlCol="0" anchor="ctr"/>
          <a:lstStyle/>
          <a:p>
            <a:pPr marL="0" indent="0">
              <a:buNone/>
            </a:pPr>
            <a:r>
              <a:rPr lang="en-US" sz="1000" b="0" dirty="0">
                <a:solidFill>
                  <a:srgbClr val="595959"/>
                </a:solidFill>
                <a:latin typeface="Product Sans" pitchFamily="34" charset="0"/>
                <a:ea typeface="Product Sans" pitchFamily="34" charset="-122"/>
                <a:cs typeface="Product Sans" pitchFamily="34" charset="-120"/>
              </a:rPr>
              <a:t>Author and run tests against the model</a:t>
            </a:r>
            <a:endParaRPr lang="en-US" sz="1000" dirty="0"/>
          </a:p>
        </p:txBody>
      </p:sp>
      <p:sp>
        <p:nvSpPr>
          <p:cNvPr id="22" name="Shape 18"/>
          <p:cNvSpPr/>
          <p:nvPr/>
        </p:nvSpPr>
        <p:spPr>
          <a:xfrm>
            <a:off x="548640" y="3547872"/>
            <a:ext cx="5404104" cy="914400"/>
          </a:xfrm>
          <a:prstGeom prst="roundRect">
            <a:avLst>
              <a:gd name="adj" fmla="val 6000"/>
            </a:avLst>
          </a:prstGeom>
          <a:solidFill>
            <a:srgbClr val="F2F5FB"/>
          </a:solidFill>
          <a:ln w="9525">
            <a:solidFill>
              <a:srgbClr val="C9D6EE"/>
            </a:solidFill>
            <a:prstDash val="solid"/>
          </a:ln>
        </p:spPr>
        <p:txBody>
          <a:bodyPr/>
          <a:lstStyle/>
          <a:p>
            <a:endParaRPr lang="en-US"/>
          </a:p>
        </p:txBody>
      </p:sp>
      <p:sp>
        <p:nvSpPr>
          <p:cNvPr id="23" name="Text 19"/>
          <p:cNvSpPr/>
          <p:nvPr/>
        </p:nvSpPr>
        <p:spPr>
          <a:xfrm>
            <a:off x="713232" y="3621024"/>
            <a:ext cx="3108960" cy="274320"/>
          </a:xfrm>
          <a:prstGeom prst="rect">
            <a:avLst/>
          </a:prstGeom>
          <a:noFill/>
          <a:ln/>
        </p:spPr>
        <p:txBody>
          <a:bodyPr wrap="square" lIns="0" tIns="0" rIns="0" bIns="0" rtlCol="0" anchor="ctr"/>
          <a:lstStyle/>
          <a:p>
            <a:pPr marL="0" indent="0">
              <a:buNone/>
            </a:pPr>
            <a:r>
              <a:rPr lang="en-US" sz="1200" b="1" dirty="0">
                <a:solidFill>
                  <a:srgbClr val="4472C4"/>
                </a:solidFill>
                <a:latin typeface="Cascadia Mono" pitchFamily="34" charset="0"/>
                <a:ea typeface="Cascadia Mono" pitchFamily="34" charset="-122"/>
                <a:cs typeface="Cascadia Mono" pitchFamily="34" charset="-120"/>
              </a:rPr>
              <a:t>model_check</a:t>
            </a:r>
            <a:endParaRPr lang="en-US" sz="1200" dirty="0"/>
          </a:p>
        </p:txBody>
      </p:sp>
      <p:sp>
        <p:nvSpPr>
          <p:cNvPr id="24" name="Text 20"/>
          <p:cNvSpPr/>
          <p:nvPr/>
        </p:nvSpPr>
        <p:spPr>
          <a:xfrm>
            <a:off x="713232" y="3931920"/>
            <a:ext cx="5074920" cy="457200"/>
          </a:xfrm>
          <a:prstGeom prst="rect">
            <a:avLst/>
          </a:prstGeom>
          <a:noFill/>
          <a:ln/>
        </p:spPr>
        <p:txBody>
          <a:bodyPr wrap="square" lIns="0" tIns="0" rIns="0" bIns="0" rtlCol="0" anchor="ctr"/>
          <a:lstStyle/>
          <a:p>
            <a:pPr marL="0" indent="0">
              <a:buNone/>
            </a:pPr>
            <a:r>
              <a:rPr lang="en-US" sz="1000" b="0" dirty="0">
                <a:solidFill>
                  <a:srgbClr val="595959"/>
                </a:solidFill>
                <a:latin typeface="Product Sans" pitchFamily="34" charset="0"/>
                <a:ea typeface="Product Sans" pitchFamily="34" charset="-122"/>
                <a:cs typeface="Product Sans" pitchFamily="34" charset="-120"/>
              </a:rPr>
              <a:t>Run Model Advisor compliance checks</a:t>
            </a:r>
            <a:endParaRPr lang="en-US" sz="1000" dirty="0"/>
          </a:p>
        </p:txBody>
      </p:sp>
      <p:sp>
        <p:nvSpPr>
          <p:cNvPr id="25" name="Shape 21"/>
          <p:cNvSpPr/>
          <p:nvPr/>
        </p:nvSpPr>
        <p:spPr>
          <a:xfrm>
            <a:off x="6236208" y="3547872"/>
            <a:ext cx="5404104" cy="914400"/>
          </a:xfrm>
          <a:prstGeom prst="roundRect">
            <a:avLst>
              <a:gd name="adj" fmla="val 6000"/>
            </a:avLst>
          </a:prstGeom>
          <a:solidFill>
            <a:srgbClr val="F2F5FB"/>
          </a:solidFill>
          <a:ln w="9525">
            <a:solidFill>
              <a:srgbClr val="C9D6EE"/>
            </a:solidFill>
            <a:prstDash val="solid"/>
          </a:ln>
        </p:spPr>
        <p:txBody>
          <a:bodyPr/>
          <a:lstStyle/>
          <a:p>
            <a:endParaRPr lang="en-US"/>
          </a:p>
        </p:txBody>
      </p:sp>
      <p:sp>
        <p:nvSpPr>
          <p:cNvPr id="26" name="Text 22"/>
          <p:cNvSpPr/>
          <p:nvPr/>
        </p:nvSpPr>
        <p:spPr>
          <a:xfrm>
            <a:off x="6400800" y="3621024"/>
            <a:ext cx="3108960" cy="274320"/>
          </a:xfrm>
          <a:prstGeom prst="rect">
            <a:avLst/>
          </a:prstGeom>
          <a:noFill/>
          <a:ln/>
        </p:spPr>
        <p:txBody>
          <a:bodyPr wrap="square" lIns="0" tIns="0" rIns="0" bIns="0" rtlCol="0" anchor="ctr"/>
          <a:lstStyle/>
          <a:p>
            <a:pPr marL="0" indent="0">
              <a:buNone/>
            </a:pPr>
            <a:r>
              <a:rPr lang="en-US" sz="1200" b="1" dirty="0">
                <a:solidFill>
                  <a:srgbClr val="4472C4"/>
                </a:solidFill>
                <a:latin typeface="Cascadia Mono" pitchFamily="34" charset="0"/>
                <a:ea typeface="Cascadia Mono" pitchFamily="34" charset="-122"/>
                <a:cs typeface="Cascadia Mono" pitchFamily="34" charset="-120"/>
              </a:rPr>
              <a:t>model_read_diagnostics</a:t>
            </a:r>
            <a:endParaRPr lang="en-US" sz="1200" dirty="0"/>
          </a:p>
        </p:txBody>
      </p:sp>
      <p:sp>
        <p:nvSpPr>
          <p:cNvPr id="27" name="Text 23"/>
          <p:cNvSpPr/>
          <p:nvPr/>
        </p:nvSpPr>
        <p:spPr>
          <a:xfrm>
            <a:off x="6400800" y="3931920"/>
            <a:ext cx="5074920" cy="457200"/>
          </a:xfrm>
          <a:prstGeom prst="rect">
            <a:avLst/>
          </a:prstGeom>
          <a:noFill/>
          <a:ln/>
        </p:spPr>
        <p:txBody>
          <a:bodyPr wrap="square" lIns="0" tIns="0" rIns="0" bIns="0" rtlCol="0" anchor="ctr"/>
          <a:lstStyle/>
          <a:p>
            <a:pPr marL="0" indent="0">
              <a:buNone/>
            </a:pPr>
            <a:r>
              <a:rPr lang="en-US" sz="1000" b="0" dirty="0">
                <a:solidFill>
                  <a:srgbClr val="595959"/>
                </a:solidFill>
                <a:latin typeface="Product Sans" pitchFamily="34" charset="0"/>
                <a:ea typeface="Product Sans" pitchFamily="34" charset="-122"/>
                <a:cs typeface="Product Sans" pitchFamily="34" charset="-120"/>
              </a:rPr>
              <a:t>Errors and warnings from the model</a:t>
            </a:r>
            <a:endParaRPr lang="en-US" sz="1000" dirty="0"/>
          </a:p>
        </p:txBody>
      </p:sp>
      <p:sp>
        <p:nvSpPr>
          <p:cNvPr id="28" name="Shape 24"/>
          <p:cNvSpPr/>
          <p:nvPr/>
        </p:nvSpPr>
        <p:spPr>
          <a:xfrm>
            <a:off x="548640" y="4581144"/>
            <a:ext cx="5404104" cy="914400"/>
          </a:xfrm>
          <a:prstGeom prst="roundRect">
            <a:avLst>
              <a:gd name="adj" fmla="val 6000"/>
            </a:avLst>
          </a:prstGeom>
          <a:solidFill>
            <a:srgbClr val="F2F5FB"/>
          </a:solidFill>
          <a:ln w="9525">
            <a:solidFill>
              <a:srgbClr val="C9D6EE"/>
            </a:solidFill>
            <a:prstDash val="solid"/>
          </a:ln>
        </p:spPr>
        <p:txBody>
          <a:bodyPr/>
          <a:lstStyle/>
          <a:p>
            <a:endParaRPr lang="en-US"/>
          </a:p>
        </p:txBody>
      </p:sp>
      <p:sp>
        <p:nvSpPr>
          <p:cNvPr id="29" name="Text 25"/>
          <p:cNvSpPr/>
          <p:nvPr/>
        </p:nvSpPr>
        <p:spPr>
          <a:xfrm>
            <a:off x="713232" y="4654296"/>
            <a:ext cx="3108960" cy="274320"/>
          </a:xfrm>
          <a:prstGeom prst="rect">
            <a:avLst/>
          </a:prstGeom>
          <a:noFill/>
          <a:ln/>
        </p:spPr>
        <p:txBody>
          <a:bodyPr wrap="square" lIns="0" tIns="0" rIns="0" bIns="0" rtlCol="0" anchor="ctr"/>
          <a:lstStyle/>
          <a:p>
            <a:pPr marL="0" indent="0">
              <a:buNone/>
            </a:pPr>
            <a:r>
              <a:rPr lang="en-US" sz="1200" b="1" dirty="0">
                <a:solidFill>
                  <a:srgbClr val="4472C4"/>
                </a:solidFill>
                <a:latin typeface="Cascadia Mono" pitchFamily="34" charset="0"/>
                <a:ea typeface="Cascadia Mono" pitchFamily="34" charset="-122"/>
                <a:cs typeface="Cascadia Mono" pitchFamily="34" charset="-120"/>
              </a:rPr>
              <a:t>model_query_params</a:t>
            </a:r>
            <a:endParaRPr lang="en-US" sz="1200" dirty="0"/>
          </a:p>
        </p:txBody>
      </p:sp>
      <p:sp>
        <p:nvSpPr>
          <p:cNvPr id="30" name="Text 26"/>
          <p:cNvSpPr/>
          <p:nvPr/>
        </p:nvSpPr>
        <p:spPr>
          <a:xfrm>
            <a:off x="713232" y="4965192"/>
            <a:ext cx="5074920" cy="457200"/>
          </a:xfrm>
          <a:prstGeom prst="rect">
            <a:avLst/>
          </a:prstGeom>
          <a:noFill/>
          <a:ln/>
        </p:spPr>
        <p:txBody>
          <a:bodyPr wrap="square" lIns="0" tIns="0" rIns="0" bIns="0" rtlCol="0" anchor="ctr"/>
          <a:lstStyle/>
          <a:p>
            <a:pPr marL="0" indent="0">
              <a:buNone/>
            </a:pPr>
            <a:r>
              <a:rPr lang="en-US" sz="1000" b="0" dirty="0">
                <a:solidFill>
                  <a:srgbClr val="595959"/>
                </a:solidFill>
                <a:latin typeface="Product Sans" pitchFamily="34" charset="0"/>
                <a:ea typeface="Product Sans" pitchFamily="34" charset="-122"/>
                <a:cs typeface="Product Sans" pitchFamily="34" charset="-120"/>
              </a:rPr>
              <a:t>Find tunable parameters and their usage</a:t>
            </a:r>
            <a:endParaRPr lang="en-US" sz="1000" dirty="0"/>
          </a:p>
        </p:txBody>
      </p:sp>
      <p:sp>
        <p:nvSpPr>
          <p:cNvPr id="31" name="Shape 27"/>
          <p:cNvSpPr/>
          <p:nvPr/>
        </p:nvSpPr>
        <p:spPr>
          <a:xfrm>
            <a:off x="6236208" y="4581144"/>
            <a:ext cx="5404104" cy="914400"/>
          </a:xfrm>
          <a:prstGeom prst="roundRect">
            <a:avLst>
              <a:gd name="adj" fmla="val 6000"/>
            </a:avLst>
          </a:prstGeom>
          <a:solidFill>
            <a:srgbClr val="F2F5FB"/>
          </a:solidFill>
          <a:ln w="9525">
            <a:solidFill>
              <a:srgbClr val="C9D6EE"/>
            </a:solidFill>
            <a:prstDash val="solid"/>
          </a:ln>
        </p:spPr>
        <p:txBody>
          <a:bodyPr/>
          <a:lstStyle/>
          <a:p>
            <a:endParaRPr lang="en-US"/>
          </a:p>
        </p:txBody>
      </p:sp>
      <p:sp>
        <p:nvSpPr>
          <p:cNvPr id="32" name="Text 28"/>
          <p:cNvSpPr/>
          <p:nvPr/>
        </p:nvSpPr>
        <p:spPr>
          <a:xfrm>
            <a:off x="6400800" y="4654296"/>
            <a:ext cx="3108960" cy="274320"/>
          </a:xfrm>
          <a:prstGeom prst="rect">
            <a:avLst/>
          </a:prstGeom>
          <a:noFill/>
          <a:ln/>
        </p:spPr>
        <p:txBody>
          <a:bodyPr wrap="square" lIns="0" tIns="0" rIns="0" bIns="0" rtlCol="0" anchor="ctr"/>
          <a:lstStyle/>
          <a:p>
            <a:pPr marL="0" indent="0">
              <a:buNone/>
            </a:pPr>
            <a:r>
              <a:rPr lang="en-US" sz="1200" b="1" dirty="0">
                <a:solidFill>
                  <a:srgbClr val="4472C4"/>
                </a:solidFill>
                <a:latin typeface="Cascadia Mono" pitchFamily="34" charset="0"/>
                <a:ea typeface="Cascadia Mono" pitchFamily="34" charset="-122"/>
                <a:cs typeface="Cascadia Mono" pitchFamily="34" charset="-120"/>
              </a:rPr>
              <a:t>model_resolve_params</a:t>
            </a:r>
            <a:endParaRPr lang="en-US" sz="1200" dirty="0"/>
          </a:p>
        </p:txBody>
      </p:sp>
      <p:sp>
        <p:nvSpPr>
          <p:cNvPr id="33" name="Text 29"/>
          <p:cNvSpPr/>
          <p:nvPr/>
        </p:nvSpPr>
        <p:spPr>
          <a:xfrm>
            <a:off x="6400800" y="4965192"/>
            <a:ext cx="5074920" cy="457200"/>
          </a:xfrm>
          <a:prstGeom prst="rect">
            <a:avLst/>
          </a:prstGeom>
          <a:noFill/>
          <a:ln/>
        </p:spPr>
        <p:txBody>
          <a:bodyPr wrap="square" lIns="0" tIns="0" rIns="0" bIns="0" rtlCol="0" anchor="ctr"/>
          <a:lstStyle/>
          <a:p>
            <a:pPr marL="0" indent="0">
              <a:buNone/>
            </a:pPr>
            <a:r>
              <a:rPr lang="en-US" sz="1000" b="0" dirty="0">
                <a:solidFill>
                  <a:srgbClr val="595959"/>
                </a:solidFill>
                <a:latin typeface="Product Sans" pitchFamily="34" charset="0"/>
                <a:ea typeface="Product Sans" pitchFamily="34" charset="-122"/>
                <a:cs typeface="Product Sans" pitchFamily="34" charset="-120"/>
              </a:rPr>
              <a:t>Resolve parameter values through workspaces</a:t>
            </a:r>
            <a:endParaRPr lang="en-US" sz="1000" dirty="0"/>
          </a:p>
        </p:txBody>
      </p:sp>
      <p:sp>
        <p:nvSpPr>
          <p:cNvPr id="34" name="Shape 30"/>
          <p:cNvSpPr/>
          <p:nvPr/>
        </p:nvSpPr>
        <p:spPr>
          <a:xfrm>
            <a:off x="548640" y="5806440"/>
            <a:ext cx="11091672" cy="365760"/>
          </a:xfrm>
          <a:prstGeom prst="roundRect">
            <a:avLst>
              <a:gd name="adj" fmla="val 15000"/>
            </a:avLst>
          </a:prstGeom>
          <a:solidFill>
            <a:srgbClr val="1F3864"/>
          </a:solidFill>
          <a:ln w="12700">
            <a:solidFill>
              <a:srgbClr val="1F3864"/>
            </a:solidFill>
            <a:prstDash val="solid"/>
          </a:ln>
        </p:spPr>
        <p:txBody>
          <a:bodyPr/>
          <a:lstStyle/>
          <a:p>
            <a:endParaRPr lang="en-US"/>
          </a:p>
        </p:txBody>
      </p:sp>
      <p:sp>
        <p:nvSpPr>
          <p:cNvPr id="35" name="Text 31"/>
          <p:cNvSpPr/>
          <p:nvPr/>
        </p:nvSpPr>
        <p:spPr>
          <a:xfrm>
            <a:off x="685800" y="5806440"/>
            <a:ext cx="10817352" cy="365760"/>
          </a:xfrm>
          <a:prstGeom prst="rect">
            <a:avLst/>
          </a:prstGeom>
          <a:noFill/>
          <a:ln/>
        </p:spPr>
        <p:txBody>
          <a:bodyPr wrap="square" lIns="0" tIns="0" rIns="0" bIns="0" rtlCol="0" anchor="ctr"/>
          <a:lstStyle/>
          <a:p>
            <a:pPr marL="0" indent="0" algn="ctr">
              <a:buNone/>
            </a:pPr>
            <a:r>
              <a:rPr lang="en-US" sz="1150" b="0" dirty="0">
                <a:solidFill>
                  <a:srgbClr val="FFFFFF"/>
                </a:solidFill>
                <a:latin typeface="Product Sans" pitchFamily="34" charset="0"/>
                <a:ea typeface="Product Sans" pitchFamily="34" charset="-122"/>
                <a:cs typeface="Product Sans" pitchFamily="34" charset="-120"/>
              </a:rPr>
              <a:t>Eight model tools on top of the five MATLAB code tools — structured access, no screenshots, no raw scripting.</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22</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MBD skills — Model-Based Design practice, encoded</a:t>
            </a:r>
            <a:endParaRPr lang="en-US" sz="2400" dirty="0"/>
          </a:p>
        </p:txBody>
      </p:sp>
      <p:sp>
        <p:nvSpPr>
          <p:cNvPr id="7" name="Shape 3"/>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8" name="Text 4"/>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PART 3</a:t>
            </a:r>
            <a:endParaRPr lang="en-US" sz="950" dirty="0"/>
          </a:p>
        </p:txBody>
      </p:sp>
      <p:sp>
        <p:nvSpPr>
          <p:cNvPr id="9" name="Shape 5"/>
          <p:cNvSpPr/>
          <p:nvPr/>
        </p:nvSpPr>
        <p:spPr>
          <a:xfrm>
            <a:off x="548640" y="1325880"/>
            <a:ext cx="3639312" cy="1243584"/>
          </a:xfrm>
          <a:prstGeom prst="roundRect">
            <a:avLst>
              <a:gd name="adj" fmla="val 5147"/>
            </a:avLst>
          </a:prstGeom>
          <a:solidFill>
            <a:srgbClr val="EEF2FA"/>
          </a:solidFill>
          <a:ln w="9525">
            <a:solidFill>
              <a:srgbClr val="C9D6EE"/>
            </a:solidFill>
            <a:prstDash val="solid"/>
          </a:ln>
        </p:spPr>
        <p:txBody>
          <a:bodyPr/>
          <a:lstStyle/>
          <a:p>
            <a:endParaRPr lang="en-US"/>
          </a:p>
        </p:txBody>
      </p:sp>
      <p:sp>
        <p:nvSpPr>
          <p:cNvPr id="10" name="Text 6"/>
          <p:cNvSpPr/>
          <p:nvPr/>
        </p:nvSpPr>
        <p:spPr>
          <a:xfrm>
            <a:off x="713232" y="1435608"/>
            <a:ext cx="3310128" cy="292608"/>
          </a:xfrm>
          <a:prstGeom prst="rect">
            <a:avLst/>
          </a:prstGeom>
          <a:noFill/>
          <a:ln/>
        </p:spPr>
        <p:txBody>
          <a:bodyPr wrap="square" lIns="0" tIns="0" rIns="0" bIns="0" rtlCol="0" anchor="ctr"/>
          <a:lstStyle/>
          <a:p>
            <a:pPr marL="0" indent="0">
              <a:buNone/>
            </a:pPr>
            <a:r>
              <a:rPr lang="en-US" sz="1050" b="0" dirty="0">
                <a:solidFill>
                  <a:srgbClr val="1F3864"/>
                </a:solidFill>
                <a:latin typeface="Product Sans" pitchFamily="34" charset="0"/>
                <a:ea typeface="Product Sans" pitchFamily="34" charset="-122"/>
                <a:cs typeface="Product Sans" pitchFamily="34" charset="-120"/>
              </a:rPr>
              <a:t>building-simulink-models</a:t>
            </a:r>
            <a:endParaRPr lang="en-US" sz="1050" dirty="0"/>
          </a:p>
        </p:txBody>
      </p:sp>
      <p:sp>
        <p:nvSpPr>
          <p:cNvPr id="11" name="Text 7"/>
          <p:cNvSpPr/>
          <p:nvPr/>
        </p:nvSpPr>
        <p:spPr>
          <a:xfrm>
            <a:off x="713232" y="1764792"/>
            <a:ext cx="3310128" cy="713232"/>
          </a:xfrm>
          <a:prstGeom prst="rect">
            <a:avLst/>
          </a:prstGeom>
          <a:noFill/>
          <a:ln/>
        </p:spPr>
        <p:txBody>
          <a:bodyPr wrap="square" lIns="0" tIns="0" rIns="0" bIns="0" rtlCol="0" anchor="t"/>
          <a:lstStyle/>
          <a:p>
            <a:pPr marL="0" indent="0">
              <a:lnSpc>
                <a:spcPct val="100000"/>
              </a:lnSpc>
              <a:spcAft>
                <a:spcPts val="400"/>
              </a:spcAft>
              <a:buNone/>
            </a:pPr>
            <a:r>
              <a:rPr lang="en-US" sz="950" b="0" dirty="0">
                <a:solidFill>
                  <a:srgbClr val="595959"/>
                </a:solidFill>
                <a:latin typeface="Product Sans" pitchFamily="34" charset="0"/>
                <a:ea typeface="Product Sans" pitchFamily="34" charset="-122"/>
                <a:cs typeface="Product Sans" pitchFamily="34" charset="-120"/>
              </a:rPr>
              <a:t>Blocks, connections, Stateflow, Simscape — done right</a:t>
            </a:r>
            <a:endParaRPr lang="en-US" sz="950" dirty="0"/>
          </a:p>
        </p:txBody>
      </p:sp>
      <p:sp>
        <p:nvSpPr>
          <p:cNvPr id="12" name="Shape 8"/>
          <p:cNvSpPr/>
          <p:nvPr/>
        </p:nvSpPr>
        <p:spPr>
          <a:xfrm>
            <a:off x="4325112" y="1325880"/>
            <a:ext cx="3639312" cy="1243584"/>
          </a:xfrm>
          <a:prstGeom prst="roundRect">
            <a:avLst>
              <a:gd name="adj" fmla="val 5147"/>
            </a:avLst>
          </a:prstGeom>
          <a:solidFill>
            <a:srgbClr val="EEF2FA"/>
          </a:solidFill>
          <a:ln w="9525">
            <a:solidFill>
              <a:srgbClr val="C9D6EE"/>
            </a:solidFill>
            <a:prstDash val="solid"/>
          </a:ln>
        </p:spPr>
        <p:txBody>
          <a:bodyPr/>
          <a:lstStyle/>
          <a:p>
            <a:endParaRPr lang="en-US"/>
          </a:p>
        </p:txBody>
      </p:sp>
      <p:sp>
        <p:nvSpPr>
          <p:cNvPr id="13" name="Text 9"/>
          <p:cNvSpPr/>
          <p:nvPr/>
        </p:nvSpPr>
        <p:spPr>
          <a:xfrm>
            <a:off x="4489704" y="1435608"/>
            <a:ext cx="3310128" cy="292608"/>
          </a:xfrm>
          <a:prstGeom prst="rect">
            <a:avLst/>
          </a:prstGeom>
          <a:noFill/>
          <a:ln/>
        </p:spPr>
        <p:txBody>
          <a:bodyPr wrap="square" lIns="0" tIns="0" rIns="0" bIns="0" rtlCol="0" anchor="ctr"/>
          <a:lstStyle/>
          <a:p>
            <a:pPr marL="0" indent="0">
              <a:buNone/>
            </a:pPr>
            <a:r>
              <a:rPr lang="en-US" sz="1050" b="0" dirty="0">
                <a:solidFill>
                  <a:srgbClr val="1F3864"/>
                </a:solidFill>
                <a:latin typeface="Product Sans" pitchFamily="34" charset="0"/>
                <a:ea typeface="Product Sans" pitchFamily="34" charset="-122"/>
                <a:cs typeface="Product Sans" pitchFamily="34" charset="-120"/>
              </a:rPr>
              <a:t>simulating-simulink-models</a:t>
            </a:r>
            <a:endParaRPr lang="en-US" sz="1050" dirty="0"/>
          </a:p>
        </p:txBody>
      </p:sp>
      <p:sp>
        <p:nvSpPr>
          <p:cNvPr id="14" name="Text 10"/>
          <p:cNvSpPr/>
          <p:nvPr/>
        </p:nvSpPr>
        <p:spPr>
          <a:xfrm>
            <a:off x="4489704" y="1764792"/>
            <a:ext cx="3310128" cy="713232"/>
          </a:xfrm>
          <a:prstGeom prst="rect">
            <a:avLst/>
          </a:prstGeom>
          <a:noFill/>
          <a:ln/>
        </p:spPr>
        <p:txBody>
          <a:bodyPr wrap="square" lIns="0" tIns="0" rIns="0" bIns="0" rtlCol="0" anchor="t"/>
          <a:lstStyle/>
          <a:p>
            <a:pPr marL="0" indent="0">
              <a:lnSpc>
                <a:spcPct val="100000"/>
              </a:lnSpc>
              <a:spcAft>
                <a:spcPts val="400"/>
              </a:spcAft>
              <a:buNone/>
            </a:pPr>
            <a:r>
              <a:rPr lang="en-US" sz="950" b="0" dirty="0">
                <a:solidFill>
                  <a:srgbClr val="595959"/>
                </a:solidFill>
                <a:latin typeface="Product Sans" pitchFamily="34" charset="0"/>
                <a:ea typeface="Product Sans" pitchFamily="34" charset="-122"/>
                <a:cs typeface="Product Sans" pitchFamily="34" charset="-120"/>
              </a:rPr>
              <a:t>Run, log, and interpret simulations</a:t>
            </a:r>
            <a:endParaRPr lang="en-US" sz="950" dirty="0"/>
          </a:p>
        </p:txBody>
      </p:sp>
      <p:sp>
        <p:nvSpPr>
          <p:cNvPr id="15" name="Shape 11"/>
          <p:cNvSpPr/>
          <p:nvPr/>
        </p:nvSpPr>
        <p:spPr>
          <a:xfrm>
            <a:off x="8101584" y="1325880"/>
            <a:ext cx="3639312" cy="1243584"/>
          </a:xfrm>
          <a:prstGeom prst="roundRect">
            <a:avLst>
              <a:gd name="adj" fmla="val 5147"/>
            </a:avLst>
          </a:prstGeom>
          <a:solidFill>
            <a:srgbClr val="EEF2FA"/>
          </a:solidFill>
          <a:ln w="9525">
            <a:solidFill>
              <a:srgbClr val="C9D6EE"/>
            </a:solidFill>
            <a:prstDash val="solid"/>
          </a:ln>
        </p:spPr>
        <p:txBody>
          <a:bodyPr/>
          <a:lstStyle/>
          <a:p>
            <a:endParaRPr lang="en-US"/>
          </a:p>
        </p:txBody>
      </p:sp>
      <p:sp>
        <p:nvSpPr>
          <p:cNvPr id="16" name="Text 12"/>
          <p:cNvSpPr/>
          <p:nvPr/>
        </p:nvSpPr>
        <p:spPr>
          <a:xfrm>
            <a:off x="8266176" y="1435608"/>
            <a:ext cx="3310128" cy="292608"/>
          </a:xfrm>
          <a:prstGeom prst="rect">
            <a:avLst/>
          </a:prstGeom>
          <a:noFill/>
          <a:ln/>
        </p:spPr>
        <p:txBody>
          <a:bodyPr wrap="square" lIns="0" tIns="0" rIns="0" bIns="0" rtlCol="0" anchor="ctr"/>
          <a:lstStyle/>
          <a:p>
            <a:pPr marL="0" indent="0">
              <a:buNone/>
            </a:pPr>
            <a:r>
              <a:rPr lang="en-US" sz="1050" b="0" dirty="0">
                <a:solidFill>
                  <a:srgbClr val="1F3864"/>
                </a:solidFill>
                <a:latin typeface="Product Sans" pitchFamily="34" charset="0"/>
                <a:ea typeface="Product Sans" pitchFamily="34" charset="-122"/>
                <a:cs typeface="Product Sans" pitchFamily="34" charset="-120"/>
              </a:rPr>
              <a:t>testing-simulink-models</a:t>
            </a:r>
            <a:endParaRPr lang="en-US" sz="1050" dirty="0"/>
          </a:p>
        </p:txBody>
      </p:sp>
      <p:sp>
        <p:nvSpPr>
          <p:cNvPr id="17" name="Text 13"/>
          <p:cNvSpPr/>
          <p:nvPr/>
        </p:nvSpPr>
        <p:spPr>
          <a:xfrm>
            <a:off x="8266176" y="1764792"/>
            <a:ext cx="3310128" cy="713232"/>
          </a:xfrm>
          <a:prstGeom prst="rect">
            <a:avLst/>
          </a:prstGeom>
          <a:noFill/>
          <a:ln/>
        </p:spPr>
        <p:txBody>
          <a:bodyPr wrap="square" lIns="0" tIns="0" rIns="0" bIns="0" rtlCol="0" anchor="t"/>
          <a:lstStyle/>
          <a:p>
            <a:pPr marL="0" indent="0">
              <a:lnSpc>
                <a:spcPct val="100000"/>
              </a:lnSpc>
              <a:spcAft>
                <a:spcPts val="400"/>
              </a:spcAft>
              <a:buNone/>
            </a:pPr>
            <a:r>
              <a:rPr lang="en-US" sz="950" b="0" dirty="0">
                <a:solidFill>
                  <a:srgbClr val="595959"/>
                </a:solidFill>
                <a:latin typeface="Product Sans" pitchFamily="34" charset="0"/>
                <a:ea typeface="Product Sans" pitchFamily="34" charset="-122"/>
                <a:cs typeface="Product Sans" pitchFamily="34" charset="-120"/>
              </a:rPr>
              <a:t>Gherkin + Simulink Test workflows</a:t>
            </a:r>
            <a:endParaRPr lang="en-US" sz="950" dirty="0"/>
          </a:p>
        </p:txBody>
      </p:sp>
      <p:sp>
        <p:nvSpPr>
          <p:cNvPr id="18" name="Shape 14"/>
          <p:cNvSpPr/>
          <p:nvPr/>
        </p:nvSpPr>
        <p:spPr>
          <a:xfrm>
            <a:off x="548640" y="2697480"/>
            <a:ext cx="3639312" cy="1243584"/>
          </a:xfrm>
          <a:prstGeom prst="roundRect">
            <a:avLst>
              <a:gd name="adj" fmla="val 5147"/>
            </a:avLst>
          </a:prstGeom>
          <a:solidFill>
            <a:srgbClr val="EEF2FA"/>
          </a:solidFill>
          <a:ln w="9525">
            <a:solidFill>
              <a:srgbClr val="C9D6EE"/>
            </a:solidFill>
            <a:prstDash val="solid"/>
          </a:ln>
        </p:spPr>
        <p:txBody>
          <a:bodyPr/>
          <a:lstStyle/>
          <a:p>
            <a:endParaRPr lang="en-US"/>
          </a:p>
        </p:txBody>
      </p:sp>
      <p:sp>
        <p:nvSpPr>
          <p:cNvPr id="19" name="Text 15"/>
          <p:cNvSpPr/>
          <p:nvPr/>
        </p:nvSpPr>
        <p:spPr>
          <a:xfrm>
            <a:off x="713232" y="2807208"/>
            <a:ext cx="3310128" cy="292608"/>
          </a:xfrm>
          <a:prstGeom prst="rect">
            <a:avLst/>
          </a:prstGeom>
          <a:noFill/>
          <a:ln/>
        </p:spPr>
        <p:txBody>
          <a:bodyPr wrap="square" lIns="0" tIns="0" rIns="0" bIns="0" rtlCol="0" anchor="ctr"/>
          <a:lstStyle/>
          <a:p>
            <a:pPr marL="0" indent="0">
              <a:buNone/>
            </a:pPr>
            <a:r>
              <a:rPr lang="en-US" sz="1050" b="0" dirty="0">
                <a:solidFill>
                  <a:srgbClr val="1F3864"/>
                </a:solidFill>
                <a:latin typeface="Product Sans" pitchFamily="34" charset="0"/>
                <a:ea typeface="Product Sans" pitchFamily="34" charset="-122"/>
                <a:cs typeface="Product Sans" pitchFamily="34" charset="-120"/>
              </a:rPr>
              <a:t>specifying-plant-models</a:t>
            </a:r>
            <a:endParaRPr lang="en-US" sz="1050" dirty="0"/>
          </a:p>
        </p:txBody>
      </p:sp>
      <p:sp>
        <p:nvSpPr>
          <p:cNvPr id="20" name="Text 16"/>
          <p:cNvSpPr/>
          <p:nvPr/>
        </p:nvSpPr>
        <p:spPr>
          <a:xfrm>
            <a:off x="713232" y="3136392"/>
            <a:ext cx="3310128" cy="713232"/>
          </a:xfrm>
          <a:prstGeom prst="rect">
            <a:avLst/>
          </a:prstGeom>
          <a:noFill/>
          <a:ln/>
        </p:spPr>
        <p:txBody>
          <a:bodyPr wrap="square" lIns="0" tIns="0" rIns="0" bIns="0" rtlCol="0" anchor="t"/>
          <a:lstStyle/>
          <a:p>
            <a:pPr marL="0" indent="0">
              <a:lnSpc>
                <a:spcPct val="100000"/>
              </a:lnSpc>
              <a:spcAft>
                <a:spcPts val="400"/>
              </a:spcAft>
              <a:buNone/>
            </a:pPr>
            <a:r>
              <a:rPr lang="en-US" sz="950" b="0" dirty="0">
                <a:solidFill>
                  <a:srgbClr val="595959"/>
                </a:solidFill>
                <a:latin typeface="Product Sans" pitchFamily="34" charset="0"/>
                <a:ea typeface="Product Sans" pitchFamily="34" charset="-122"/>
                <a:cs typeface="Product Sans" pitchFamily="34" charset="-120"/>
              </a:rPr>
              <a:t>Plant dynamics from physics or data</a:t>
            </a:r>
            <a:endParaRPr lang="en-US" sz="950" dirty="0"/>
          </a:p>
        </p:txBody>
      </p:sp>
      <p:sp>
        <p:nvSpPr>
          <p:cNvPr id="21" name="Shape 17"/>
          <p:cNvSpPr/>
          <p:nvPr/>
        </p:nvSpPr>
        <p:spPr>
          <a:xfrm>
            <a:off x="4325112" y="2697480"/>
            <a:ext cx="3639312" cy="1243584"/>
          </a:xfrm>
          <a:prstGeom prst="roundRect">
            <a:avLst>
              <a:gd name="adj" fmla="val 5147"/>
            </a:avLst>
          </a:prstGeom>
          <a:solidFill>
            <a:srgbClr val="EEF2FA"/>
          </a:solidFill>
          <a:ln w="9525">
            <a:solidFill>
              <a:srgbClr val="C9D6EE"/>
            </a:solidFill>
            <a:prstDash val="solid"/>
          </a:ln>
        </p:spPr>
        <p:txBody>
          <a:bodyPr/>
          <a:lstStyle/>
          <a:p>
            <a:endParaRPr lang="en-US"/>
          </a:p>
        </p:txBody>
      </p:sp>
      <p:sp>
        <p:nvSpPr>
          <p:cNvPr id="22" name="Text 18"/>
          <p:cNvSpPr/>
          <p:nvPr/>
        </p:nvSpPr>
        <p:spPr>
          <a:xfrm>
            <a:off x="4489704" y="2807208"/>
            <a:ext cx="3310128" cy="292608"/>
          </a:xfrm>
          <a:prstGeom prst="rect">
            <a:avLst/>
          </a:prstGeom>
          <a:noFill/>
          <a:ln/>
        </p:spPr>
        <p:txBody>
          <a:bodyPr wrap="square" lIns="0" tIns="0" rIns="0" bIns="0" rtlCol="0" anchor="ctr"/>
          <a:lstStyle/>
          <a:p>
            <a:pPr marL="0" indent="0">
              <a:buNone/>
            </a:pPr>
            <a:r>
              <a:rPr lang="en-US" sz="1050" b="0" dirty="0">
                <a:solidFill>
                  <a:srgbClr val="1F3864"/>
                </a:solidFill>
                <a:latin typeface="Product Sans" pitchFamily="34" charset="0"/>
                <a:ea typeface="Product Sans" pitchFamily="34" charset="-122"/>
                <a:cs typeface="Product Sans" pitchFamily="34" charset="-120"/>
              </a:rPr>
              <a:t>building-architecture-models</a:t>
            </a:r>
            <a:endParaRPr lang="en-US" sz="1050" dirty="0"/>
          </a:p>
        </p:txBody>
      </p:sp>
      <p:sp>
        <p:nvSpPr>
          <p:cNvPr id="23" name="Text 19"/>
          <p:cNvSpPr/>
          <p:nvPr/>
        </p:nvSpPr>
        <p:spPr>
          <a:xfrm>
            <a:off x="4489704" y="3136392"/>
            <a:ext cx="3310128" cy="713232"/>
          </a:xfrm>
          <a:prstGeom prst="rect">
            <a:avLst/>
          </a:prstGeom>
          <a:noFill/>
          <a:ln/>
        </p:spPr>
        <p:txBody>
          <a:bodyPr wrap="square" lIns="0" tIns="0" rIns="0" bIns="0" rtlCol="0" anchor="t"/>
          <a:lstStyle/>
          <a:p>
            <a:pPr marL="0" indent="0">
              <a:lnSpc>
                <a:spcPct val="100000"/>
              </a:lnSpc>
              <a:spcAft>
                <a:spcPts val="400"/>
              </a:spcAft>
              <a:buNone/>
            </a:pPr>
            <a:r>
              <a:rPr lang="en-US" sz="950" b="0" dirty="0">
                <a:solidFill>
                  <a:srgbClr val="595959"/>
                </a:solidFill>
                <a:latin typeface="Product Sans" pitchFamily="34" charset="0"/>
                <a:ea typeface="Product Sans" pitchFamily="34" charset="-122"/>
                <a:cs typeface="Product Sans" pitchFamily="34" charset="-120"/>
              </a:rPr>
              <a:t>System Composer architectures — MBSE</a:t>
            </a:r>
            <a:endParaRPr lang="en-US" sz="950" dirty="0"/>
          </a:p>
        </p:txBody>
      </p:sp>
      <p:sp>
        <p:nvSpPr>
          <p:cNvPr id="24" name="Shape 20"/>
          <p:cNvSpPr/>
          <p:nvPr/>
        </p:nvSpPr>
        <p:spPr>
          <a:xfrm>
            <a:off x="8101584" y="2697480"/>
            <a:ext cx="3639312" cy="1243584"/>
          </a:xfrm>
          <a:prstGeom prst="roundRect">
            <a:avLst>
              <a:gd name="adj" fmla="val 5147"/>
            </a:avLst>
          </a:prstGeom>
          <a:solidFill>
            <a:srgbClr val="EEF2FA"/>
          </a:solidFill>
          <a:ln w="9525">
            <a:solidFill>
              <a:srgbClr val="C9D6EE"/>
            </a:solidFill>
            <a:prstDash val="solid"/>
          </a:ln>
        </p:spPr>
        <p:txBody>
          <a:bodyPr/>
          <a:lstStyle/>
          <a:p>
            <a:endParaRPr lang="en-US"/>
          </a:p>
        </p:txBody>
      </p:sp>
      <p:sp>
        <p:nvSpPr>
          <p:cNvPr id="25" name="Text 21"/>
          <p:cNvSpPr/>
          <p:nvPr/>
        </p:nvSpPr>
        <p:spPr>
          <a:xfrm>
            <a:off x="8266176" y="2807208"/>
            <a:ext cx="3310128" cy="292608"/>
          </a:xfrm>
          <a:prstGeom prst="rect">
            <a:avLst/>
          </a:prstGeom>
          <a:noFill/>
          <a:ln/>
        </p:spPr>
        <p:txBody>
          <a:bodyPr wrap="square" lIns="0" tIns="0" rIns="0" bIns="0" rtlCol="0" anchor="ctr"/>
          <a:lstStyle/>
          <a:p>
            <a:pPr marL="0" indent="0">
              <a:buNone/>
            </a:pPr>
            <a:r>
              <a:rPr lang="en-US" sz="1050" b="0" dirty="0">
                <a:solidFill>
                  <a:srgbClr val="1F3864"/>
                </a:solidFill>
                <a:latin typeface="Product Sans" pitchFamily="34" charset="0"/>
                <a:ea typeface="Product Sans" pitchFamily="34" charset="-122"/>
                <a:cs typeface="Product Sans" pitchFamily="34" charset="-120"/>
              </a:rPr>
              <a:t>inject-faults · safety analysis</a:t>
            </a:r>
            <a:endParaRPr lang="en-US" sz="1050" dirty="0"/>
          </a:p>
        </p:txBody>
      </p:sp>
      <p:sp>
        <p:nvSpPr>
          <p:cNvPr id="26" name="Text 22"/>
          <p:cNvSpPr/>
          <p:nvPr/>
        </p:nvSpPr>
        <p:spPr>
          <a:xfrm>
            <a:off x="8266176" y="3136392"/>
            <a:ext cx="3310128" cy="713232"/>
          </a:xfrm>
          <a:prstGeom prst="rect">
            <a:avLst/>
          </a:prstGeom>
          <a:noFill/>
          <a:ln/>
        </p:spPr>
        <p:txBody>
          <a:bodyPr wrap="square" lIns="0" tIns="0" rIns="0" bIns="0" rtlCol="0" anchor="t"/>
          <a:lstStyle/>
          <a:p>
            <a:pPr marL="0" indent="0">
              <a:lnSpc>
                <a:spcPct val="100000"/>
              </a:lnSpc>
              <a:spcAft>
                <a:spcPts val="400"/>
              </a:spcAft>
              <a:buNone/>
            </a:pPr>
            <a:r>
              <a:rPr lang="en-US" sz="950" b="0" dirty="0">
                <a:solidFill>
                  <a:srgbClr val="595959"/>
                </a:solidFill>
                <a:latin typeface="Product Sans" pitchFamily="34" charset="0"/>
                <a:ea typeface="Product Sans" pitchFamily="34" charset="-122"/>
                <a:cs typeface="Product Sans" pitchFamily="34" charset="-120"/>
              </a:rPr>
              <a:t>FMEA, fault trees — Simulink Fault Analyzer</a:t>
            </a:r>
            <a:endParaRPr lang="en-US" sz="950" dirty="0"/>
          </a:p>
        </p:txBody>
      </p:sp>
      <p:sp>
        <p:nvSpPr>
          <p:cNvPr id="27" name="Shape 23"/>
          <p:cNvSpPr/>
          <p:nvPr/>
        </p:nvSpPr>
        <p:spPr>
          <a:xfrm>
            <a:off x="548640" y="4069080"/>
            <a:ext cx="3639312" cy="1243584"/>
          </a:xfrm>
          <a:prstGeom prst="roundRect">
            <a:avLst>
              <a:gd name="adj" fmla="val 5147"/>
            </a:avLst>
          </a:prstGeom>
          <a:solidFill>
            <a:srgbClr val="EEF2FA"/>
          </a:solidFill>
          <a:ln w="9525">
            <a:solidFill>
              <a:srgbClr val="C9D6EE"/>
            </a:solidFill>
            <a:prstDash val="solid"/>
          </a:ln>
        </p:spPr>
        <p:txBody>
          <a:bodyPr/>
          <a:lstStyle/>
          <a:p>
            <a:endParaRPr lang="en-US"/>
          </a:p>
        </p:txBody>
      </p:sp>
      <p:sp>
        <p:nvSpPr>
          <p:cNvPr id="28" name="Text 24"/>
          <p:cNvSpPr/>
          <p:nvPr/>
        </p:nvSpPr>
        <p:spPr>
          <a:xfrm>
            <a:off x="713232" y="4178808"/>
            <a:ext cx="3310128" cy="292608"/>
          </a:xfrm>
          <a:prstGeom prst="rect">
            <a:avLst/>
          </a:prstGeom>
          <a:noFill/>
          <a:ln/>
        </p:spPr>
        <p:txBody>
          <a:bodyPr wrap="square" lIns="0" tIns="0" rIns="0" bIns="0" rtlCol="0" anchor="ctr"/>
          <a:lstStyle/>
          <a:p>
            <a:pPr marL="0" indent="0">
              <a:buNone/>
            </a:pPr>
            <a:r>
              <a:rPr lang="en-US" sz="1050" b="0" dirty="0">
                <a:solidFill>
                  <a:srgbClr val="1F3864"/>
                </a:solidFill>
                <a:latin typeface="Product Sans" pitchFamily="34" charset="0"/>
                <a:ea typeface="Product Sans" pitchFamily="34" charset="-122"/>
                <a:cs typeface="Product Sans" pitchFamily="34" charset="-120"/>
              </a:rPr>
              <a:t>linearize · frequency response</a:t>
            </a:r>
            <a:endParaRPr lang="en-US" sz="1050" dirty="0"/>
          </a:p>
        </p:txBody>
      </p:sp>
      <p:sp>
        <p:nvSpPr>
          <p:cNvPr id="29" name="Text 25"/>
          <p:cNvSpPr/>
          <p:nvPr/>
        </p:nvSpPr>
        <p:spPr>
          <a:xfrm>
            <a:off x="713232" y="4507992"/>
            <a:ext cx="3310128" cy="713232"/>
          </a:xfrm>
          <a:prstGeom prst="rect">
            <a:avLst/>
          </a:prstGeom>
          <a:noFill/>
          <a:ln/>
        </p:spPr>
        <p:txBody>
          <a:bodyPr wrap="square" lIns="0" tIns="0" rIns="0" bIns="0" rtlCol="0" anchor="t"/>
          <a:lstStyle/>
          <a:p>
            <a:pPr marL="0" indent="0">
              <a:lnSpc>
                <a:spcPct val="100000"/>
              </a:lnSpc>
              <a:spcAft>
                <a:spcPts val="400"/>
              </a:spcAft>
              <a:buNone/>
            </a:pPr>
            <a:r>
              <a:rPr lang="en-US" sz="950" b="0" dirty="0">
                <a:solidFill>
                  <a:srgbClr val="595959"/>
                </a:solidFill>
                <a:latin typeface="Product Sans" pitchFamily="34" charset="0"/>
                <a:ea typeface="Product Sans" pitchFamily="34" charset="-122"/>
                <a:cs typeface="Product Sans" pitchFamily="34" charset="-120"/>
              </a:rPr>
              <a:t>Control design — Simulink Control Design</a:t>
            </a:r>
            <a:endParaRPr lang="en-US" sz="950" dirty="0"/>
          </a:p>
        </p:txBody>
      </p:sp>
      <p:sp>
        <p:nvSpPr>
          <p:cNvPr id="30" name="Shape 26"/>
          <p:cNvSpPr/>
          <p:nvPr/>
        </p:nvSpPr>
        <p:spPr>
          <a:xfrm>
            <a:off x="4325112" y="4069080"/>
            <a:ext cx="3639312" cy="1243584"/>
          </a:xfrm>
          <a:prstGeom prst="roundRect">
            <a:avLst>
              <a:gd name="adj" fmla="val 5147"/>
            </a:avLst>
          </a:prstGeom>
          <a:solidFill>
            <a:srgbClr val="EEF2FA"/>
          </a:solidFill>
          <a:ln w="9525">
            <a:solidFill>
              <a:srgbClr val="C9D6EE"/>
            </a:solidFill>
            <a:prstDash val="solid"/>
          </a:ln>
        </p:spPr>
        <p:txBody>
          <a:bodyPr/>
          <a:lstStyle/>
          <a:p>
            <a:endParaRPr lang="en-US"/>
          </a:p>
        </p:txBody>
      </p:sp>
      <p:sp>
        <p:nvSpPr>
          <p:cNvPr id="31" name="Text 27"/>
          <p:cNvSpPr/>
          <p:nvPr/>
        </p:nvSpPr>
        <p:spPr>
          <a:xfrm>
            <a:off x="4489704" y="4178808"/>
            <a:ext cx="3310128" cy="292608"/>
          </a:xfrm>
          <a:prstGeom prst="rect">
            <a:avLst/>
          </a:prstGeom>
          <a:noFill/>
          <a:ln/>
        </p:spPr>
        <p:txBody>
          <a:bodyPr wrap="square" lIns="0" tIns="0" rIns="0" bIns="0" rtlCol="0" anchor="ctr"/>
          <a:lstStyle/>
          <a:p>
            <a:pPr marL="0" indent="0">
              <a:buNone/>
            </a:pPr>
            <a:r>
              <a:rPr lang="en-US" sz="1050" b="0" dirty="0">
                <a:solidFill>
                  <a:srgbClr val="1F3864"/>
                </a:solidFill>
                <a:latin typeface="Product Sans" pitchFamily="34" charset="0"/>
                <a:ea typeface="Product Sans" pitchFamily="34" charset="-122"/>
                <a:cs typeface="Product Sans" pitchFamily="34" charset="-120"/>
              </a:rPr>
              <a:t>checking-model-compliance</a:t>
            </a:r>
            <a:endParaRPr lang="en-US" sz="1050" dirty="0"/>
          </a:p>
        </p:txBody>
      </p:sp>
      <p:sp>
        <p:nvSpPr>
          <p:cNvPr id="32" name="Text 28"/>
          <p:cNvSpPr/>
          <p:nvPr/>
        </p:nvSpPr>
        <p:spPr>
          <a:xfrm>
            <a:off x="4489704" y="4507992"/>
            <a:ext cx="3310128" cy="713232"/>
          </a:xfrm>
          <a:prstGeom prst="rect">
            <a:avLst/>
          </a:prstGeom>
          <a:noFill/>
          <a:ln/>
        </p:spPr>
        <p:txBody>
          <a:bodyPr wrap="square" lIns="0" tIns="0" rIns="0" bIns="0" rtlCol="0" anchor="t"/>
          <a:lstStyle/>
          <a:p>
            <a:pPr marL="0" indent="0">
              <a:lnSpc>
                <a:spcPct val="100000"/>
              </a:lnSpc>
              <a:spcAft>
                <a:spcPts val="400"/>
              </a:spcAft>
              <a:buNone/>
            </a:pPr>
            <a:r>
              <a:rPr lang="en-US" sz="950" b="0" dirty="0">
                <a:solidFill>
                  <a:srgbClr val="595959"/>
                </a:solidFill>
                <a:latin typeface="Product Sans" pitchFamily="34" charset="0"/>
                <a:ea typeface="Product Sans" pitchFamily="34" charset="-122"/>
                <a:cs typeface="Product Sans" pitchFamily="34" charset="-120"/>
              </a:rPr>
              <a:t>MAB / MISRA / ISO via Model Advisor + custom checks</a:t>
            </a:r>
            <a:endParaRPr lang="en-US" sz="950" dirty="0"/>
          </a:p>
        </p:txBody>
      </p:sp>
      <p:sp>
        <p:nvSpPr>
          <p:cNvPr id="33" name="Shape 29"/>
          <p:cNvSpPr/>
          <p:nvPr/>
        </p:nvSpPr>
        <p:spPr>
          <a:xfrm>
            <a:off x="8101584" y="4069080"/>
            <a:ext cx="3639312" cy="1243584"/>
          </a:xfrm>
          <a:prstGeom prst="roundRect">
            <a:avLst>
              <a:gd name="adj" fmla="val 5147"/>
            </a:avLst>
          </a:prstGeom>
          <a:solidFill>
            <a:srgbClr val="EEF2FA"/>
          </a:solidFill>
          <a:ln w="9525">
            <a:solidFill>
              <a:srgbClr val="C9D6EE"/>
            </a:solidFill>
            <a:prstDash val="solid"/>
          </a:ln>
        </p:spPr>
        <p:txBody>
          <a:bodyPr/>
          <a:lstStyle/>
          <a:p>
            <a:endParaRPr lang="en-US"/>
          </a:p>
        </p:txBody>
      </p:sp>
      <p:sp>
        <p:nvSpPr>
          <p:cNvPr id="34" name="Text 30"/>
          <p:cNvSpPr/>
          <p:nvPr/>
        </p:nvSpPr>
        <p:spPr>
          <a:xfrm>
            <a:off x="8266176" y="4178808"/>
            <a:ext cx="3310128" cy="292608"/>
          </a:xfrm>
          <a:prstGeom prst="rect">
            <a:avLst/>
          </a:prstGeom>
          <a:noFill/>
          <a:ln/>
        </p:spPr>
        <p:txBody>
          <a:bodyPr wrap="square" lIns="0" tIns="0" rIns="0" bIns="0" rtlCol="0" anchor="ctr"/>
          <a:lstStyle/>
          <a:p>
            <a:pPr marL="0" indent="0">
              <a:buNone/>
            </a:pPr>
            <a:r>
              <a:rPr lang="en-US" sz="1050" b="0" dirty="0">
                <a:solidFill>
                  <a:srgbClr val="1F3864"/>
                </a:solidFill>
                <a:latin typeface="Product Sans" pitchFamily="34" charset="0"/>
                <a:ea typeface="Product Sans" pitchFamily="34" charset="-122"/>
                <a:cs typeface="Product Sans" pitchFamily="34" charset="-120"/>
              </a:rPr>
              <a:t>configuring-block-policy</a:t>
            </a:r>
            <a:endParaRPr lang="en-US" sz="1050" dirty="0"/>
          </a:p>
        </p:txBody>
      </p:sp>
      <p:sp>
        <p:nvSpPr>
          <p:cNvPr id="35" name="Text 31"/>
          <p:cNvSpPr/>
          <p:nvPr/>
        </p:nvSpPr>
        <p:spPr>
          <a:xfrm>
            <a:off x="8266176" y="4507992"/>
            <a:ext cx="3310128" cy="713232"/>
          </a:xfrm>
          <a:prstGeom prst="rect">
            <a:avLst/>
          </a:prstGeom>
          <a:noFill/>
          <a:ln/>
        </p:spPr>
        <p:txBody>
          <a:bodyPr wrap="square" lIns="0" tIns="0" rIns="0" bIns="0" rtlCol="0" anchor="t"/>
          <a:lstStyle/>
          <a:p>
            <a:pPr marL="0" indent="0">
              <a:lnSpc>
                <a:spcPct val="100000"/>
              </a:lnSpc>
              <a:spcAft>
                <a:spcPts val="400"/>
              </a:spcAft>
              <a:buNone/>
            </a:pPr>
            <a:r>
              <a:rPr lang="en-US" sz="950" b="0" dirty="0">
                <a:solidFill>
                  <a:srgbClr val="595959"/>
                </a:solidFill>
                <a:latin typeface="Product Sans" pitchFamily="34" charset="0"/>
                <a:ea typeface="Product Sans" pitchFamily="34" charset="-122"/>
                <a:cs typeface="Product Sans" pitchFamily="34" charset="-120"/>
              </a:rPr>
              <a:t>Which blocks the agent may use — your guardrails</a:t>
            </a:r>
            <a:endParaRPr lang="en-US" sz="950" dirty="0"/>
          </a:p>
        </p:txBody>
      </p:sp>
      <p:sp>
        <p:nvSpPr>
          <p:cNvPr id="36" name="Shape 32"/>
          <p:cNvSpPr/>
          <p:nvPr/>
        </p:nvSpPr>
        <p:spPr>
          <a:xfrm>
            <a:off x="548640" y="5669280"/>
            <a:ext cx="11091672" cy="365760"/>
          </a:xfrm>
          <a:prstGeom prst="roundRect">
            <a:avLst>
              <a:gd name="adj" fmla="val 15000"/>
            </a:avLst>
          </a:prstGeom>
          <a:solidFill>
            <a:srgbClr val="1F3864"/>
          </a:solidFill>
          <a:ln w="12700">
            <a:solidFill>
              <a:srgbClr val="1F3864"/>
            </a:solidFill>
            <a:prstDash val="solid"/>
          </a:ln>
        </p:spPr>
        <p:txBody>
          <a:bodyPr/>
          <a:lstStyle/>
          <a:p>
            <a:endParaRPr lang="en-US"/>
          </a:p>
        </p:txBody>
      </p:sp>
      <p:sp>
        <p:nvSpPr>
          <p:cNvPr id="37" name="Text 33"/>
          <p:cNvSpPr/>
          <p:nvPr/>
        </p:nvSpPr>
        <p:spPr>
          <a:xfrm>
            <a:off x="685800" y="5669280"/>
            <a:ext cx="10817352" cy="365760"/>
          </a:xfrm>
          <a:prstGeom prst="rect">
            <a:avLst/>
          </a:prstGeom>
          <a:noFill/>
          <a:ln/>
        </p:spPr>
        <p:txBody>
          <a:bodyPr wrap="square" lIns="0" tIns="0" rIns="0" bIns="0" rtlCol="0" anchor="ctr"/>
          <a:lstStyle/>
          <a:p>
            <a:pPr marL="0" indent="0" algn="ctr">
              <a:buNone/>
            </a:pPr>
            <a:r>
              <a:rPr lang="en-US" sz="1150" b="0" dirty="0">
                <a:solidFill>
                  <a:srgbClr val="FFFFFF"/>
                </a:solidFill>
                <a:latin typeface="Product Sans" pitchFamily="34" charset="0"/>
                <a:ea typeface="Product Sans" pitchFamily="34" charset="-122"/>
                <a:cs typeface="Product Sans" pitchFamily="34" charset="-120"/>
              </a:rPr>
              <a:t>22 skills across 6 groups — modeling, MBSE, VV&amp;T, simulation, code gen, control — updated weekly. With them, the agent works like an MBD engineer.</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23</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Guardrails: safe by structure, not by hope</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Skills say how the agent should work. Block policy says what it may touch.</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PART 3</a:t>
            </a:r>
          </a:p>
        </p:txBody>
      </p:sp>
      <p:sp>
        <p:nvSpPr>
          <p:cNvPr id="10" name="Rounded Rectangle 9"/>
          <p:cNvSpPr/>
          <p:nvPr/>
        </p:nvSpPr>
        <p:spPr>
          <a:xfrm>
            <a:off x="548640" y="1371600"/>
            <a:ext cx="3602736" cy="23317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786384" y="148132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852403" y="1589044"/>
            <a:ext cx="215432" cy="1320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25372" y="1620316"/>
            <a:ext cx="69494" cy="69494"/>
          </a:xfrm>
          <a:prstGeom prst="ellipse">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80160" y="1508760"/>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Review checkpoints</a:t>
            </a:r>
          </a:p>
        </p:txBody>
      </p:sp>
      <p:sp>
        <p:nvSpPr>
          <p:cNvPr id="15" name="TextBox 14"/>
          <p:cNvSpPr txBox="1"/>
          <p:nvPr/>
        </p:nvSpPr>
        <p:spPr>
          <a:xfrm>
            <a:off x="786384" y="1911095"/>
            <a:ext cx="3127248" cy="16824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You approve the plan and inspect each stage before the agent continues</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Nothing lands unreviewed — that is the whole method</a:t>
            </a:r>
          </a:p>
        </p:txBody>
      </p:sp>
      <p:sp>
        <p:nvSpPr>
          <p:cNvPr id="16" name="Rounded Rectangle 15"/>
          <p:cNvSpPr/>
          <p:nvPr/>
        </p:nvSpPr>
        <p:spPr>
          <a:xfrm>
            <a:off x="4297680" y="1371600"/>
            <a:ext cx="3602736" cy="23317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4535424" y="148132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Block Arc 17"/>
          <p:cNvSpPr/>
          <p:nvPr/>
        </p:nvSpPr>
        <p:spPr>
          <a:xfrm>
            <a:off x="4636190" y="1529974"/>
            <a:ext cx="145938" cy="145938"/>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4618817" y="1634215"/>
            <a:ext cx="180685" cy="1389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029200" y="1508760"/>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Scoped tool execution</a:t>
            </a:r>
          </a:p>
        </p:txBody>
      </p:sp>
      <p:sp>
        <p:nvSpPr>
          <p:cNvPr id="21" name="TextBox 20"/>
          <p:cNvSpPr txBox="1"/>
          <p:nvPr/>
        </p:nvSpPr>
        <p:spPr>
          <a:xfrm>
            <a:off x="4535424" y="1911095"/>
            <a:ext cx="3127248" cy="16824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Edits go through model_edit and friends — precise, auditable changes</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Not uncontrolled access to your machine or your files</a:t>
            </a:r>
          </a:p>
        </p:txBody>
      </p:sp>
      <p:sp>
        <p:nvSpPr>
          <p:cNvPr id="22" name="Rounded Rectangle 21"/>
          <p:cNvSpPr/>
          <p:nvPr/>
        </p:nvSpPr>
        <p:spPr>
          <a:xfrm>
            <a:off x="8037575" y="1371600"/>
            <a:ext cx="3602736" cy="23317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8275319" y="1481328"/>
            <a:ext cx="347472" cy="347472"/>
          </a:xfrm>
          <a:prstGeom prst="ellipse">
            <a:avLst/>
          </a:prstGeom>
          <a:solidFill>
            <a:srgbClr val="2F7D3B"/>
          </a:solidFill>
          <a:ln w="1905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275319" y="1481328"/>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350" b="0" i="0">
                <a:solidFill>
                  <a:srgbClr val="FFFFFF"/>
                </a:solidFill>
                <a:latin typeface="Product Sans"/>
                <a:ea typeface="Product Sans"/>
                <a:cs typeface="Product Sans"/>
              </a:rPr>
              <a:t>✓</a:t>
            </a:r>
          </a:p>
        </p:txBody>
      </p:sp>
      <p:sp>
        <p:nvSpPr>
          <p:cNvPr id="25" name="TextBox 24"/>
          <p:cNvSpPr txBox="1"/>
          <p:nvPr/>
        </p:nvSpPr>
        <p:spPr>
          <a:xfrm>
            <a:off x="8769096" y="1508760"/>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Independent verification</a:t>
            </a:r>
          </a:p>
        </p:txBody>
      </p:sp>
      <p:sp>
        <p:nvSpPr>
          <p:cNvPr id="26" name="TextBox 25"/>
          <p:cNvSpPr txBox="1"/>
          <p:nvPr/>
        </p:nvSpPr>
        <p:spPr>
          <a:xfrm>
            <a:off x="8275319" y="1911095"/>
            <a:ext cx="3127248" cy="16824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You own the acceptance criteria; the agent never grades its own homework</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Requirements-based tests and Model Advisor checks are deterministic</a:t>
            </a:r>
          </a:p>
        </p:txBody>
      </p:sp>
      <p:sp>
        <p:nvSpPr>
          <p:cNvPr id="27" name="TextBox 26"/>
          <p:cNvSpPr txBox="1"/>
          <p:nvPr/>
        </p:nvSpPr>
        <p:spPr>
          <a:xfrm>
            <a:off x="548640" y="3886200"/>
            <a:ext cx="5486400" cy="237744"/>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.satk/block-policy.json — HARD GUARDRAILS</a:t>
            </a:r>
          </a:p>
        </p:txBody>
      </p:sp>
      <p:sp>
        <p:nvSpPr>
          <p:cNvPr id="28" name="Rounded Rectangle 27"/>
          <p:cNvSpPr/>
          <p:nvPr/>
        </p:nvSpPr>
        <p:spPr>
          <a:xfrm>
            <a:off x="548640" y="4142232"/>
            <a:ext cx="5486400" cy="137160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31520" y="4270248"/>
            <a:ext cx="5120640" cy="1115568"/>
          </a:xfrm>
          <a:prstGeom prst="rect">
            <a:avLst/>
          </a:prstGeom>
          <a:noFill/>
        </p:spPr>
        <p:txBody>
          <a:bodyPr wrap="square" lIns="0" tIns="0" rIns="0" bIns="0" anchor="t">
            <a:spAutoFit/>
          </a:bodyPr>
          <a:lstStyle/>
          <a:p>
            <a:pPr marL="0" indent="0" algn="l">
              <a:lnSpc>
                <a:spcPct val="100000"/>
              </a:lnSpc>
              <a:spcAft>
                <a:spcPts val="100"/>
              </a:spcAft>
              <a:buNone/>
            </a:pPr>
            <a:r>
              <a:rPr sz="1150" b="0" i="0">
                <a:solidFill>
                  <a:srgbClr val="1F3864"/>
                </a:solidFill>
                <a:latin typeface="Cascadia Mono"/>
                <a:ea typeface="Cascadia Mono"/>
                <a:cs typeface="Cascadia Mono"/>
              </a:rPr>
              <a:t>{</a:t>
            </a:r>
          </a:p>
          <a:p>
            <a:pPr marL="0" indent="0" algn="l">
              <a:lnSpc>
                <a:spcPct val="100000"/>
              </a:lnSpc>
              <a:spcAft>
                <a:spcPts val="100"/>
              </a:spcAft>
              <a:buNone/>
            </a:pPr>
            <a:r>
              <a:rPr sz="1150" b="0" i="0">
                <a:solidFill>
                  <a:srgbClr val="1F3864"/>
                </a:solidFill>
                <a:latin typeface="Cascadia Mono"/>
                <a:ea typeface="Cascadia Mono"/>
                <a:cs typeface="Cascadia Mono"/>
              </a:rPr>
              <a:t>  "allowed_blocks":   ["Gain", "Sum", ...],</a:t>
            </a:r>
          </a:p>
          <a:p>
            <a:pPr marL="0" indent="0" algn="l">
              <a:lnSpc>
                <a:spcPct val="100000"/>
              </a:lnSpc>
              <a:spcAft>
                <a:spcPts val="100"/>
              </a:spcAft>
              <a:buNone/>
            </a:pPr>
            <a:r>
              <a:rPr sz="1150" b="0" i="0">
                <a:solidFill>
                  <a:srgbClr val="1F3864"/>
                </a:solidFill>
                <a:latin typeface="Cascadia Mono"/>
                <a:ea typeface="Cascadia Mono"/>
                <a:cs typeface="Cascadia Mono"/>
              </a:rPr>
              <a:t>  "excluded_blocks":  ["Goto", "From"],</a:t>
            </a:r>
          </a:p>
          <a:p>
            <a:pPr marL="0" indent="0" algn="l">
              <a:lnSpc>
                <a:spcPct val="100000"/>
              </a:lnSpc>
              <a:spcAft>
                <a:spcPts val="100"/>
              </a:spcAft>
              <a:buNone/>
            </a:pPr>
            <a:r>
              <a:rPr sz="1150" b="0" i="0">
                <a:solidFill>
                  <a:srgbClr val="1F3864"/>
                </a:solidFill>
                <a:latin typeface="Cascadia Mono"/>
                <a:ea typeface="Cascadia Mono"/>
                <a:cs typeface="Cascadia Mono"/>
              </a:rPr>
              <a:t>  "protected_params": ["SolverType"]</a:t>
            </a:r>
          </a:p>
          <a:p>
            <a:pPr marL="0" indent="0" algn="l">
              <a:lnSpc>
                <a:spcPct val="100000"/>
              </a:lnSpc>
              <a:spcAft>
                <a:spcPts val="100"/>
              </a:spcAft>
              <a:buNone/>
            </a:pPr>
            <a:r>
              <a:rPr sz="1150" b="0" i="0">
                <a:solidFill>
                  <a:srgbClr val="1F3864"/>
                </a:solidFill>
                <a:latin typeface="Cascadia Mono"/>
                <a:ea typeface="Cascadia Mono"/>
                <a:cs typeface="Cascadia Mono"/>
              </a:rPr>
              <a:t>}</a:t>
            </a:r>
          </a:p>
        </p:txBody>
      </p:sp>
      <p:sp>
        <p:nvSpPr>
          <p:cNvPr id="30" name="Rounded Rectangle 29"/>
          <p:cNvSpPr/>
          <p:nvPr/>
        </p:nvSpPr>
        <p:spPr>
          <a:xfrm>
            <a:off x="6245352" y="4142232"/>
            <a:ext cx="5394960" cy="137160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0"/>
          <p:cNvSpPr/>
          <p:nvPr/>
        </p:nvSpPr>
        <p:spPr>
          <a:xfrm>
            <a:off x="6483096" y="4251960"/>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Gear 6 31"/>
          <p:cNvSpPr/>
          <p:nvPr/>
        </p:nvSpPr>
        <p:spPr>
          <a:xfrm>
            <a:off x="6569964" y="4338828"/>
            <a:ext cx="173736" cy="173736"/>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976872" y="4279392"/>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Also worth setting</a:t>
            </a:r>
          </a:p>
        </p:txBody>
      </p:sp>
      <p:sp>
        <p:nvSpPr>
          <p:cNvPr id="34" name="TextBox 33"/>
          <p:cNvSpPr txBox="1"/>
          <p:nvPr/>
        </p:nvSpPr>
        <p:spPr>
          <a:xfrm>
            <a:off x="6483096" y="4681728"/>
            <a:ext cx="4919472" cy="72237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Scope in the prompt: “only inside the Controller subsystem”</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Source control on the model — the diff tells the truth</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Codex keeps approval_mode = "approve": it asks before it runs</a:t>
            </a:r>
          </a:p>
        </p:txBody>
      </p:sp>
      <p:sp>
        <p:nvSpPr>
          <p:cNvPr id="35" name="Rounded Rectangle 34"/>
          <p:cNvSpPr/>
          <p:nvPr/>
        </p:nvSpPr>
        <p:spPr>
          <a:xfrm>
            <a:off x="548640" y="571500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85800" y="571500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Structural boundaries + curated skills + deterministic verification — engineering best practice by design.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34</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If time · the result — 83 % less error</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It read the spectrum first, then designed to what it found — it did not guess a filter</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IF TIME</a:t>
            </a:r>
          </a:p>
        </p:txBody>
      </p:sp>
      <p:sp>
        <p:nvSpPr>
          <p:cNvPr id="10" name="Rounded Rectangle 9"/>
          <p:cNvSpPr/>
          <p:nvPr/>
        </p:nvSpPr>
        <p:spPr>
          <a:xfrm>
            <a:off x="548640" y="1280160"/>
            <a:ext cx="11091672" cy="4160520"/>
          </a:xfrm>
          <a:prstGeom prst="roundRect">
            <a:avLst>
              <a:gd name="adj" fmla="val 4500"/>
            </a:avLst>
          </a:prstGeom>
          <a:solidFill>
            <a:srgbClr val="FFFFFF"/>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demo3_signal.png"/>
          <p:cNvPicPr>
            <a:picLocks noChangeAspect="1"/>
          </p:cNvPicPr>
          <p:nvPr/>
        </p:nvPicPr>
        <p:blipFill>
          <a:blip r:embed="rId4"/>
          <a:stretch>
            <a:fillRect/>
          </a:stretch>
        </p:blipFill>
        <p:spPr>
          <a:xfrm>
            <a:off x="877741" y="1280160"/>
            <a:ext cx="10433468" cy="4160520"/>
          </a:xfrm>
          <a:prstGeom prst="rect">
            <a:avLst/>
          </a:prstGeom>
        </p:spPr>
      </p:pic>
      <p:sp>
        <p:nvSpPr>
          <p:cNvPr id="12" name="Rounded Rectangle 11"/>
          <p:cNvSpPr/>
          <p:nvPr/>
        </p:nvSpPr>
        <p:spPr>
          <a:xfrm>
            <a:off x="548640" y="5568696"/>
            <a:ext cx="11091672" cy="603504"/>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5568696"/>
            <a:ext cx="10817352" cy="603504"/>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The 49.8 Hz spike is gone and the low-frequency signal is intact — zero-phase filtering, so the timing of the brake event is preserved.</a:t>
            </a:r>
          </a:p>
        </p:txBody>
      </p:sp>
      <p:sp>
        <p:nvSpPr>
          <p:cNvPr id="14" name="TextBox 13"/>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Run /usage now — and again at every checkpoint.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35</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If time · the three prompts that got there</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~4 min · three small prompts · the everyday task that eats research time</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IF TIME</a:t>
            </a:r>
          </a:p>
        </p:txBody>
      </p:sp>
      <p:sp>
        <p:nvSpPr>
          <p:cNvPr id="10" name="TextBox 9"/>
          <p:cNvSpPr txBox="1"/>
          <p:nvPr/>
        </p:nvSpPr>
        <p:spPr>
          <a:xfrm>
            <a:off x="548640" y="1344168"/>
            <a:ext cx="6675120" cy="237744"/>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PROMPTS — ONE AT A TIME</a:t>
            </a:r>
          </a:p>
        </p:txBody>
      </p:sp>
      <p:sp>
        <p:nvSpPr>
          <p:cNvPr id="11" name="Rounded Rectangle 10"/>
          <p:cNvSpPr/>
          <p:nvPr/>
        </p:nvSpPr>
        <p:spPr>
          <a:xfrm>
            <a:off x="548640" y="1600200"/>
            <a:ext cx="6675120" cy="26060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1728216"/>
            <a:ext cx="6309359" cy="2350008"/>
          </a:xfrm>
          <a:prstGeom prst="rect">
            <a:avLst/>
          </a:prstGeom>
          <a:noFill/>
        </p:spPr>
        <p:txBody>
          <a:bodyPr wrap="square" lIns="0" tIns="0" rIns="0" bIns="0" anchor="t">
            <a:spAutoFit/>
          </a:bodyPr>
          <a:lstStyle/>
          <a:p>
            <a:pPr marL="0" indent="0" algn="l">
              <a:lnSpc>
                <a:spcPct val="100000"/>
              </a:lnSpc>
              <a:spcAft>
                <a:spcPts val="100"/>
              </a:spcAft>
              <a:buNone/>
            </a:pPr>
            <a:r>
              <a:rPr sz="1100" b="0" i="0">
                <a:solidFill>
                  <a:srgbClr val="1F3864"/>
                </a:solidFill>
                <a:latin typeface="Cascadia Mono"/>
                <a:ea typeface="Cascadia Mono"/>
                <a:cs typeface="Cascadia Mono"/>
              </a:rPr>
              <a:t>1  Load wheel_speed_raw.mat. Before you filter</a:t>
            </a:r>
          </a:p>
          <a:p>
            <a:pPr marL="0" indent="0" algn="l">
              <a:lnSpc>
                <a:spcPct val="100000"/>
              </a:lnSpc>
              <a:spcAft>
                <a:spcPts val="100"/>
              </a:spcAft>
              <a:buNone/>
            </a:pPr>
            <a:r>
              <a:rPr sz="1100" b="0" i="0">
                <a:solidFill>
                  <a:srgbClr val="1F3864"/>
                </a:solidFill>
                <a:latin typeface="Cascadia Mono"/>
                <a:ea typeface="Cascadia Mono"/>
                <a:cs typeface="Cascadia Mono"/>
              </a:rPr>
              <a:t>   anything, tell me what is in this signal:</a:t>
            </a:r>
          </a:p>
          <a:p>
            <a:pPr marL="0" indent="0" algn="l">
              <a:lnSpc>
                <a:spcPct val="100000"/>
              </a:lnSpc>
              <a:spcAft>
                <a:spcPts val="100"/>
              </a:spcAft>
              <a:buNone/>
            </a:pPr>
            <a:r>
              <a:rPr sz="1100" b="0" i="0">
                <a:solidFill>
                  <a:srgbClr val="1F3864"/>
                </a:solidFill>
                <a:latin typeface="Cascadia Mono"/>
                <a:ea typeface="Cascadia Mono"/>
                <a:cs typeface="Cascadia Mono"/>
              </a:rPr>
              <a:t>   sample rate, spectrum, and what is</a:t>
            </a:r>
          </a:p>
          <a:p>
            <a:pPr marL="0" indent="0" algn="l">
              <a:lnSpc>
                <a:spcPct val="100000"/>
              </a:lnSpc>
              <a:spcAft>
                <a:spcPts val="100"/>
              </a:spcAft>
              <a:buNone/>
            </a:pPr>
            <a:r>
              <a:rPr sz="1100" b="0" i="0">
                <a:solidFill>
                  <a:srgbClr val="1F3864"/>
                </a:solidFill>
                <a:latin typeface="Cascadia Mono"/>
                <a:ea typeface="Cascadia Mono"/>
                <a:cs typeface="Cascadia Mono"/>
              </a:rPr>
              <a:t>   contaminating it.</a:t>
            </a:r>
          </a:p>
          <a:p>
            <a:pPr marL="0" indent="0" algn="l">
              <a:lnSpc>
                <a:spcPct val="100000"/>
              </a:lnSpc>
              <a:spcAft>
                <a:spcPts val="100"/>
              </a:spcAft>
              <a:buNone/>
            </a:pPr>
            <a:endParaRPr sz="1100" b="0" i="0">
              <a:solidFill>
                <a:srgbClr val="1F3864"/>
              </a:solidFill>
              <a:latin typeface="Cascadia Mono"/>
              <a:ea typeface="Cascadia Mono"/>
              <a:cs typeface="Cascadia Mono"/>
            </a:endParaRPr>
          </a:p>
          <a:p>
            <a:pPr marL="0" indent="0" algn="l">
              <a:lnSpc>
                <a:spcPct val="100000"/>
              </a:lnSpc>
              <a:spcAft>
                <a:spcPts val="100"/>
              </a:spcAft>
              <a:buNone/>
            </a:pPr>
            <a:r>
              <a:rPr sz="1100" b="0" i="0">
                <a:solidFill>
                  <a:srgbClr val="1F3864"/>
                </a:solidFill>
                <a:latin typeface="Cascadia Mono"/>
                <a:ea typeface="Cascadia Mono"/>
                <a:cs typeface="Cascadia Mono"/>
              </a:rPr>
              <a:t>2  Design a filter to remove what you found.</a:t>
            </a:r>
          </a:p>
          <a:p>
            <a:pPr marL="0" indent="0" algn="l">
              <a:lnSpc>
                <a:spcPct val="100000"/>
              </a:lnSpc>
              <a:spcAft>
                <a:spcPts val="100"/>
              </a:spcAft>
              <a:buNone/>
            </a:pPr>
            <a:r>
              <a:rPr sz="1100" b="0" i="0">
                <a:solidFill>
                  <a:srgbClr val="1F3864"/>
                </a:solidFill>
                <a:latin typeface="Cascadia Mono"/>
                <a:ea typeface="Cascadia Mono"/>
                <a:cs typeface="Cascadia Mono"/>
              </a:rPr>
              <a:t>   Ask me about passband and phase distortion</a:t>
            </a:r>
          </a:p>
          <a:p>
            <a:pPr marL="0" indent="0" algn="l">
              <a:lnSpc>
                <a:spcPct val="100000"/>
              </a:lnSpc>
              <a:spcAft>
                <a:spcPts val="100"/>
              </a:spcAft>
              <a:buNone/>
            </a:pPr>
            <a:r>
              <a:rPr sz="1100" b="0" i="0">
                <a:solidFill>
                  <a:srgbClr val="1F3864"/>
                </a:solidFill>
                <a:latin typeface="Cascadia Mono"/>
                <a:ea typeface="Cascadia Mono"/>
                <a:cs typeface="Cascadia Mono"/>
              </a:rPr>
              <a:t>   before you design anything.</a:t>
            </a:r>
          </a:p>
          <a:p>
            <a:pPr marL="0" indent="0" algn="l">
              <a:lnSpc>
                <a:spcPct val="100000"/>
              </a:lnSpc>
              <a:spcAft>
                <a:spcPts val="100"/>
              </a:spcAft>
              <a:buNone/>
            </a:pPr>
            <a:endParaRPr sz="1100" b="0" i="0">
              <a:solidFill>
                <a:srgbClr val="1F3864"/>
              </a:solidFill>
              <a:latin typeface="Cascadia Mono"/>
              <a:ea typeface="Cascadia Mono"/>
              <a:cs typeface="Cascadia Mono"/>
            </a:endParaRPr>
          </a:p>
          <a:p>
            <a:pPr marL="0" indent="0" algn="l">
              <a:lnSpc>
                <a:spcPct val="100000"/>
              </a:lnSpc>
              <a:spcAft>
                <a:spcPts val="100"/>
              </a:spcAft>
              <a:buNone/>
            </a:pPr>
            <a:r>
              <a:rPr sz="1100" b="0" i="0">
                <a:solidFill>
                  <a:srgbClr val="1F3864"/>
                </a:solidFill>
                <a:latin typeface="Cascadia Mono"/>
                <a:ea typeface="Cascadia Mono"/>
                <a:cs typeface="Cascadia Mono"/>
              </a:rPr>
              <a:t>3  Apply it. Show me before/after, and how much</a:t>
            </a:r>
          </a:p>
          <a:p>
            <a:pPr marL="0" indent="0" algn="l">
              <a:lnSpc>
                <a:spcPct val="100000"/>
              </a:lnSpc>
              <a:spcAft>
                <a:spcPts val="100"/>
              </a:spcAft>
              <a:buNone/>
            </a:pPr>
            <a:r>
              <a:rPr sz="1100" b="0" i="0">
                <a:solidFill>
                  <a:srgbClr val="1F3864"/>
                </a:solidFill>
                <a:latin typeface="Cascadia Mono"/>
                <a:ea typeface="Cascadia Mono"/>
                <a:cs typeface="Cascadia Mono"/>
              </a:rPr>
              <a:t>   closer we now are to true_speed.</a:t>
            </a:r>
          </a:p>
        </p:txBody>
      </p:sp>
      <p:sp>
        <p:nvSpPr>
          <p:cNvPr id="13" name="Rounded Rectangle 12"/>
          <p:cNvSpPr/>
          <p:nvPr/>
        </p:nvSpPr>
        <p:spPr>
          <a:xfrm>
            <a:off x="7543800" y="1600200"/>
            <a:ext cx="4114800" cy="26060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7781544" y="170992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7847563" y="1817644"/>
            <a:ext cx="215432" cy="1320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920532" y="1848916"/>
            <a:ext cx="69494" cy="69494"/>
          </a:xfrm>
          <a:prstGeom prst="ellipse">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75320" y="1737360"/>
            <a:ext cx="3145536"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Watch for</a:t>
            </a:r>
          </a:p>
        </p:txBody>
      </p:sp>
      <p:sp>
        <p:nvSpPr>
          <p:cNvPr id="18" name="TextBox 17"/>
          <p:cNvSpPr txBox="1"/>
          <p:nvPr/>
        </p:nvSpPr>
        <p:spPr>
          <a:xfrm>
            <a:off x="7781544" y="2139696"/>
            <a:ext cx="3639312" cy="195681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It identifies the interference itself: 49.8 Hz, from the spectrum</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The skill makes it ask about phase — a DSP colleague's question</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It chooses filtfilt for zero phase distortion, and can justify why</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Runs in 0.46 s — the whole analysis is faster than opening the file by hand</a:t>
            </a:r>
          </a:p>
        </p:txBody>
      </p:sp>
      <p:sp>
        <p:nvSpPr>
          <p:cNvPr id="19" name="Rounded Rectangle 18"/>
          <p:cNvSpPr/>
          <p:nvPr/>
        </p:nvSpPr>
        <p:spPr>
          <a:xfrm>
            <a:off x="548640" y="4297680"/>
            <a:ext cx="11091672" cy="548640"/>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7240" y="4297680"/>
            <a:ext cx="10634472" cy="548640"/>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FFFFFF"/>
                </a:solidFill>
                <a:latin typeface="Product Sans"/>
                <a:ea typeface="Product Sans"/>
                <a:cs typeface="Product Sans"/>
              </a:rPr>
              <a:t>RESULT:  49.8 Hz interference + broadband noise removed  ·  RMS error against ground truth 2.330 → 0.397  ·  an 83 % reduction, in 0.46 s</a:t>
            </a:r>
          </a:p>
        </p:txBody>
      </p:sp>
      <p:sp>
        <p:nvSpPr>
          <p:cNvPr id="21" name="Rounded Rectangle 20"/>
          <p:cNvSpPr/>
          <p:nvPr/>
        </p:nvSpPr>
        <p:spPr>
          <a:xfrm>
            <a:off x="548640" y="4983480"/>
            <a:ext cx="11091672" cy="731520"/>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49808" y="5065776"/>
            <a:ext cx="3566160" cy="201168"/>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MCP TOOLS CALLED</a:t>
            </a:r>
          </a:p>
        </p:txBody>
      </p:sp>
      <p:sp>
        <p:nvSpPr>
          <p:cNvPr id="23" name="TextBox 22"/>
          <p:cNvSpPr txBox="1"/>
          <p:nvPr/>
        </p:nvSpPr>
        <p:spPr>
          <a:xfrm>
            <a:off x="749808" y="5276088"/>
            <a:ext cx="3566160" cy="475488"/>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1F3864"/>
                </a:solidFill>
                <a:latin typeface="Cascadia Mono"/>
                <a:ea typeface="Cascadia Mono"/>
                <a:cs typeface="Cascadia Mono"/>
              </a:rPr>
              <a:t>evaluate_matlab_code
run_matlab_file</a:t>
            </a:r>
          </a:p>
        </p:txBody>
      </p:sp>
      <p:sp>
        <p:nvSpPr>
          <p:cNvPr id="24" name="TextBox 23"/>
          <p:cNvSpPr txBox="1"/>
          <p:nvPr/>
        </p:nvSpPr>
        <p:spPr>
          <a:xfrm>
            <a:off x="4453128" y="5065776"/>
            <a:ext cx="3977639" cy="201168"/>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SKILLS TRIGGERED</a:t>
            </a:r>
          </a:p>
        </p:txBody>
      </p:sp>
      <p:sp>
        <p:nvSpPr>
          <p:cNvPr id="25" name="TextBox 24"/>
          <p:cNvSpPr txBox="1"/>
          <p:nvPr/>
        </p:nvSpPr>
        <p:spPr>
          <a:xfrm>
            <a:off x="4453128" y="5276088"/>
            <a:ext cx="3977639" cy="475488"/>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1F3864"/>
                </a:solidFill>
                <a:latin typeface="Cascadia Mono"/>
                <a:ea typeface="Cascadia Mono"/>
                <a:cs typeface="Cascadia Mono"/>
              </a:rPr>
              <a:t>matlab-design-digital-filter
matlab-prepare-signal-data</a:t>
            </a:r>
          </a:p>
        </p:txBody>
      </p:sp>
      <p:sp>
        <p:nvSpPr>
          <p:cNvPr id="26" name="TextBox 25"/>
          <p:cNvSpPr txBox="1"/>
          <p:nvPr/>
        </p:nvSpPr>
        <p:spPr>
          <a:xfrm>
            <a:off x="8567928" y="5065776"/>
            <a:ext cx="3108960" cy="201168"/>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PRODUCTS REQUIRED</a:t>
            </a:r>
          </a:p>
        </p:txBody>
      </p:sp>
      <p:sp>
        <p:nvSpPr>
          <p:cNvPr id="27" name="Rounded Rectangle 26"/>
          <p:cNvSpPr/>
          <p:nvPr/>
        </p:nvSpPr>
        <p:spPr>
          <a:xfrm>
            <a:off x="8567928" y="5257800"/>
            <a:ext cx="2788920" cy="237744"/>
          </a:xfrm>
          <a:prstGeom prst="roundRect">
            <a:avLst>
              <a:gd name="adj" fmla="val 4500"/>
            </a:avLst>
          </a:prstGeom>
          <a:solidFill>
            <a:srgbClr val="B46A0B"/>
          </a:solidFill>
          <a:ln w="1270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567928" y="5257800"/>
            <a:ext cx="2788920" cy="237744"/>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FFFFFF"/>
                </a:solidFill>
                <a:latin typeface="Product Sans"/>
                <a:ea typeface="Product Sans"/>
                <a:cs typeface="Product Sans"/>
              </a:rPr>
              <a:t>SIGNAL PROCESSING TOOLBOX</a:t>
            </a:r>
          </a:p>
        </p:txBody>
      </p:sp>
      <p:sp>
        <p:nvSpPr>
          <p:cNvPr id="29" name="Rounded Rectangle 28"/>
          <p:cNvSpPr/>
          <p:nvPr/>
        </p:nvSpPr>
        <p:spPr>
          <a:xfrm>
            <a:off x="548640" y="585216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85800" y="585216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Same pattern for CAN logs, dyno traces, driver-monitoring streams — anything you currently clean by hand.</a:t>
            </a:r>
          </a:p>
        </p:txBody>
      </p:sp>
      <p:sp>
        <p:nvSpPr>
          <p:cNvPr id="31" name="TextBox 30"/>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Run /usage now — and again at every checkpoint.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36</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If time · the trade, stated as numbers</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This is the conversation an embedded team needs: how much accuracy for how much memory</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IF TIME</a:t>
            </a:r>
          </a:p>
        </p:txBody>
      </p:sp>
      <p:sp>
        <p:nvSpPr>
          <p:cNvPr id="10" name="Rounded Rectangle 9"/>
          <p:cNvSpPr/>
          <p:nvPr/>
        </p:nvSpPr>
        <p:spPr>
          <a:xfrm>
            <a:off x="1417320" y="1280160"/>
            <a:ext cx="9372600" cy="4160520"/>
          </a:xfrm>
          <a:prstGeom prst="roundRect">
            <a:avLst>
              <a:gd name="adj" fmla="val 4500"/>
            </a:avLst>
          </a:prstGeom>
          <a:solidFill>
            <a:srgbClr val="FFFFFF"/>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demo4_compress.png"/>
          <p:cNvPicPr>
            <a:picLocks noChangeAspect="1"/>
          </p:cNvPicPr>
          <p:nvPr/>
        </p:nvPicPr>
        <p:blipFill>
          <a:blip r:embed="rId4"/>
          <a:stretch>
            <a:fillRect/>
          </a:stretch>
        </p:blipFill>
        <p:spPr>
          <a:xfrm>
            <a:off x="1811685" y="1280160"/>
            <a:ext cx="8583868" cy="4160520"/>
          </a:xfrm>
          <a:prstGeom prst="rect">
            <a:avLst/>
          </a:prstGeom>
        </p:spPr>
      </p:pic>
      <p:sp>
        <p:nvSpPr>
          <p:cNvPr id="12" name="Rounded Rectangle 11"/>
          <p:cNvSpPr/>
          <p:nvPr/>
        </p:nvSpPr>
        <p:spPr>
          <a:xfrm>
            <a:off x="548640" y="5568696"/>
            <a:ext cx="11091672" cy="603504"/>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5568696"/>
            <a:ext cx="10817352" cy="603504"/>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4.1× smaller for 0.08 percentage points. On a real perception network for a vehicle HPC, that is the difference between fits and does not fit.</a:t>
            </a:r>
          </a:p>
        </p:txBody>
      </p:sp>
      <p:sp>
        <p:nvSpPr>
          <p:cNvPr id="14" name="TextBox 13"/>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Run /usage now — and again at every checkpoint.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37</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If time · the prompt that made the trade</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~4 min · ANCL Thrust B, verbatim: compressing AI models for vehicle HPCs</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IF TIME</a:t>
            </a:r>
          </a:p>
        </p:txBody>
      </p:sp>
      <p:sp>
        <p:nvSpPr>
          <p:cNvPr id="10" name="TextBox 9"/>
          <p:cNvSpPr txBox="1"/>
          <p:nvPr/>
        </p:nvSpPr>
        <p:spPr>
          <a:xfrm>
            <a:off x="548640" y="1344168"/>
            <a:ext cx="6675120" cy="237744"/>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PROMPT — COPY &amp; PASTE</a:t>
            </a:r>
          </a:p>
        </p:txBody>
      </p:sp>
      <p:sp>
        <p:nvSpPr>
          <p:cNvPr id="11" name="Rounded Rectangle 10"/>
          <p:cNvSpPr/>
          <p:nvPr/>
        </p:nvSpPr>
        <p:spPr>
          <a:xfrm>
            <a:off x="548640" y="1600200"/>
            <a:ext cx="6675120" cy="21031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1728216"/>
            <a:ext cx="6309359" cy="1847087"/>
          </a:xfrm>
          <a:prstGeom prst="rect">
            <a:avLst/>
          </a:prstGeom>
          <a:noFill/>
        </p:spPr>
        <p:txBody>
          <a:bodyPr wrap="square" lIns="0" tIns="0" rIns="0" bIns="0" anchor="t">
            <a:spAutoFit/>
          </a:bodyPr>
          <a:lstStyle/>
          <a:p>
            <a:pPr marL="0" indent="0" algn="l">
              <a:lnSpc>
                <a:spcPct val="100000"/>
              </a:lnSpc>
              <a:spcAft>
                <a:spcPts val="100"/>
              </a:spcAft>
              <a:buNone/>
            </a:pPr>
            <a:r>
              <a:rPr sz="1100" b="0" i="0">
                <a:solidFill>
                  <a:srgbClr val="1F3864"/>
                </a:solidFill>
                <a:latin typeface="Cascadia Mono"/>
                <a:ea typeface="Cascadia Mono"/>
                <a:cs typeface="Cascadia Mono"/>
              </a:rPr>
              <a:t>Load digit_cnn.mat - a network I trained</a:t>
            </a:r>
          </a:p>
          <a:p>
            <a:pPr marL="0" indent="0" algn="l">
              <a:lnSpc>
                <a:spcPct val="100000"/>
              </a:lnSpc>
              <a:spcAft>
                <a:spcPts val="100"/>
              </a:spcAft>
              <a:buNone/>
            </a:pPr>
            <a:r>
              <a:rPr sz="1100" b="0" i="0">
                <a:solidFill>
                  <a:srgbClr val="1F3864"/>
                </a:solidFill>
                <a:latin typeface="Cascadia Mono"/>
                <a:ea typeface="Cascadia Mono"/>
                <a:cs typeface="Cascadia Mono"/>
              </a:rPr>
              <a:t>earlier. Report its validation accuracy and its</a:t>
            </a:r>
          </a:p>
          <a:p>
            <a:pPr marL="0" indent="0" algn="l">
              <a:lnSpc>
                <a:spcPct val="100000"/>
              </a:lnSpc>
              <a:spcAft>
                <a:spcPts val="100"/>
              </a:spcAft>
              <a:buNone/>
            </a:pPr>
            <a:r>
              <a:rPr sz="1100" b="0" i="0">
                <a:solidFill>
                  <a:srgbClr val="1F3864"/>
                </a:solidFill>
                <a:latin typeface="Cascadia Mono"/>
                <a:ea typeface="Cascadia Mono"/>
                <a:cs typeface="Cascadia Mono"/>
              </a:rPr>
              <a:t>learnable parameter memory.</a:t>
            </a:r>
          </a:p>
          <a:p>
            <a:pPr marL="0" indent="0" algn="l">
              <a:lnSpc>
                <a:spcPct val="100000"/>
              </a:lnSpc>
              <a:spcAft>
                <a:spcPts val="100"/>
              </a:spcAft>
              <a:buNone/>
            </a:pPr>
            <a:endParaRPr sz="1100" b="0" i="0">
              <a:solidFill>
                <a:srgbClr val="1F3864"/>
              </a:solidFill>
              <a:latin typeface="Cascadia Mono"/>
              <a:ea typeface="Cascadia Mono"/>
              <a:cs typeface="Cascadia Mono"/>
            </a:endParaRPr>
          </a:p>
          <a:p>
            <a:pPr marL="0" indent="0" algn="l">
              <a:lnSpc>
                <a:spcPct val="100000"/>
              </a:lnSpc>
              <a:spcAft>
                <a:spcPts val="100"/>
              </a:spcAft>
              <a:buNone/>
            </a:pPr>
            <a:r>
              <a:rPr sz="1100" b="0" i="0">
                <a:solidFill>
                  <a:srgbClr val="1F3864"/>
                </a:solidFill>
                <a:latin typeface="Cascadia Mono"/>
                <a:ea typeface="Cascadia Mono"/>
                <a:cs typeface="Cascadia Mono"/>
              </a:rPr>
              <a:t>Then quantize it to int8 and report the same</a:t>
            </a:r>
          </a:p>
          <a:p>
            <a:pPr marL="0" indent="0" algn="l">
              <a:lnSpc>
                <a:spcPct val="100000"/>
              </a:lnSpc>
              <a:spcAft>
                <a:spcPts val="100"/>
              </a:spcAft>
              <a:buNone/>
            </a:pPr>
            <a:r>
              <a:rPr sz="1100" b="0" i="0">
                <a:solidFill>
                  <a:srgbClr val="1F3864"/>
                </a:solidFill>
                <a:latin typeface="Cascadia Mono"/>
                <a:ea typeface="Cascadia Mono"/>
                <a:cs typeface="Cascadia Mono"/>
              </a:rPr>
              <a:t>two numbers, so I can see the trade. Do not</a:t>
            </a:r>
          </a:p>
          <a:p>
            <a:pPr marL="0" indent="0" algn="l">
              <a:lnSpc>
                <a:spcPct val="100000"/>
              </a:lnSpc>
              <a:spcAft>
                <a:spcPts val="100"/>
              </a:spcAft>
              <a:buNone/>
            </a:pPr>
            <a:r>
              <a:rPr sz="1100" b="0" i="0">
                <a:solidFill>
                  <a:srgbClr val="1F3864"/>
                </a:solidFill>
                <a:latin typeface="Cascadia Mono"/>
                <a:ea typeface="Cascadia Mono"/>
                <a:cs typeface="Cascadia Mono"/>
              </a:rPr>
              <a:t>retrain it.</a:t>
            </a:r>
          </a:p>
        </p:txBody>
      </p:sp>
      <p:sp>
        <p:nvSpPr>
          <p:cNvPr id="13" name="Rounded Rectangle 12"/>
          <p:cNvSpPr/>
          <p:nvPr/>
        </p:nvSpPr>
        <p:spPr>
          <a:xfrm>
            <a:off x="7543800" y="1600200"/>
            <a:ext cx="4114800" cy="21031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7781544" y="170992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7847563" y="1817644"/>
            <a:ext cx="215432" cy="1320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920532" y="1848916"/>
            <a:ext cx="69494" cy="69494"/>
          </a:xfrm>
          <a:prstGeom prst="ellipse">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75320" y="1737360"/>
            <a:ext cx="3145536"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Watch for</a:t>
            </a:r>
          </a:p>
        </p:txBody>
      </p:sp>
      <p:sp>
        <p:nvSpPr>
          <p:cNvPr id="18" name="TextBox 17"/>
          <p:cNvSpPr txBox="1"/>
          <p:nvPr/>
        </p:nvSpPr>
        <p:spPr>
          <a:xfrm>
            <a:off x="7781544" y="2139696"/>
            <a:ext cx="3639312" cy="14538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Calibration then quantization — it explains the step, not just runs it</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The trade is stated as numbers you can argue with, not a claim</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Same workflow scales to a real perception network for an HPC target</a:t>
            </a:r>
          </a:p>
        </p:txBody>
      </p:sp>
      <p:sp>
        <p:nvSpPr>
          <p:cNvPr id="19" name="Rounded Rectangle 18"/>
          <p:cNvSpPr/>
          <p:nvPr/>
        </p:nvSpPr>
        <p:spPr>
          <a:xfrm>
            <a:off x="548640" y="3840480"/>
            <a:ext cx="11091672" cy="960120"/>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49808" y="3931920"/>
            <a:ext cx="3657600" cy="219456"/>
          </a:xfrm>
          <a:prstGeom prst="rect">
            <a:avLst/>
          </a:prstGeom>
          <a:noFill/>
        </p:spPr>
        <p:txBody>
          <a:bodyPr wrap="square" lIns="0" tIns="0" rIns="0" bIns="0" anchor="t">
            <a:spAutoFit/>
          </a:bodyPr>
          <a:lstStyle/>
          <a:p>
            <a:pPr marL="0" indent="0" algn="l">
              <a:lnSpc>
                <a:spcPct val="100000"/>
              </a:lnSpc>
              <a:spcAft>
                <a:spcPts val="400"/>
              </a:spcAft>
              <a:buNone/>
            </a:pPr>
            <a:r>
              <a:rPr sz="950" b="0" i="0">
                <a:solidFill>
                  <a:srgbClr val="4472C4"/>
                </a:solidFill>
                <a:latin typeface="Product Sans"/>
                <a:ea typeface="Product Sans"/>
                <a:cs typeface="Product Sans"/>
              </a:rPr>
              <a:t>MEASURED ON THIS MACHINE</a:t>
            </a:r>
          </a:p>
        </p:txBody>
      </p:sp>
      <p:sp>
        <p:nvSpPr>
          <p:cNvPr id="21" name="TextBox 20"/>
          <p:cNvSpPr txBox="1"/>
          <p:nvPr/>
        </p:nvSpPr>
        <p:spPr>
          <a:xfrm>
            <a:off x="4480560" y="3950208"/>
            <a:ext cx="1828800" cy="201168"/>
          </a:xfrm>
          <a:prstGeom prst="rect">
            <a:avLst/>
          </a:prstGeom>
          <a:noFill/>
        </p:spPr>
        <p:txBody>
          <a:bodyPr wrap="square" lIns="0" tIns="0" rIns="0" bIns="0" anchor="t">
            <a:spAutoFit/>
          </a:bodyPr>
          <a:lstStyle/>
          <a:p>
            <a:pPr marL="0" indent="0" algn="l">
              <a:lnSpc>
                <a:spcPct val="100000"/>
              </a:lnSpc>
              <a:spcAft>
                <a:spcPts val="400"/>
              </a:spcAft>
              <a:buNone/>
            </a:pPr>
            <a:r>
              <a:rPr sz="1000" b="0" i="0">
                <a:solidFill>
                  <a:srgbClr val="595959"/>
                </a:solidFill>
                <a:latin typeface="Product Sans"/>
                <a:ea typeface="Product Sans"/>
                <a:cs typeface="Product Sans"/>
              </a:rPr>
              <a:t>BEFORE</a:t>
            </a:r>
          </a:p>
        </p:txBody>
      </p:sp>
      <p:sp>
        <p:nvSpPr>
          <p:cNvPr id="22" name="TextBox 21"/>
          <p:cNvSpPr txBox="1"/>
          <p:nvPr/>
        </p:nvSpPr>
        <p:spPr>
          <a:xfrm>
            <a:off x="6583680" y="3950208"/>
            <a:ext cx="1828800" cy="201168"/>
          </a:xfrm>
          <a:prstGeom prst="rect">
            <a:avLst/>
          </a:prstGeom>
          <a:noFill/>
        </p:spPr>
        <p:txBody>
          <a:bodyPr wrap="square" lIns="0" tIns="0" rIns="0" bIns="0" anchor="t">
            <a:spAutoFit/>
          </a:bodyPr>
          <a:lstStyle/>
          <a:p>
            <a:pPr marL="0" indent="0" algn="l">
              <a:lnSpc>
                <a:spcPct val="100000"/>
              </a:lnSpc>
              <a:spcAft>
                <a:spcPts val="400"/>
              </a:spcAft>
              <a:buNone/>
            </a:pPr>
            <a:r>
              <a:rPr sz="1000" b="0" i="0">
                <a:solidFill>
                  <a:srgbClr val="595959"/>
                </a:solidFill>
                <a:latin typeface="Product Sans"/>
                <a:ea typeface="Product Sans"/>
                <a:cs typeface="Product Sans"/>
              </a:rPr>
              <a:t>AFTER (int8)</a:t>
            </a:r>
          </a:p>
        </p:txBody>
      </p:sp>
      <p:sp>
        <p:nvSpPr>
          <p:cNvPr id="23" name="TextBox 22"/>
          <p:cNvSpPr txBox="1"/>
          <p:nvPr/>
        </p:nvSpPr>
        <p:spPr>
          <a:xfrm>
            <a:off x="9052560" y="3950208"/>
            <a:ext cx="2377440" cy="201168"/>
          </a:xfrm>
          <a:prstGeom prst="rect">
            <a:avLst/>
          </a:prstGeom>
          <a:noFill/>
        </p:spPr>
        <p:txBody>
          <a:bodyPr wrap="square" lIns="0" tIns="0" rIns="0" bIns="0" anchor="t">
            <a:spAutoFit/>
          </a:bodyPr>
          <a:lstStyle/>
          <a:p>
            <a:pPr marL="0" indent="0" algn="l">
              <a:lnSpc>
                <a:spcPct val="100000"/>
              </a:lnSpc>
              <a:spcAft>
                <a:spcPts val="400"/>
              </a:spcAft>
              <a:buNone/>
            </a:pPr>
            <a:r>
              <a:rPr sz="1000" b="0" i="0">
                <a:solidFill>
                  <a:srgbClr val="595959"/>
                </a:solidFill>
                <a:latin typeface="Product Sans"/>
                <a:ea typeface="Product Sans"/>
                <a:cs typeface="Product Sans"/>
              </a:rPr>
              <a:t>CHANGE</a:t>
            </a:r>
          </a:p>
        </p:txBody>
      </p:sp>
      <p:sp>
        <p:nvSpPr>
          <p:cNvPr id="24" name="TextBox 23"/>
          <p:cNvSpPr txBox="1"/>
          <p:nvPr/>
        </p:nvSpPr>
        <p:spPr>
          <a:xfrm>
            <a:off x="749808" y="4187952"/>
            <a:ext cx="3566160" cy="219456"/>
          </a:xfrm>
          <a:prstGeom prst="rect">
            <a:avLst/>
          </a:prstGeom>
          <a:noFill/>
        </p:spPr>
        <p:txBody>
          <a:bodyPr wrap="square" lIns="0" tIns="0" rIns="0" bIns="0" anchor="t">
            <a:spAutoFit/>
          </a:bodyPr>
          <a:lstStyle/>
          <a:p>
            <a:pPr marL="0" indent="0" algn="l">
              <a:lnSpc>
                <a:spcPct val="100000"/>
              </a:lnSpc>
              <a:spcAft>
                <a:spcPts val="400"/>
              </a:spcAft>
              <a:buNone/>
            </a:pPr>
            <a:r>
              <a:rPr sz="1200" b="0" i="0">
                <a:solidFill>
                  <a:srgbClr val="262626"/>
                </a:solidFill>
                <a:latin typeface="Product Sans"/>
                <a:ea typeface="Product Sans"/>
                <a:cs typeface="Product Sans"/>
              </a:rPr>
              <a:t>Accuracy</a:t>
            </a:r>
          </a:p>
        </p:txBody>
      </p:sp>
      <p:sp>
        <p:nvSpPr>
          <p:cNvPr id="25" name="TextBox 24"/>
          <p:cNvSpPr txBox="1"/>
          <p:nvPr/>
        </p:nvSpPr>
        <p:spPr>
          <a:xfrm>
            <a:off x="4480560" y="4187952"/>
            <a:ext cx="1828800" cy="219456"/>
          </a:xfrm>
          <a:prstGeom prst="rect">
            <a:avLst/>
          </a:prstGeom>
          <a:noFill/>
        </p:spPr>
        <p:txBody>
          <a:bodyPr wrap="square" lIns="0" tIns="0" rIns="0" bIns="0" anchor="t">
            <a:spAutoFit/>
          </a:bodyPr>
          <a:lstStyle/>
          <a:p>
            <a:pPr marL="0" indent="0" algn="l">
              <a:lnSpc>
                <a:spcPct val="100000"/>
              </a:lnSpc>
              <a:spcAft>
                <a:spcPts val="400"/>
              </a:spcAft>
              <a:buNone/>
            </a:pPr>
            <a:r>
              <a:rPr sz="1150" b="0" i="0">
                <a:solidFill>
                  <a:srgbClr val="1F3864"/>
                </a:solidFill>
                <a:latin typeface="Cascadia Mono"/>
                <a:ea typeface="Cascadia Mono"/>
                <a:cs typeface="Cascadia Mono"/>
              </a:rPr>
              <a:t>98.58 %</a:t>
            </a:r>
          </a:p>
        </p:txBody>
      </p:sp>
      <p:sp>
        <p:nvSpPr>
          <p:cNvPr id="26" name="TextBox 25"/>
          <p:cNvSpPr txBox="1"/>
          <p:nvPr/>
        </p:nvSpPr>
        <p:spPr>
          <a:xfrm>
            <a:off x="6583680" y="4187952"/>
            <a:ext cx="1828800" cy="219456"/>
          </a:xfrm>
          <a:prstGeom prst="rect">
            <a:avLst/>
          </a:prstGeom>
          <a:noFill/>
        </p:spPr>
        <p:txBody>
          <a:bodyPr wrap="square" lIns="0" tIns="0" rIns="0" bIns="0" anchor="t">
            <a:spAutoFit/>
          </a:bodyPr>
          <a:lstStyle/>
          <a:p>
            <a:pPr marL="0" indent="0" algn="l">
              <a:lnSpc>
                <a:spcPct val="100000"/>
              </a:lnSpc>
              <a:spcAft>
                <a:spcPts val="400"/>
              </a:spcAft>
              <a:buNone/>
            </a:pPr>
            <a:r>
              <a:rPr sz="1150" b="0" i="0">
                <a:solidFill>
                  <a:srgbClr val="1F3864"/>
                </a:solidFill>
                <a:latin typeface="Cascadia Mono"/>
                <a:ea typeface="Cascadia Mono"/>
                <a:cs typeface="Cascadia Mono"/>
              </a:rPr>
              <a:t>98.50 %</a:t>
            </a:r>
          </a:p>
        </p:txBody>
      </p:sp>
      <p:sp>
        <p:nvSpPr>
          <p:cNvPr id="27" name="TextBox 26"/>
          <p:cNvSpPr txBox="1"/>
          <p:nvPr/>
        </p:nvSpPr>
        <p:spPr>
          <a:xfrm>
            <a:off x="9052560" y="4187952"/>
            <a:ext cx="2377440" cy="219456"/>
          </a:xfrm>
          <a:prstGeom prst="rect">
            <a:avLst/>
          </a:prstGeom>
          <a:noFill/>
        </p:spPr>
        <p:txBody>
          <a:bodyPr wrap="square" lIns="0" tIns="0" rIns="0" bIns="0" anchor="t">
            <a:spAutoFit/>
          </a:bodyPr>
          <a:lstStyle/>
          <a:p>
            <a:pPr marL="0" indent="0" algn="l">
              <a:lnSpc>
                <a:spcPct val="100000"/>
              </a:lnSpc>
              <a:spcAft>
                <a:spcPts val="400"/>
              </a:spcAft>
              <a:buNone/>
            </a:pPr>
            <a:r>
              <a:rPr sz="1150" b="1" i="0">
                <a:solidFill>
                  <a:srgbClr val="2F7D3B"/>
                </a:solidFill>
                <a:latin typeface="Cascadia Mono"/>
                <a:ea typeface="Cascadia Mono"/>
                <a:cs typeface="Cascadia Mono"/>
              </a:rPr>
              <a:t>−0.08 pp</a:t>
            </a:r>
          </a:p>
        </p:txBody>
      </p:sp>
      <p:sp>
        <p:nvSpPr>
          <p:cNvPr id="28" name="TextBox 27"/>
          <p:cNvSpPr txBox="1"/>
          <p:nvPr/>
        </p:nvSpPr>
        <p:spPr>
          <a:xfrm>
            <a:off x="749808" y="4443984"/>
            <a:ext cx="3566160" cy="219456"/>
          </a:xfrm>
          <a:prstGeom prst="rect">
            <a:avLst/>
          </a:prstGeom>
          <a:noFill/>
        </p:spPr>
        <p:txBody>
          <a:bodyPr wrap="square" lIns="0" tIns="0" rIns="0" bIns="0" anchor="t">
            <a:spAutoFit/>
          </a:bodyPr>
          <a:lstStyle/>
          <a:p>
            <a:pPr marL="0" indent="0" algn="l">
              <a:lnSpc>
                <a:spcPct val="100000"/>
              </a:lnSpc>
              <a:spcAft>
                <a:spcPts val="400"/>
              </a:spcAft>
              <a:buNone/>
            </a:pPr>
            <a:r>
              <a:rPr sz="1200" b="0" i="0">
                <a:solidFill>
                  <a:srgbClr val="262626"/>
                </a:solidFill>
                <a:latin typeface="Product Sans"/>
                <a:ea typeface="Product Sans"/>
                <a:cs typeface="Product Sans"/>
              </a:rPr>
              <a:t>Learnable memory</a:t>
            </a:r>
          </a:p>
        </p:txBody>
      </p:sp>
      <p:sp>
        <p:nvSpPr>
          <p:cNvPr id="29" name="TextBox 28"/>
          <p:cNvSpPr txBox="1"/>
          <p:nvPr/>
        </p:nvSpPr>
        <p:spPr>
          <a:xfrm>
            <a:off x="4480560" y="4443984"/>
            <a:ext cx="1828800" cy="219456"/>
          </a:xfrm>
          <a:prstGeom prst="rect">
            <a:avLst/>
          </a:prstGeom>
          <a:noFill/>
        </p:spPr>
        <p:txBody>
          <a:bodyPr wrap="square" lIns="0" tIns="0" rIns="0" bIns="0" anchor="t">
            <a:spAutoFit/>
          </a:bodyPr>
          <a:lstStyle/>
          <a:p>
            <a:pPr marL="0" indent="0" algn="l">
              <a:lnSpc>
                <a:spcPct val="100000"/>
              </a:lnSpc>
              <a:spcAft>
                <a:spcPts val="400"/>
              </a:spcAft>
              <a:buNone/>
            </a:pPr>
            <a:r>
              <a:rPr sz="1150" b="0" i="0">
                <a:solidFill>
                  <a:srgbClr val="1F3864"/>
                </a:solidFill>
                <a:latin typeface="Cascadia Mono"/>
                <a:ea typeface="Cascadia Mono"/>
                <a:cs typeface="Cascadia Mono"/>
              </a:rPr>
              <a:t>0.0823 MB</a:t>
            </a:r>
          </a:p>
        </p:txBody>
      </p:sp>
      <p:sp>
        <p:nvSpPr>
          <p:cNvPr id="30" name="TextBox 29"/>
          <p:cNvSpPr txBox="1"/>
          <p:nvPr/>
        </p:nvSpPr>
        <p:spPr>
          <a:xfrm>
            <a:off x="6583680" y="4443984"/>
            <a:ext cx="1828800" cy="219456"/>
          </a:xfrm>
          <a:prstGeom prst="rect">
            <a:avLst/>
          </a:prstGeom>
          <a:noFill/>
        </p:spPr>
        <p:txBody>
          <a:bodyPr wrap="square" lIns="0" tIns="0" rIns="0" bIns="0" anchor="t">
            <a:spAutoFit/>
          </a:bodyPr>
          <a:lstStyle/>
          <a:p>
            <a:pPr marL="0" indent="0" algn="l">
              <a:lnSpc>
                <a:spcPct val="100000"/>
              </a:lnSpc>
              <a:spcAft>
                <a:spcPts val="400"/>
              </a:spcAft>
              <a:buNone/>
            </a:pPr>
            <a:r>
              <a:rPr sz="1150" b="0" i="0">
                <a:solidFill>
                  <a:srgbClr val="1F3864"/>
                </a:solidFill>
                <a:latin typeface="Cascadia Mono"/>
                <a:ea typeface="Cascadia Mono"/>
                <a:cs typeface="Cascadia Mono"/>
              </a:rPr>
              <a:t>0.0203 MB</a:t>
            </a:r>
          </a:p>
        </p:txBody>
      </p:sp>
      <p:sp>
        <p:nvSpPr>
          <p:cNvPr id="31" name="TextBox 30"/>
          <p:cNvSpPr txBox="1"/>
          <p:nvPr/>
        </p:nvSpPr>
        <p:spPr>
          <a:xfrm>
            <a:off x="9052560" y="4443984"/>
            <a:ext cx="2377440" cy="219456"/>
          </a:xfrm>
          <a:prstGeom prst="rect">
            <a:avLst/>
          </a:prstGeom>
          <a:noFill/>
        </p:spPr>
        <p:txBody>
          <a:bodyPr wrap="square" lIns="0" tIns="0" rIns="0" bIns="0" anchor="t">
            <a:spAutoFit/>
          </a:bodyPr>
          <a:lstStyle/>
          <a:p>
            <a:pPr marL="0" indent="0" algn="l">
              <a:lnSpc>
                <a:spcPct val="100000"/>
              </a:lnSpc>
              <a:spcAft>
                <a:spcPts val="400"/>
              </a:spcAft>
              <a:buNone/>
            </a:pPr>
            <a:r>
              <a:rPr sz="1150" b="1" i="0">
                <a:solidFill>
                  <a:srgbClr val="2F7D3B"/>
                </a:solidFill>
                <a:latin typeface="Cascadia Mono"/>
                <a:ea typeface="Cascadia Mono"/>
                <a:cs typeface="Cascadia Mono"/>
              </a:rPr>
              <a:t>4.1× smaller</a:t>
            </a:r>
          </a:p>
        </p:txBody>
      </p:sp>
      <p:sp>
        <p:nvSpPr>
          <p:cNvPr id="32" name="Rounded Rectangle 31"/>
          <p:cNvSpPr/>
          <p:nvPr/>
        </p:nvSpPr>
        <p:spPr>
          <a:xfrm>
            <a:off x="548640" y="4937760"/>
            <a:ext cx="11091672" cy="475488"/>
          </a:xfrm>
          <a:prstGeom prst="roundRect">
            <a:avLst>
              <a:gd name="adj" fmla="val 4500"/>
            </a:avLst>
          </a:prstGeom>
          <a:solidFill>
            <a:srgbClr val="B46A0B"/>
          </a:solidFill>
          <a:ln w="9525">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777240" y="4937760"/>
            <a:ext cx="10634472" cy="475488"/>
          </a:xfrm>
          <a:prstGeom prst="rect">
            <a:avLst/>
          </a:prstGeom>
          <a:noFill/>
        </p:spPr>
        <p:txBody>
          <a:bodyPr wrap="square" lIns="0" tIns="0" rIns="0" bIns="0" anchor="ctr">
            <a:spAutoFit/>
          </a:bodyPr>
          <a:lstStyle/>
          <a:p>
            <a:pPr marL="0" indent="0" algn="l">
              <a:lnSpc>
                <a:spcPct val="100000"/>
              </a:lnSpc>
              <a:spcAft>
                <a:spcPts val="400"/>
              </a:spcAft>
              <a:buNone/>
            </a:pPr>
            <a:r>
              <a:rPr sz="1250" b="1" i="0">
                <a:solidFill>
                  <a:srgbClr val="FFFFFF"/>
                </a:solidFill>
                <a:latin typeface="Product Sans"/>
                <a:ea typeface="Product Sans"/>
                <a:cs typeface="Product Sans"/>
              </a:rPr>
              <a:t>PRESENTER WARNING — never train live. Training this network blew the MCP tool timeout in rehearsal. Pre-train it; the live step is the 19 s quantization only.</a:t>
            </a:r>
          </a:p>
        </p:txBody>
      </p:sp>
      <p:sp>
        <p:nvSpPr>
          <p:cNvPr id="34" name="Rounded Rectangle 33"/>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4× smaller for 0.08 percentage points of accuracy — that is the conversation an embedded team actually needs to have.</a:t>
            </a:r>
          </a:p>
        </p:txBody>
      </p:sp>
      <p:sp>
        <p:nvSpPr>
          <p:cNvPr id="36" name="TextBox 35"/>
          <p:cNvSpPr txBox="1"/>
          <p:nvPr/>
        </p:nvSpPr>
        <p:spPr>
          <a:xfrm>
            <a:off x="3291840" y="63093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Run /usage now — and again at every checkpoint.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39</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Safety-critical · the prompt and what it found</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~5 min · MISRA C:2012 + Bug Finder on production-style ECU C</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SAFETY CRITICAL</a:t>
            </a:r>
          </a:p>
        </p:txBody>
      </p:sp>
      <p:sp>
        <p:nvSpPr>
          <p:cNvPr id="10" name="TextBox 9"/>
          <p:cNvSpPr txBox="1"/>
          <p:nvPr/>
        </p:nvSpPr>
        <p:spPr>
          <a:xfrm>
            <a:off x="548640" y="1344168"/>
            <a:ext cx="6675120" cy="237744"/>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PROMPT — COPY &amp; PASTE</a:t>
            </a:r>
          </a:p>
        </p:txBody>
      </p:sp>
      <p:sp>
        <p:nvSpPr>
          <p:cNvPr id="11" name="Rounded Rectangle 10"/>
          <p:cNvSpPr/>
          <p:nvPr/>
        </p:nvSpPr>
        <p:spPr>
          <a:xfrm>
            <a:off x="548640" y="1600200"/>
            <a:ext cx="6675120" cy="205740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1728216"/>
            <a:ext cx="6309359" cy="1801368"/>
          </a:xfrm>
          <a:prstGeom prst="rect">
            <a:avLst/>
          </a:prstGeom>
          <a:noFill/>
        </p:spPr>
        <p:txBody>
          <a:bodyPr wrap="square" lIns="0" tIns="0" rIns="0" bIns="0" anchor="t">
            <a:spAutoFit/>
          </a:bodyPr>
          <a:lstStyle/>
          <a:p>
            <a:pPr marL="0" indent="0" algn="l">
              <a:lnSpc>
                <a:spcPct val="100000"/>
              </a:lnSpc>
              <a:spcAft>
                <a:spcPts val="100"/>
              </a:spcAft>
              <a:buNone/>
            </a:pPr>
            <a:r>
              <a:rPr sz="1100" b="0" i="0" dirty="0">
                <a:solidFill>
                  <a:srgbClr val="1F3864"/>
                </a:solidFill>
                <a:latin typeface="Cascadia Mono"/>
                <a:ea typeface="Cascadia Mono"/>
                <a:cs typeface="Cascadia Mono"/>
              </a:rPr>
              <a:t>Run </a:t>
            </a:r>
            <a:r>
              <a:rPr sz="1100" b="0" i="0" dirty="0" err="1">
                <a:solidFill>
                  <a:srgbClr val="1F3864"/>
                </a:solidFill>
                <a:latin typeface="Cascadia Mono"/>
                <a:ea typeface="Cascadia Mono"/>
                <a:cs typeface="Cascadia Mono"/>
              </a:rPr>
              <a:t>Polyspace</a:t>
            </a:r>
            <a:r>
              <a:rPr sz="1100" b="0" i="0" dirty="0">
                <a:solidFill>
                  <a:srgbClr val="1F3864"/>
                </a:solidFill>
                <a:latin typeface="Cascadia Mono"/>
                <a:ea typeface="Cascadia Mono"/>
                <a:cs typeface="Cascadia Mono"/>
              </a:rPr>
              <a:t> on </a:t>
            </a:r>
            <a:r>
              <a:rPr sz="1100" b="0" i="0" dirty="0" err="1">
                <a:solidFill>
                  <a:srgbClr val="1F3864"/>
                </a:solidFill>
                <a:latin typeface="Cascadia Mono"/>
                <a:ea typeface="Cascadia Mono"/>
                <a:cs typeface="Cascadia Mono"/>
              </a:rPr>
              <a:t>ecu_src</a:t>
            </a:r>
            <a:r>
              <a:rPr sz="1100" b="0" i="0" dirty="0">
                <a:solidFill>
                  <a:srgbClr val="1F3864"/>
                </a:solidFill>
                <a:latin typeface="Cascadia Mono"/>
                <a:ea typeface="Cascadia Mono"/>
                <a:cs typeface="Cascadia Mono"/>
              </a:rPr>
              <a:t>/</a:t>
            </a:r>
            <a:r>
              <a:rPr sz="1100" b="0" i="0" dirty="0" err="1">
                <a:solidFill>
                  <a:srgbClr val="1F3864"/>
                </a:solidFill>
                <a:latin typeface="Cascadia Mono"/>
                <a:ea typeface="Cascadia Mono"/>
                <a:cs typeface="Cascadia Mono"/>
              </a:rPr>
              <a:t>speed_monitor.c</a:t>
            </a:r>
            <a:r>
              <a:rPr sz="1100" b="0" i="0" dirty="0">
                <a:solidFill>
                  <a:srgbClr val="1F3864"/>
                </a:solidFill>
                <a:latin typeface="Cascadia Mono"/>
                <a:ea typeface="Cascadia Mono"/>
                <a:cs typeface="Cascadia Mono"/>
              </a:rPr>
              <a:t> with</a:t>
            </a:r>
          </a:p>
          <a:p>
            <a:pPr marL="0" indent="0" algn="l">
              <a:lnSpc>
                <a:spcPct val="100000"/>
              </a:lnSpc>
              <a:spcAft>
                <a:spcPts val="100"/>
              </a:spcAft>
              <a:buNone/>
            </a:pPr>
            <a:r>
              <a:rPr sz="1100" b="0" i="0" dirty="0">
                <a:solidFill>
                  <a:srgbClr val="1F3864"/>
                </a:solidFill>
                <a:latin typeface="Cascadia Mono"/>
                <a:ea typeface="Cascadia Mono"/>
                <a:cs typeface="Cascadia Mono"/>
              </a:rPr>
              <a:t>MISRA C:2012 and Bug Finder defects enabled.</a:t>
            </a:r>
          </a:p>
          <a:p>
            <a:pPr marL="0" indent="0" algn="l">
              <a:lnSpc>
                <a:spcPct val="100000"/>
              </a:lnSpc>
              <a:spcAft>
                <a:spcPts val="100"/>
              </a:spcAft>
              <a:buNone/>
            </a:pPr>
            <a:endParaRPr sz="1100" b="0" i="0" dirty="0">
              <a:solidFill>
                <a:srgbClr val="1F3864"/>
              </a:solidFill>
              <a:latin typeface="Cascadia Mono"/>
              <a:ea typeface="Cascadia Mono"/>
              <a:cs typeface="Cascadia Mono"/>
            </a:endParaRPr>
          </a:p>
          <a:p>
            <a:pPr marL="0" indent="0" algn="l">
              <a:lnSpc>
                <a:spcPct val="100000"/>
              </a:lnSpc>
              <a:spcAft>
                <a:spcPts val="100"/>
              </a:spcAft>
              <a:buNone/>
            </a:pPr>
            <a:r>
              <a:rPr sz="1100" b="0" i="0" dirty="0">
                <a:solidFill>
                  <a:srgbClr val="1F3864"/>
                </a:solidFill>
                <a:latin typeface="Cascadia Mono"/>
                <a:ea typeface="Cascadia Mono"/>
                <a:cs typeface="Cascadia Mono"/>
              </a:rPr>
              <a:t>Explain each finding in plain English, worst</a:t>
            </a:r>
          </a:p>
          <a:p>
            <a:pPr marL="0" indent="0" algn="l">
              <a:lnSpc>
                <a:spcPct val="100000"/>
              </a:lnSpc>
              <a:spcAft>
                <a:spcPts val="100"/>
              </a:spcAft>
              <a:buNone/>
            </a:pPr>
            <a:r>
              <a:rPr sz="1100" b="0" i="0" dirty="0">
                <a:solidFill>
                  <a:srgbClr val="1F3864"/>
                </a:solidFill>
                <a:latin typeface="Cascadia Mono"/>
                <a:ea typeface="Cascadia Mono"/>
                <a:cs typeface="Cascadia Mono"/>
              </a:rPr>
              <a:t>first. Then fix them one at a time, re-running</a:t>
            </a:r>
          </a:p>
          <a:p>
            <a:pPr marL="0" indent="0" algn="l">
              <a:lnSpc>
                <a:spcPct val="100000"/>
              </a:lnSpc>
              <a:spcAft>
                <a:spcPts val="100"/>
              </a:spcAft>
              <a:buNone/>
            </a:pPr>
            <a:r>
              <a:rPr sz="1100" b="0" i="0" dirty="0">
                <a:solidFill>
                  <a:srgbClr val="1F3864"/>
                </a:solidFill>
                <a:latin typeface="Cascadia Mono"/>
                <a:ea typeface="Cascadia Mono"/>
                <a:cs typeface="Cascadia Mono"/>
              </a:rPr>
              <a:t>after each fix to prove it is actually gone.</a:t>
            </a:r>
          </a:p>
        </p:txBody>
      </p:sp>
      <p:sp>
        <p:nvSpPr>
          <p:cNvPr id="13" name="Rounded Rectangle 12"/>
          <p:cNvSpPr/>
          <p:nvPr/>
        </p:nvSpPr>
        <p:spPr>
          <a:xfrm>
            <a:off x="7543800" y="1600200"/>
            <a:ext cx="4114800" cy="205740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7781544" y="170992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7847563" y="1817644"/>
            <a:ext cx="215432" cy="1320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920532" y="1848916"/>
            <a:ext cx="69494" cy="69494"/>
          </a:xfrm>
          <a:prstGeom prst="ellipse">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75320" y="1737360"/>
            <a:ext cx="3145536"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Watch for</a:t>
            </a:r>
          </a:p>
        </p:txBody>
      </p:sp>
      <p:sp>
        <p:nvSpPr>
          <p:cNvPr id="18" name="TextBox 17"/>
          <p:cNvSpPr txBox="1"/>
          <p:nvPr/>
        </p:nvSpPr>
        <p:spPr>
          <a:xfrm>
            <a:off x="7781544" y="2139696"/>
            <a:ext cx="3639312" cy="1408176"/>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It reports proof, not opinion: “Expected i is [0..3], actual is [0..4]”</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It distinguishes Mandatory from Advisory MISRA rules</a:t>
            </a:r>
          </a:p>
          <a:p>
            <a:pPr marL="127000" indent="-127000" algn="l">
              <a:lnSpc>
                <a:spcPct val="100000"/>
              </a:lnSpc>
              <a:spcAft>
                <a:spcPts val="600"/>
              </a:spcAft>
              <a:buSzPct val="100000"/>
              <a:buChar char="•"/>
            </a:pPr>
            <a:r>
              <a:rPr sz="1100" b="0" i="0">
                <a:solidFill>
                  <a:srgbClr val="262626"/>
                </a:solidFill>
                <a:latin typeface="Product Sans"/>
                <a:ea typeface="Product Sans"/>
                <a:cs typeface="Product Sans"/>
              </a:rPr>
              <a:t>Each fix is re-verified — the finding count drops in front of you</a:t>
            </a:r>
          </a:p>
        </p:txBody>
      </p:sp>
      <p:sp>
        <p:nvSpPr>
          <p:cNvPr id="19" name="TextBox 18"/>
          <p:cNvSpPr txBox="1"/>
          <p:nvPr/>
        </p:nvSpPr>
        <p:spPr>
          <a:xfrm>
            <a:off x="548640" y="3794760"/>
            <a:ext cx="11091672" cy="237744"/>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WHAT IT FOUND IN 44 LINES OF C — 10 FINDINGS</a:t>
            </a:r>
          </a:p>
        </p:txBody>
      </p:sp>
      <p:sp>
        <p:nvSpPr>
          <p:cNvPr id="20" name="Rounded Rectangle 19"/>
          <p:cNvSpPr/>
          <p:nvPr/>
        </p:nvSpPr>
        <p:spPr>
          <a:xfrm>
            <a:off x="548640" y="4069080"/>
            <a:ext cx="1051560" cy="219456"/>
          </a:xfrm>
          <a:prstGeom prst="roundRect">
            <a:avLst>
              <a:gd name="adj" fmla="val 4500"/>
            </a:avLst>
          </a:prstGeom>
          <a:solidFill>
            <a:srgbClr val="A32A2A"/>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8640" y="4069080"/>
            <a:ext cx="1051560" cy="219456"/>
          </a:xfrm>
          <a:prstGeom prst="rect">
            <a:avLst/>
          </a:prstGeom>
          <a:noFill/>
        </p:spPr>
        <p:txBody>
          <a:bodyPr wrap="square" lIns="0" tIns="0" rIns="0" bIns="0" anchor="ctr">
            <a:spAutoFit/>
          </a:bodyPr>
          <a:lstStyle/>
          <a:p>
            <a:pPr marL="0" indent="0" algn="ctr">
              <a:lnSpc>
                <a:spcPct val="100000"/>
              </a:lnSpc>
              <a:spcAft>
                <a:spcPts val="400"/>
              </a:spcAft>
              <a:buNone/>
            </a:pPr>
            <a:r>
              <a:rPr sz="900" b="0" i="0">
                <a:solidFill>
                  <a:srgbClr val="FFFFFF"/>
                </a:solidFill>
                <a:latin typeface="Product Sans"/>
                <a:ea typeface="Product Sans"/>
                <a:cs typeface="Product Sans"/>
              </a:rPr>
              <a:t>HIGH</a:t>
            </a:r>
          </a:p>
        </p:txBody>
      </p:sp>
      <p:sp>
        <p:nvSpPr>
          <p:cNvPr id="22" name="TextBox 21"/>
          <p:cNvSpPr txBox="1"/>
          <p:nvPr/>
        </p:nvSpPr>
        <p:spPr>
          <a:xfrm>
            <a:off x="1737360" y="4069080"/>
            <a:ext cx="3749039" cy="219456"/>
          </a:xfrm>
          <a:prstGeom prst="rect">
            <a:avLst/>
          </a:prstGeom>
          <a:noFill/>
        </p:spPr>
        <p:txBody>
          <a:bodyPr wrap="square" lIns="0" tIns="0" rIns="0" bIns="0" anchor="ctr">
            <a:spAutoFit/>
          </a:bodyPr>
          <a:lstStyle/>
          <a:p>
            <a:pPr marL="0" indent="0" algn="l">
              <a:lnSpc>
                <a:spcPct val="100000"/>
              </a:lnSpc>
              <a:spcAft>
                <a:spcPts val="400"/>
              </a:spcAft>
              <a:buNone/>
            </a:pPr>
            <a:r>
              <a:rPr sz="1200" b="0" i="0">
                <a:solidFill>
                  <a:srgbClr val="1F3864"/>
                </a:solidFill>
                <a:latin typeface="Product Sans"/>
                <a:ea typeface="Product Sans"/>
                <a:cs typeface="Product Sans"/>
              </a:rPr>
              <a:t>Array access out of bounds</a:t>
            </a:r>
          </a:p>
        </p:txBody>
      </p:sp>
      <p:sp>
        <p:nvSpPr>
          <p:cNvPr id="23" name="TextBox 22"/>
          <p:cNvSpPr txBox="1"/>
          <p:nvPr/>
        </p:nvSpPr>
        <p:spPr>
          <a:xfrm>
            <a:off x="5577840" y="4069080"/>
            <a:ext cx="6035040" cy="219456"/>
          </a:xfrm>
          <a:prstGeom prst="rect">
            <a:avLst/>
          </a:prstGeom>
          <a:noFill/>
        </p:spPr>
        <p:txBody>
          <a:bodyPr wrap="square" lIns="0" tIns="0" rIns="0" bIns="0" anchor="ctr">
            <a:spAutoFit/>
          </a:bodyPr>
          <a:lstStyle/>
          <a:p>
            <a:pPr marL="0" indent="0" algn="l">
              <a:lnSpc>
                <a:spcPct val="100000"/>
              </a:lnSpc>
              <a:spcAft>
                <a:spcPts val="400"/>
              </a:spcAft>
              <a:buNone/>
            </a:pPr>
            <a:r>
              <a:rPr sz="1100" b="0" i="0">
                <a:solidFill>
                  <a:srgbClr val="595959"/>
                </a:solidFill>
                <a:latin typeface="Product Sans"/>
                <a:ea typeface="Product Sans"/>
                <a:cs typeface="Product Sans"/>
              </a:rPr>
              <a:t>loop runs i = 0..4 over a 4-element array</a:t>
            </a:r>
          </a:p>
        </p:txBody>
      </p:sp>
      <p:sp>
        <p:nvSpPr>
          <p:cNvPr id="24" name="Rounded Rectangle 23"/>
          <p:cNvSpPr/>
          <p:nvPr/>
        </p:nvSpPr>
        <p:spPr>
          <a:xfrm>
            <a:off x="548640" y="4343400"/>
            <a:ext cx="1051560" cy="219456"/>
          </a:xfrm>
          <a:prstGeom prst="roundRect">
            <a:avLst>
              <a:gd name="adj" fmla="val 4500"/>
            </a:avLst>
          </a:prstGeom>
          <a:solidFill>
            <a:srgbClr val="A32A2A"/>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8640" y="4343400"/>
            <a:ext cx="1051560" cy="219456"/>
          </a:xfrm>
          <a:prstGeom prst="rect">
            <a:avLst/>
          </a:prstGeom>
          <a:noFill/>
        </p:spPr>
        <p:txBody>
          <a:bodyPr wrap="square" lIns="0" tIns="0" rIns="0" bIns="0" anchor="ctr">
            <a:spAutoFit/>
          </a:bodyPr>
          <a:lstStyle/>
          <a:p>
            <a:pPr marL="0" indent="0" algn="ctr">
              <a:lnSpc>
                <a:spcPct val="100000"/>
              </a:lnSpc>
              <a:spcAft>
                <a:spcPts val="400"/>
              </a:spcAft>
              <a:buNone/>
            </a:pPr>
            <a:r>
              <a:rPr sz="900" b="0" i="0">
                <a:solidFill>
                  <a:srgbClr val="FFFFFF"/>
                </a:solidFill>
                <a:latin typeface="Product Sans"/>
                <a:ea typeface="Product Sans"/>
                <a:cs typeface="Product Sans"/>
              </a:rPr>
              <a:t>HIGH</a:t>
            </a:r>
          </a:p>
        </p:txBody>
      </p:sp>
      <p:sp>
        <p:nvSpPr>
          <p:cNvPr id="26" name="TextBox 25"/>
          <p:cNvSpPr txBox="1"/>
          <p:nvPr/>
        </p:nvSpPr>
        <p:spPr>
          <a:xfrm>
            <a:off x="1737360" y="4343400"/>
            <a:ext cx="3749039" cy="219456"/>
          </a:xfrm>
          <a:prstGeom prst="rect">
            <a:avLst/>
          </a:prstGeom>
          <a:noFill/>
        </p:spPr>
        <p:txBody>
          <a:bodyPr wrap="square" lIns="0" tIns="0" rIns="0" bIns="0" anchor="ctr">
            <a:spAutoFit/>
          </a:bodyPr>
          <a:lstStyle/>
          <a:p>
            <a:pPr marL="0" indent="0" algn="l">
              <a:lnSpc>
                <a:spcPct val="100000"/>
              </a:lnSpc>
              <a:spcAft>
                <a:spcPts val="400"/>
              </a:spcAft>
              <a:buNone/>
            </a:pPr>
            <a:r>
              <a:rPr sz="1200" b="0" i="0">
                <a:solidFill>
                  <a:srgbClr val="1F3864"/>
                </a:solidFill>
                <a:latin typeface="Product Sans"/>
                <a:ea typeface="Product Sans"/>
                <a:cs typeface="Product Sans"/>
              </a:rPr>
              <a:t>Integer division by zero</a:t>
            </a:r>
          </a:p>
        </p:txBody>
      </p:sp>
      <p:sp>
        <p:nvSpPr>
          <p:cNvPr id="27" name="TextBox 26"/>
          <p:cNvSpPr txBox="1"/>
          <p:nvPr/>
        </p:nvSpPr>
        <p:spPr>
          <a:xfrm>
            <a:off x="5577840" y="4343400"/>
            <a:ext cx="6035040" cy="219456"/>
          </a:xfrm>
          <a:prstGeom prst="rect">
            <a:avLst/>
          </a:prstGeom>
          <a:noFill/>
        </p:spPr>
        <p:txBody>
          <a:bodyPr wrap="square" lIns="0" tIns="0" rIns="0" bIns="0" anchor="ctr">
            <a:spAutoFit/>
          </a:bodyPr>
          <a:lstStyle/>
          <a:p>
            <a:pPr marL="0" indent="0" algn="l">
              <a:lnSpc>
                <a:spcPct val="100000"/>
              </a:lnSpc>
              <a:spcAft>
                <a:spcPts val="400"/>
              </a:spcAft>
              <a:buNone/>
            </a:pPr>
            <a:r>
              <a:rPr sz="1100" b="0" i="0">
                <a:solidFill>
                  <a:srgbClr val="595959"/>
                </a:solidFill>
                <a:latin typeface="Product Sans"/>
                <a:ea typeface="Product Sans"/>
                <a:cs typeface="Product Sans"/>
              </a:rPr>
              <a:t>divisor is initialised to 0 and never changed</a:t>
            </a:r>
          </a:p>
        </p:txBody>
      </p:sp>
      <p:sp>
        <p:nvSpPr>
          <p:cNvPr id="28" name="Rounded Rectangle 27"/>
          <p:cNvSpPr/>
          <p:nvPr/>
        </p:nvSpPr>
        <p:spPr>
          <a:xfrm>
            <a:off x="548640" y="4617720"/>
            <a:ext cx="1051560" cy="219456"/>
          </a:xfrm>
          <a:prstGeom prst="roundRect">
            <a:avLst>
              <a:gd name="adj" fmla="val 4500"/>
            </a:avLst>
          </a:prstGeom>
          <a:solidFill>
            <a:srgbClr val="A32A2A"/>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548640" y="4617720"/>
            <a:ext cx="1051560" cy="219456"/>
          </a:xfrm>
          <a:prstGeom prst="rect">
            <a:avLst/>
          </a:prstGeom>
          <a:noFill/>
        </p:spPr>
        <p:txBody>
          <a:bodyPr wrap="square" lIns="0" tIns="0" rIns="0" bIns="0" anchor="ctr">
            <a:spAutoFit/>
          </a:bodyPr>
          <a:lstStyle/>
          <a:p>
            <a:pPr marL="0" indent="0" algn="ctr">
              <a:lnSpc>
                <a:spcPct val="100000"/>
              </a:lnSpc>
              <a:spcAft>
                <a:spcPts val="400"/>
              </a:spcAft>
              <a:buNone/>
            </a:pPr>
            <a:r>
              <a:rPr sz="900" b="0" i="0">
                <a:solidFill>
                  <a:srgbClr val="FFFFFF"/>
                </a:solidFill>
                <a:latin typeface="Product Sans"/>
                <a:ea typeface="Product Sans"/>
                <a:cs typeface="Product Sans"/>
              </a:rPr>
              <a:t>HIGH</a:t>
            </a:r>
          </a:p>
        </p:txBody>
      </p:sp>
      <p:sp>
        <p:nvSpPr>
          <p:cNvPr id="30" name="TextBox 29"/>
          <p:cNvSpPr txBox="1"/>
          <p:nvPr/>
        </p:nvSpPr>
        <p:spPr>
          <a:xfrm>
            <a:off x="1737360" y="4617720"/>
            <a:ext cx="3749039" cy="219456"/>
          </a:xfrm>
          <a:prstGeom prst="rect">
            <a:avLst/>
          </a:prstGeom>
          <a:noFill/>
        </p:spPr>
        <p:txBody>
          <a:bodyPr wrap="square" lIns="0" tIns="0" rIns="0" bIns="0" anchor="ctr">
            <a:spAutoFit/>
          </a:bodyPr>
          <a:lstStyle/>
          <a:p>
            <a:pPr marL="0" indent="0" algn="l">
              <a:lnSpc>
                <a:spcPct val="100000"/>
              </a:lnSpc>
              <a:spcAft>
                <a:spcPts val="400"/>
              </a:spcAft>
              <a:buNone/>
            </a:pPr>
            <a:r>
              <a:rPr sz="1200" b="0" i="0">
                <a:solidFill>
                  <a:srgbClr val="1F3864"/>
                </a:solidFill>
                <a:latin typeface="Product Sans"/>
                <a:ea typeface="Product Sans"/>
                <a:cs typeface="Product Sans"/>
              </a:rPr>
              <a:t>Non-initialised variable read</a:t>
            </a:r>
          </a:p>
        </p:txBody>
      </p:sp>
      <p:sp>
        <p:nvSpPr>
          <p:cNvPr id="31" name="TextBox 30"/>
          <p:cNvSpPr txBox="1"/>
          <p:nvPr/>
        </p:nvSpPr>
        <p:spPr>
          <a:xfrm>
            <a:off x="5577840" y="4617720"/>
            <a:ext cx="6035040" cy="219456"/>
          </a:xfrm>
          <a:prstGeom prst="rect">
            <a:avLst/>
          </a:prstGeom>
          <a:noFill/>
        </p:spPr>
        <p:txBody>
          <a:bodyPr wrap="square" lIns="0" tIns="0" rIns="0" bIns="0" anchor="ctr">
            <a:spAutoFit/>
          </a:bodyPr>
          <a:lstStyle/>
          <a:p>
            <a:pPr marL="0" indent="0" algn="l">
              <a:lnSpc>
                <a:spcPct val="100000"/>
              </a:lnSpc>
              <a:spcAft>
                <a:spcPts val="400"/>
              </a:spcAft>
              <a:buNone/>
            </a:pPr>
            <a:r>
              <a:rPr sz="1100" b="0" i="0">
                <a:solidFill>
                  <a:srgbClr val="595959"/>
                </a:solidFill>
                <a:latin typeface="Product Sans"/>
                <a:ea typeface="Product Sans"/>
                <a:cs typeface="Product Sans"/>
              </a:rPr>
              <a:t>limit is compared before it is ever set</a:t>
            </a:r>
          </a:p>
        </p:txBody>
      </p:sp>
      <p:sp>
        <p:nvSpPr>
          <p:cNvPr id="32" name="Rounded Rectangle 31"/>
          <p:cNvSpPr/>
          <p:nvPr/>
        </p:nvSpPr>
        <p:spPr>
          <a:xfrm>
            <a:off x="548640" y="4892040"/>
            <a:ext cx="1051560" cy="219456"/>
          </a:xfrm>
          <a:prstGeom prst="roundRect">
            <a:avLst>
              <a:gd name="adj" fmla="val 4500"/>
            </a:avLst>
          </a:prstGeom>
          <a:solidFill>
            <a:srgbClr val="B46A0B"/>
          </a:solidFill>
          <a:ln w="1270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48640" y="4892040"/>
            <a:ext cx="1051560" cy="219456"/>
          </a:xfrm>
          <a:prstGeom prst="rect">
            <a:avLst/>
          </a:prstGeom>
          <a:noFill/>
        </p:spPr>
        <p:txBody>
          <a:bodyPr wrap="square" lIns="0" tIns="0" rIns="0" bIns="0" anchor="ctr">
            <a:spAutoFit/>
          </a:bodyPr>
          <a:lstStyle/>
          <a:p>
            <a:pPr marL="0" indent="0" algn="ctr">
              <a:lnSpc>
                <a:spcPct val="100000"/>
              </a:lnSpc>
              <a:spcAft>
                <a:spcPts val="400"/>
              </a:spcAft>
              <a:buNone/>
            </a:pPr>
            <a:r>
              <a:rPr sz="900" b="0" i="0">
                <a:solidFill>
                  <a:srgbClr val="FFFFFF"/>
                </a:solidFill>
                <a:latin typeface="Product Sans"/>
                <a:ea typeface="Product Sans"/>
                <a:cs typeface="Product Sans"/>
              </a:rPr>
              <a:t>MANDATORY</a:t>
            </a:r>
          </a:p>
        </p:txBody>
      </p:sp>
      <p:sp>
        <p:nvSpPr>
          <p:cNvPr id="34" name="TextBox 33"/>
          <p:cNvSpPr txBox="1"/>
          <p:nvPr/>
        </p:nvSpPr>
        <p:spPr>
          <a:xfrm>
            <a:off x="1737360" y="4892040"/>
            <a:ext cx="3749039" cy="219456"/>
          </a:xfrm>
          <a:prstGeom prst="rect">
            <a:avLst/>
          </a:prstGeom>
          <a:noFill/>
        </p:spPr>
        <p:txBody>
          <a:bodyPr wrap="square" lIns="0" tIns="0" rIns="0" bIns="0" anchor="ctr">
            <a:spAutoFit/>
          </a:bodyPr>
          <a:lstStyle/>
          <a:p>
            <a:pPr marL="0" indent="0" algn="l">
              <a:lnSpc>
                <a:spcPct val="100000"/>
              </a:lnSpc>
              <a:spcAft>
                <a:spcPts val="400"/>
              </a:spcAft>
              <a:buNone/>
            </a:pPr>
            <a:r>
              <a:rPr sz="1200" b="0" i="0">
                <a:solidFill>
                  <a:srgbClr val="1F3864"/>
                </a:solidFill>
                <a:latin typeface="Product Sans"/>
                <a:ea typeface="Product Sans"/>
                <a:cs typeface="Product Sans"/>
              </a:rPr>
              <a:t>MISRA C:2012 9.1</a:t>
            </a:r>
          </a:p>
        </p:txBody>
      </p:sp>
      <p:sp>
        <p:nvSpPr>
          <p:cNvPr id="35" name="TextBox 34"/>
          <p:cNvSpPr txBox="1"/>
          <p:nvPr/>
        </p:nvSpPr>
        <p:spPr>
          <a:xfrm>
            <a:off x="5577840" y="4892040"/>
            <a:ext cx="6035040" cy="219456"/>
          </a:xfrm>
          <a:prstGeom prst="rect">
            <a:avLst/>
          </a:prstGeom>
          <a:noFill/>
        </p:spPr>
        <p:txBody>
          <a:bodyPr wrap="square" lIns="0" tIns="0" rIns="0" bIns="0" anchor="ctr">
            <a:spAutoFit/>
          </a:bodyPr>
          <a:lstStyle/>
          <a:p>
            <a:pPr marL="0" indent="0" algn="l">
              <a:lnSpc>
                <a:spcPct val="100000"/>
              </a:lnSpc>
              <a:spcAft>
                <a:spcPts val="400"/>
              </a:spcAft>
              <a:buNone/>
            </a:pPr>
            <a:r>
              <a:rPr sz="1100" b="0" i="0">
                <a:solidFill>
                  <a:srgbClr val="595959"/>
                </a:solidFill>
                <a:latin typeface="Product Sans"/>
                <a:ea typeface="Product Sans"/>
                <a:cs typeface="Product Sans"/>
              </a:rPr>
              <a:t>object read before it has been set</a:t>
            </a:r>
          </a:p>
        </p:txBody>
      </p:sp>
      <p:sp>
        <p:nvSpPr>
          <p:cNvPr id="36" name="Rounded Rectangle 35"/>
          <p:cNvSpPr/>
          <p:nvPr/>
        </p:nvSpPr>
        <p:spPr>
          <a:xfrm>
            <a:off x="548640" y="5166359"/>
            <a:ext cx="1051560" cy="219456"/>
          </a:xfrm>
          <a:prstGeom prst="roundRect">
            <a:avLst>
              <a:gd name="adj" fmla="val 4500"/>
            </a:avLst>
          </a:prstGeom>
          <a:solidFill>
            <a:srgbClr val="B46A0B"/>
          </a:solidFill>
          <a:ln w="1270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48640" y="5166359"/>
            <a:ext cx="1051560" cy="219456"/>
          </a:xfrm>
          <a:prstGeom prst="rect">
            <a:avLst/>
          </a:prstGeom>
          <a:noFill/>
        </p:spPr>
        <p:txBody>
          <a:bodyPr wrap="square" lIns="0" tIns="0" rIns="0" bIns="0" anchor="ctr">
            <a:spAutoFit/>
          </a:bodyPr>
          <a:lstStyle/>
          <a:p>
            <a:pPr marL="0" indent="0" algn="ctr">
              <a:lnSpc>
                <a:spcPct val="100000"/>
              </a:lnSpc>
              <a:spcAft>
                <a:spcPts val="400"/>
              </a:spcAft>
              <a:buNone/>
            </a:pPr>
            <a:r>
              <a:rPr sz="900" b="0" i="0">
                <a:solidFill>
                  <a:srgbClr val="FFFFFF"/>
                </a:solidFill>
                <a:latin typeface="Product Sans"/>
                <a:ea typeface="Product Sans"/>
                <a:cs typeface="Product Sans"/>
              </a:rPr>
              <a:t>REQUIRED</a:t>
            </a:r>
          </a:p>
        </p:txBody>
      </p:sp>
      <p:sp>
        <p:nvSpPr>
          <p:cNvPr id="38" name="TextBox 37"/>
          <p:cNvSpPr txBox="1"/>
          <p:nvPr/>
        </p:nvSpPr>
        <p:spPr>
          <a:xfrm>
            <a:off x="1737360" y="5166359"/>
            <a:ext cx="3749039" cy="219456"/>
          </a:xfrm>
          <a:prstGeom prst="rect">
            <a:avLst/>
          </a:prstGeom>
          <a:noFill/>
        </p:spPr>
        <p:txBody>
          <a:bodyPr wrap="square" lIns="0" tIns="0" rIns="0" bIns="0" anchor="ctr">
            <a:spAutoFit/>
          </a:bodyPr>
          <a:lstStyle/>
          <a:p>
            <a:pPr marL="0" indent="0" algn="l">
              <a:lnSpc>
                <a:spcPct val="100000"/>
              </a:lnSpc>
              <a:spcAft>
                <a:spcPts val="400"/>
              </a:spcAft>
              <a:buNone/>
            </a:pPr>
            <a:r>
              <a:rPr sz="1200" b="0" i="0">
                <a:solidFill>
                  <a:srgbClr val="1F3864"/>
                </a:solidFill>
                <a:latin typeface="Product Sans"/>
                <a:ea typeface="Product Sans"/>
                <a:cs typeface="Product Sans"/>
              </a:rPr>
              <a:t>MISRA C:2012 18.1 · Dir 4.1</a:t>
            </a:r>
          </a:p>
        </p:txBody>
      </p:sp>
      <p:sp>
        <p:nvSpPr>
          <p:cNvPr id="39" name="TextBox 38"/>
          <p:cNvSpPr txBox="1"/>
          <p:nvPr/>
        </p:nvSpPr>
        <p:spPr>
          <a:xfrm>
            <a:off x="5577840" y="5166359"/>
            <a:ext cx="6035040" cy="219456"/>
          </a:xfrm>
          <a:prstGeom prst="rect">
            <a:avLst/>
          </a:prstGeom>
          <a:noFill/>
        </p:spPr>
        <p:txBody>
          <a:bodyPr wrap="square" lIns="0" tIns="0" rIns="0" bIns="0" anchor="ctr">
            <a:spAutoFit/>
          </a:bodyPr>
          <a:lstStyle/>
          <a:p>
            <a:pPr marL="0" indent="0" algn="l">
              <a:lnSpc>
                <a:spcPct val="100000"/>
              </a:lnSpc>
              <a:spcAft>
                <a:spcPts val="400"/>
              </a:spcAft>
              <a:buNone/>
            </a:pPr>
            <a:r>
              <a:rPr sz="1100" b="0" i="0">
                <a:solidFill>
                  <a:srgbClr val="595959"/>
                </a:solidFill>
                <a:latin typeface="Product Sans"/>
                <a:ea typeface="Product Sans"/>
                <a:cs typeface="Product Sans"/>
              </a:rPr>
              <a:t>pointer arithmetic outside the array; run-time failure</a:t>
            </a:r>
          </a:p>
        </p:txBody>
      </p:sp>
      <p:sp>
        <p:nvSpPr>
          <p:cNvPr id="40" name="Rounded Rectangle 39"/>
          <p:cNvSpPr/>
          <p:nvPr/>
        </p:nvSpPr>
        <p:spPr>
          <a:xfrm>
            <a:off x="548640" y="562356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85800" y="562356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This is the evidence an OEM asks for — and the agent produces it, explains it, fixes it, and proves the fix.</a:t>
            </a:r>
          </a:p>
        </p:txBody>
      </p:sp>
      <p:sp>
        <p:nvSpPr>
          <p:cNvPr id="42" name="TextBox 41"/>
          <p:cNvSpPr txBox="1"/>
          <p:nvPr/>
        </p:nvSpPr>
        <p:spPr>
          <a:xfrm>
            <a:off x="3291840" y="6108192"/>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Run /usage now — and again at every checkpoint.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38</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Safety-critical code — proof, not opinion</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The closing demo: MISRA C:2012 and proof-based defect analysis on ECU C</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SAFETY CRITICAL</a:t>
            </a:r>
          </a:p>
        </p:txBody>
      </p:sp>
      <p:sp>
        <p:nvSpPr>
          <p:cNvPr id="10" name="Rounded Rectangle 9"/>
          <p:cNvSpPr/>
          <p:nvPr/>
        </p:nvSpPr>
        <p:spPr>
          <a:xfrm>
            <a:off x="548640" y="1298448"/>
            <a:ext cx="2596896" cy="10972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389888"/>
            <a:ext cx="2596896" cy="530352"/>
          </a:xfrm>
          <a:prstGeom prst="rect">
            <a:avLst/>
          </a:prstGeom>
          <a:noFill/>
        </p:spPr>
        <p:txBody>
          <a:bodyPr wrap="square" lIns="0" tIns="0" rIns="0" bIns="0" anchor="ctr">
            <a:spAutoFit/>
          </a:bodyPr>
          <a:lstStyle/>
          <a:p>
            <a:pPr marL="0" indent="0" algn="ctr">
              <a:lnSpc>
                <a:spcPct val="100000"/>
              </a:lnSpc>
              <a:spcAft>
                <a:spcPts val="400"/>
              </a:spcAft>
              <a:buNone/>
            </a:pPr>
            <a:r>
              <a:rPr sz="3000" b="0" i="0">
                <a:solidFill>
                  <a:srgbClr val="4472C4"/>
                </a:solidFill>
                <a:latin typeface="Product Sans"/>
                <a:ea typeface="Product Sans"/>
                <a:cs typeface="Product Sans"/>
              </a:rPr>
              <a:t>44</a:t>
            </a:r>
          </a:p>
        </p:txBody>
      </p:sp>
      <p:sp>
        <p:nvSpPr>
          <p:cNvPr id="12" name="TextBox 11"/>
          <p:cNvSpPr txBox="1"/>
          <p:nvPr/>
        </p:nvSpPr>
        <p:spPr>
          <a:xfrm>
            <a:off x="676656" y="1920240"/>
            <a:ext cx="2340863" cy="365760"/>
          </a:xfrm>
          <a:prstGeom prst="rect">
            <a:avLst/>
          </a:prstGeom>
          <a:noFill/>
        </p:spPr>
        <p:txBody>
          <a:bodyPr wrap="square" lIns="0" tIns="0" rIns="0" bIns="0" anchor="t">
            <a:spAutoFit/>
          </a:bodyPr>
          <a:lstStyle/>
          <a:p>
            <a:pPr marL="0" indent="0" algn="ctr">
              <a:lnSpc>
                <a:spcPct val="100000"/>
              </a:lnSpc>
              <a:spcAft>
                <a:spcPts val="400"/>
              </a:spcAft>
              <a:buNone/>
            </a:pPr>
            <a:r>
              <a:rPr sz="1050" b="0" i="0">
                <a:solidFill>
                  <a:srgbClr val="595959"/>
                </a:solidFill>
                <a:latin typeface="Product Sans"/>
                <a:ea typeface="Product Sans"/>
                <a:cs typeface="Product Sans"/>
              </a:rPr>
              <a:t>lines of ECU C — the kind that ships</a:t>
            </a:r>
          </a:p>
        </p:txBody>
      </p:sp>
      <p:sp>
        <p:nvSpPr>
          <p:cNvPr id="13" name="Rounded Rectangle 12"/>
          <p:cNvSpPr/>
          <p:nvPr/>
        </p:nvSpPr>
        <p:spPr>
          <a:xfrm>
            <a:off x="3383280" y="1298448"/>
            <a:ext cx="2596896" cy="10972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383280" y="1389888"/>
            <a:ext cx="2596896" cy="530352"/>
          </a:xfrm>
          <a:prstGeom prst="rect">
            <a:avLst/>
          </a:prstGeom>
          <a:noFill/>
        </p:spPr>
        <p:txBody>
          <a:bodyPr wrap="square" lIns="0" tIns="0" rIns="0" bIns="0" anchor="ctr">
            <a:spAutoFit/>
          </a:bodyPr>
          <a:lstStyle/>
          <a:p>
            <a:pPr marL="0" indent="0" algn="ctr">
              <a:lnSpc>
                <a:spcPct val="100000"/>
              </a:lnSpc>
              <a:spcAft>
                <a:spcPts val="400"/>
              </a:spcAft>
              <a:buNone/>
            </a:pPr>
            <a:r>
              <a:rPr sz="3000" b="0" i="0">
                <a:solidFill>
                  <a:srgbClr val="4472C4"/>
                </a:solidFill>
                <a:latin typeface="Product Sans"/>
                <a:ea typeface="Product Sans"/>
                <a:cs typeface="Product Sans"/>
              </a:rPr>
              <a:t>10</a:t>
            </a:r>
          </a:p>
        </p:txBody>
      </p:sp>
      <p:sp>
        <p:nvSpPr>
          <p:cNvPr id="15" name="TextBox 14"/>
          <p:cNvSpPr txBox="1"/>
          <p:nvPr/>
        </p:nvSpPr>
        <p:spPr>
          <a:xfrm>
            <a:off x="3511296" y="1920240"/>
            <a:ext cx="2340863" cy="365760"/>
          </a:xfrm>
          <a:prstGeom prst="rect">
            <a:avLst/>
          </a:prstGeom>
          <a:noFill/>
        </p:spPr>
        <p:txBody>
          <a:bodyPr wrap="square" lIns="0" tIns="0" rIns="0" bIns="0" anchor="t">
            <a:spAutoFit/>
          </a:bodyPr>
          <a:lstStyle/>
          <a:p>
            <a:pPr marL="0" indent="0" algn="ctr">
              <a:lnSpc>
                <a:spcPct val="100000"/>
              </a:lnSpc>
              <a:spcAft>
                <a:spcPts val="400"/>
              </a:spcAft>
              <a:buNone/>
            </a:pPr>
            <a:r>
              <a:rPr sz="1050" b="0" i="0">
                <a:solidFill>
                  <a:srgbClr val="595959"/>
                </a:solidFill>
                <a:latin typeface="Product Sans"/>
                <a:ea typeface="Product Sans"/>
                <a:cs typeface="Product Sans"/>
              </a:rPr>
              <a:t>findings from MISRA + Bug Finder</a:t>
            </a:r>
          </a:p>
        </p:txBody>
      </p:sp>
      <p:sp>
        <p:nvSpPr>
          <p:cNvPr id="16" name="Rounded Rectangle 15"/>
          <p:cNvSpPr/>
          <p:nvPr/>
        </p:nvSpPr>
        <p:spPr>
          <a:xfrm>
            <a:off x="6217920" y="1298448"/>
            <a:ext cx="2596896" cy="10972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217920" y="1389888"/>
            <a:ext cx="2596896" cy="530352"/>
          </a:xfrm>
          <a:prstGeom prst="rect">
            <a:avLst/>
          </a:prstGeom>
          <a:noFill/>
        </p:spPr>
        <p:txBody>
          <a:bodyPr wrap="square" lIns="0" tIns="0" rIns="0" bIns="0" anchor="ctr">
            <a:spAutoFit/>
          </a:bodyPr>
          <a:lstStyle/>
          <a:p>
            <a:pPr marL="0" indent="0" algn="ctr">
              <a:lnSpc>
                <a:spcPct val="100000"/>
              </a:lnSpc>
              <a:spcAft>
                <a:spcPts val="400"/>
              </a:spcAft>
              <a:buNone/>
            </a:pPr>
            <a:r>
              <a:rPr sz="3000" b="0" i="0">
                <a:solidFill>
                  <a:srgbClr val="4472C4"/>
                </a:solidFill>
                <a:latin typeface="Product Sans"/>
                <a:ea typeface="Product Sans"/>
                <a:cs typeface="Product Sans"/>
              </a:rPr>
              <a:t>3</a:t>
            </a:r>
          </a:p>
        </p:txBody>
      </p:sp>
      <p:sp>
        <p:nvSpPr>
          <p:cNvPr id="18" name="TextBox 17"/>
          <p:cNvSpPr txBox="1"/>
          <p:nvPr/>
        </p:nvSpPr>
        <p:spPr>
          <a:xfrm>
            <a:off x="6345936" y="1920240"/>
            <a:ext cx="2340863" cy="365760"/>
          </a:xfrm>
          <a:prstGeom prst="rect">
            <a:avLst/>
          </a:prstGeom>
          <a:noFill/>
        </p:spPr>
        <p:txBody>
          <a:bodyPr wrap="square" lIns="0" tIns="0" rIns="0" bIns="0" anchor="t">
            <a:spAutoFit/>
          </a:bodyPr>
          <a:lstStyle/>
          <a:p>
            <a:pPr marL="0" indent="0" algn="ctr">
              <a:lnSpc>
                <a:spcPct val="100000"/>
              </a:lnSpc>
              <a:spcAft>
                <a:spcPts val="400"/>
              </a:spcAft>
              <a:buNone/>
            </a:pPr>
            <a:r>
              <a:rPr sz="1050" b="0" i="0">
                <a:solidFill>
                  <a:srgbClr val="595959"/>
                </a:solidFill>
                <a:latin typeface="Product Sans"/>
                <a:ea typeface="Product Sans"/>
                <a:cs typeface="Product Sans"/>
              </a:rPr>
              <a:t>high impact — provable run-time faults</a:t>
            </a:r>
          </a:p>
        </p:txBody>
      </p:sp>
      <p:sp>
        <p:nvSpPr>
          <p:cNvPr id="19" name="Rounded Rectangle 18"/>
          <p:cNvSpPr/>
          <p:nvPr/>
        </p:nvSpPr>
        <p:spPr>
          <a:xfrm>
            <a:off x="9052560" y="1298448"/>
            <a:ext cx="2596896" cy="10972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052560" y="1389888"/>
            <a:ext cx="2596896" cy="530352"/>
          </a:xfrm>
          <a:prstGeom prst="rect">
            <a:avLst/>
          </a:prstGeom>
          <a:noFill/>
        </p:spPr>
        <p:txBody>
          <a:bodyPr wrap="square" lIns="0" tIns="0" rIns="0" bIns="0" anchor="ctr">
            <a:spAutoFit/>
          </a:bodyPr>
          <a:lstStyle/>
          <a:p>
            <a:pPr marL="0" indent="0" algn="ctr">
              <a:lnSpc>
                <a:spcPct val="100000"/>
              </a:lnSpc>
              <a:spcAft>
                <a:spcPts val="400"/>
              </a:spcAft>
              <a:buNone/>
            </a:pPr>
            <a:r>
              <a:rPr sz="3000" b="0" i="0">
                <a:solidFill>
                  <a:srgbClr val="4472C4"/>
                </a:solidFill>
                <a:latin typeface="Product Sans"/>
                <a:ea typeface="Product Sans"/>
                <a:cs typeface="Product Sans"/>
              </a:rPr>
              <a:t>1</a:t>
            </a:r>
          </a:p>
        </p:txBody>
      </p:sp>
      <p:sp>
        <p:nvSpPr>
          <p:cNvPr id="21" name="TextBox 20"/>
          <p:cNvSpPr txBox="1"/>
          <p:nvPr/>
        </p:nvSpPr>
        <p:spPr>
          <a:xfrm>
            <a:off x="9180576" y="1920240"/>
            <a:ext cx="2340863" cy="365760"/>
          </a:xfrm>
          <a:prstGeom prst="rect">
            <a:avLst/>
          </a:prstGeom>
          <a:noFill/>
        </p:spPr>
        <p:txBody>
          <a:bodyPr wrap="square" lIns="0" tIns="0" rIns="0" bIns="0" anchor="t">
            <a:spAutoFit/>
          </a:bodyPr>
          <a:lstStyle/>
          <a:p>
            <a:pPr marL="0" indent="0" algn="ctr">
              <a:lnSpc>
                <a:spcPct val="100000"/>
              </a:lnSpc>
              <a:spcAft>
                <a:spcPts val="400"/>
              </a:spcAft>
              <a:buNone/>
            </a:pPr>
            <a:r>
              <a:rPr sz="1050" b="0" i="0">
                <a:solidFill>
                  <a:srgbClr val="595959"/>
                </a:solidFill>
                <a:latin typeface="Product Sans"/>
                <a:ea typeface="Product Sans"/>
                <a:cs typeface="Product Sans"/>
              </a:rPr>
              <a:t>Mandatory MISRA rule — not negotiable</a:t>
            </a:r>
          </a:p>
        </p:txBody>
      </p:sp>
      <p:sp>
        <p:nvSpPr>
          <p:cNvPr id="22" name="Rounded Rectangle 21"/>
          <p:cNvSpPr/>
          <p:nvPr/>
        </p:nvSpPr>
        <p:spPr>
          <a:xfrm>
            <a:off x="548640" y="2578608"/>
            <a:ext cx="3538728" cy="21579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786384" y="2688336"/>
            <a:ext cx="347472" cy="347472"/>
          </a:xfrm>
          <a:prstGeom prst="ellipse">
            <a:avLst/>
          </a:prstGeom>
          <a:solidFill>
            <a:srgbClr val="B46A0B"/>
          </a:solidFill>
          <a:ln w="1905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Isosceles Triangle 23"/>
          <p:cNvSpPr/>
          <p:nvPr/>
        </p:nvSpPr>
        <p:spPr>
          <a:xfrm>
            <a:off x="855878" y="2766517"/>
            <a:ext cx="208483" cy="191109"/>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86384" y="2723083"/>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B46A0B"/>
                </a:solidFill>
                <a:latin typeface="Product Sans"/>
                <a:ea typeface="Product Sans"/>
                <a:cs typeface="Product Sans"/>
              </a:rPr>
              <a:t>!</a:t>
            </a:r>
          </a:p>
        </p:txBody>
      </p:sp>
      <p:sp>
        <p:nvSpPr>
          <p:cNvPr id="26" name="TextBox 25"/>
          <p:cNvSpPr txBox="1"/>
          <p:nvPr/>
        </p:nvSpPr>
        <p:spPr>
          <a:xfrm>
            <a:off x="1280160" y="2715768"/>
            <a:ext cx="2569464"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It compiled. It looked fine.</a:t>
            </a:r>
          </a:p>
        </p:txBody>
      </p:sp>
      <p:sp>
        <p:nvSpPr>
          <p:cNvPr id="27" name="TextBox 26"/>
          <p:cNvSpPr txBox="1"/>
          <p:nvPr/>
        </p:nvSpPr>
        <p:spPr>
          <a:xfrm>
            <a:off x="786384" y="3118103"/>
            <a:ext cx="3063240" cy="1508760"/>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The file builds without a warning and reads cleanly in review.</a:t>
            </a:r>
          </a:p>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An out-of-bounds write is a field failure, not a compiler message.</a:t>
            </a:r>
          </a:p>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Nothing in the toolchain was going to tell you.</a:t>
            </a:r>
          </a:p>
        </p:txBody>
      </p:sp>
      <p:sp>
        <p:nvSpPr>
          <p:cNvPr id="28" name="Rounded Rectangle 27"/>
          <p:cNvSpPr/>
          <p:nvPr/>
        </p:nvSpPr>
        <p:spPr>
          <a:xfrm>
            <a:off x="4325112" y="2578608"/>
            <a:ext cx="3538728" cy="21579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4562856" y="2688336"/>
            <a:ext cx="347472" cy="347472"/>
          </a:xfrm>
          <a:prstGeom prst="ellipse">
            <a:avLst/>
          </a:prstGeom>
          <a:solidFill>
            <a:srgbClr val="2F7D3B"/>
          </a:solidFill>
          <a:ln w="1905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562856" y="2688336"/>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350" b="0" i="0">
                <a:solidFill>
                  <a:srgbClr val="FFFFFF"/>
                </a:solidFill>
                <a:latin typeface="Product Sans"/>
                <a:ea typeface="Product Sans"/>
                <a:cs typeface="Product Sans"/>
              </a:rPr>
              <a:t>✓</a:t>
            </a:r>
          </a:p>
        </p:txBody>
      </p:sp>
      <p:sp>
        <p:nvSpPr>
          <p:cNvPr id="31" name="TextBox 30"/>
          <p:cNvSpPr txBox="1"/>
          <p:nvPr/>
        </p:nvSpPr>
        <p:spPr>
          <a:xfrm>
            <a:off x="5056632" y="2715768"/>
            <a:ext cx="2569464"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Proof, not a heuristic</a:t>
            </a:r>
          </a:p>
        </p:txBody>
      </p:sp>
      <p:sp>
        <p:nvSpPr>
          <p:cNvPr id="32" name="TextBox 31"/>
          <p:cNvSpPr txBox="1"/>
          <p:nvPr/>
        </p:nvSpPr>
        <p:spPr>
          <a:xfrm>
            <a:off x="4562856" y="3118103"/>
            <a:ext cx="3063240" cy="1508760"/>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“Expected values: i is [0..3]. Actual values: i is [0..4].”</a:t>
            </a:r>
          </a:p>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Polyspace proves the range across every path — it does not sample.</a:t>
            </a:r>
          </a:p>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That is an artefact an auditor will accept.</a:t>
            </a:r>
          </a:p>
        </p:txBody>
      </p:sp>
      <p:sp>
        <p:nvSpPr>
          <p:cNvPr id="33" name="Rounded Rectangle 32"/>
          <p:cNvSpPr/>
          <p:nvPr/>
        </p:nvSpPr>
        <p:spPr>
          <a:xfrm>
            <a:off x="8101583" y="2578608"/>
            <a:ext cx="3538728" cy="21579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8339327" y="2688336"/>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Block Arc 34"/>
          <p:cNvSpPr/>
          <p:nvPr/>
        </p:nvSpPr>
        <p:spPr>
          <a:xfrm>
            <a:off x="8440094" y="2736982"/>
            <a:ext cx="145938" cy="145938"/>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ounded Rectangle 35"/>
          <p:cNvSpPr/>
          <p:nvPr/>
        </p:nvSpPr>
        <p:spPr>
          <a:xfrm>
            <a:off x="8422721" y="2841223"/>
            <a:ext cx="180685" cy="1389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8833104" y="2715768"/>
            <a:ext cx="2569464"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Mandatory vs Advisory</a:t>
            </a:r>
          </a:p>
        </p:txBody>
      </p:sp>
      <p:sp>
        <p:nvSpPr>
          <p:cNvPr id="38" name="TextBox 37"/>
          <p:cNvSpPr txBox="1"/>
          <p:nvPr/>
        </p:nvSpPr>
        <p:spPr>
          <a:xfrm>
            <a:off x="8339327" y="3118103"/>
            <a:ext cx="3063240" cy="1508760"/>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MISRA separates what you must fix from what you may argue.</a:t>
            </a:r>
          </a:p>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The agent keeps that distinction and tells you which is which.</a:t>
            </a:r>
          </a:p>
          <a:p>
            <a:pPr marL="127000" indent="-127000" algn="l">
              <a:lnSpc>
                <a:spcPct val="100000"/>
              </a:lnSpc>
              <a:spcAft>
                <a:spcPts val="600"/>
              </a:spcAft>
              <a:buSzPct val="100000"/>
              <a:buChar char="•"/>
            </a:pPr>
            <a:r>
              <a:rPr sz="1250" b="0" i="0">
                <a:solidFill>
                  <a:srgbClr val="262626"/>
                </a:solidFill>
                <a:latin typeface="Product Sans"/>
                <a:ea typeface="Product Sans"/>
                <a:cs typeface="Product Sans"/>
              </a:rPr>
              <a:t>Then it fixes them one at a time, re-running after each.</a:t>
            </a:r>
          </a:p>
        </p:txBody>
      </p:sp>
      <p:sp>
        <p:nvSpPr>
          <p:cNvPr id="39" name="Rounded Rectangle 38"/>
          <p:cNvSpPr/>
          <p:nvPr/>
        </p:nvSpPr>
        <p:spPr>
          <a:xfrm>
            <a:off x="548640" y="4892040"/>
            <a:ext cx="11091672" cy="731520"/>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777240" y="4974336"/>
            <a:ext cx="10634472" cy="219456"/>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SAME LOOP AS EVERY OTHER DEMO TODAY</a:t>
            </a:r>
          </a:p>
        </p:txBody>
      </p:sp>
      <p:sp>
        <p:nvSpPr>
          <p:cNvPr id="41" name="TextBox 40"/>
          <p:cNvSpPr txBox="1"/>
          <p:nvPr/>
        </p:nvSpPr>
        <p:spPr>
          <a:xfrm>
            <a:off x="777240" y="5202936"/>
            <a:ext cx="10634472" cy="292608"/>
          </a:xfrm>
          <a:prstGeom prst="rect">
            <a:avLst/>
          </a:prstGeom>
          <a:noFill/>
        </p:spPr>
        <p:txBody>
          <a:bodyPr wrap="square" lIns="0" tIns="0" rIns="0" bIns="0" anchor="t">
            <a:spAutoFit/>
          </a:bodyPr>
          <a:lstStyle/>
          <a:p>
            <a:pPr marL="0" indent="0" algn="l">
              <a:lnSpc>
                <a:spcPct val="100000"/>
              </a:lnSpc>
              <a:spcAft>
                <a:spcPts val="400"/>
              </a:spcAft>
              <a:buNone/>
            </a:pPr>
            <a:r>
              <a:rPr sz="1250" b="0" i="0">
                <a:solidFill>
                  <a:srgbClr val="262626"/>
                </a:solidFill>
                <a:latin typeface="Product Sans"/>
                <a:ea typeface="Product Sans"/>
                <a:cs typeface="Product Sans"/>
              </a:rPr>
              <a:t>Find → explain in plain English → fix one at a time → re-run to prove it is gone. The agent runs the loop; you decide what is acceptable.</a:t>
            </a:r>
          </a:p>
        </p:txBody>
      </p:sp>
      <p:sp>
        <p:nvSpPr>
          <p:cNvPr id="42" name="Rounded Rectangle 41"/>
          <p:cNvSpPr/>
          <p:nvPr/>
        </p:nvSpPr>
        <p:spPr>
          <a:xfrm>
            <a:off x="548640" y="60350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85800" y="60350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In automotive electronics, MISRA compliance and defect evidence are contractual deliverables — not internal hygiene.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40</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What you just watched</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An opening demo, a main demo, and safety-critical C — every claim backed by something that ran</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RECAP</a:t>
            </a:r>
          </a:p>
        </p:txBody>
      </p:sp>
      <p:sp>
        <p:nvSpPr>
          <p:cNvPr id="10" name="Rounded Rectangle 9"/>
          <p:cNvSpPr/>
          <p:nvPr/>
        </p:nvSpPr>
        <p:spPr>
          <a:xfrm>
            <a:off x="548640" y="1298448"/>
            <a:ext cx="402336" cy="402336"/>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298448"/>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D</a:t>
            </a:r>
          </a:p>
        </p:txBody>
      </p:sp>
      <p:sp>
        <p:nvSpPr>
          <p:cNvPr id="12" name="TextBox 11"/>
          <p:cNvSpPr txBox="1"/>
          <p:nvPr/>
        </p:nvSpPr>
        <p:spPr>
          <a:xfrm>
            <a:off x="1143000" y="1298448"/>
            <a:ext cx="6949440" cy="402336"/>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262626"/>
                </a:solidFill>
                <a:latin typeface="Product Sans"/>
                <a:ea typeface="Product Sans"/>
                <a:cs typeface="Product Sans"/>
              </a:rPr>
              <a:t>Trained a model that predicts remaining useful life</a:t>
            </a:r>
          </a:p>
        </p:txBody>
      </p:sp>
      <p:sp>
        <p:nvSpPr>
          <p:cNvPr id="13" name="Rounded Rectangle 12"/>
          <p:cNvSpPr/>
          <p:nvPr/>
        </p:nvSpPr>
        <p:spPr>
          <a:xfrm>
            <a:off x="8229600" y="1335024"/>
            <a:ext cx="341071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229600" y="1335024"/>
            <a:ext cx="341071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Cascadia Mono"/>
                <a:ea typeface="Cascadia Mono"/>
                <a:cs typeface="Cascadia Mono"/>
              </a:rPr>
              <a:t>RMSE ~20 cycles</a:t>
            </a:r>
          </a:p>
        </p:txBody>
      </p:sp>
      <p:sp>
        <p:nvSpPr>
          <p:cNvPr id="15" name="Rounded Rectangle 14"/>
          <p:cNvSpPr/>
          <p:nvPr/>
        </p:nvSpPr>
        <p:spPr>
          <a:xfrm>
            <a:off x="548640" y="1810512"/>
            <a:ext cx="402336" cy="402336"/>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48640" y="1810512"/>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A</a:t>
            </a:r>
          </a:p>
        </p:txBody>
      </p:sp>
      <p:sp>
        <p:nvSpPr>
          <p:cNvPr id="17" name="TextBox 16"/>
          <p:cNvSpPr txBox="1"/>
          <p:nvPr/>
        </p:nvSpPr>
        <p:spPr>
          <a:xfrm>
            <a:off x="1143000" y="1810512"/>
            <a:ext cx="6949440" cy="402336"/>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262626"/>
                </a:solidFill>
                <a:latin typeface="Product Sans"/>
                <a:ea typeface="Product Sans"/>
                <a:cs typeface="Product Sans"/>
              </a:rPr>
              <a:t>Built and tidied a Simscape plant + controller</a:t>
            </a:r>
          </a:p>
        </p:txBody>
      </p:sp>
      <p:sp>
        <p:nvSpPr>
          <p:cNvPr id="18" name="Rounded Rectangle 17"/>
          <p:cNvSpPr/>
          <p:nvPr/>
        </p:nvSpPr>
        <p:spPr>
          <a:xfrm>
            <a:off x="8229600" y="1847088"/>
            <a:ext cx="341071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29600" y="1847088"/>
            <a:ext cx="341071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Cascadia Mono"/>
                <a:ea typeface="Cascadia Mono"/>
                <a:cs typeface="Cascadia Mono"/>
              </a:rPr>
              <a:t>caught it using a 0.08 W motor</a:t>
            </a:r>
          </a:p>
        </p:txBody>
      </p:sp>
      <p:sp>
        <p:nvSpPr>
          <p:cNvPr id="20" name="Rounded Rectangle 19"/>
          <p:cNvSpPr/>
          <p:nvPr/>
        </p:nvSpPr>
        <p:spPr>
          <a:xfrm>
            <a:off x="548640" y="2322576"/>
            <a:ext cx="402336" cy="402336"/>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8640" y="2322576"/>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A</a:t>
            </a:r>
          </a:p>
        </p:txBody>
      </p:sp>
      <p:sp>
        <p:nvSpPr>
          <p:cNvPr id="22" name="TextBox 21"/>
          <p:cNvSpPr txBox="1"/>
          <p:nvPr/>
        </p:nvSpPr>
        <p:spPr>
          <a:xfrm>
            <a:off x="1143000" y="2322576"/>
            <a:ext cx="6949440" cy="402336"/>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262626"/>
                </a:solidFill>
                <a:latin typeface="Product Sans"/>
                <a:ea typeface="Product Sans"/>
                <a:cs typeface="Product Sans"/>
              </a:rPr>
              <a:t>Turned a requirement into a failing test, then made it pass</a:t>
            </a:r>
          </a:p>
        </p:txBody>
      </p:sp>
      <p:sp>
        <p:nvSpPr>
          <p:cNvPr id="23" name="Rounded Rectangle 22"/>
          <p:cNvSpPr/>
          <p:nvPr/>
        </p:nvSpPr>
        <p:spPr>
          <a:xfrm>
            <a:off x="8229600" y="2359152"/>
            <a:ext cx="341071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229600" y="2359152"/>
            <a:ext cx="341071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Cascadia Mono"/>
                <a:ea typeface="Cascadia Mono"/>
                <a:cs typeface="Cascadia Mono"/>
              </a:rPr>
              <a:t>32.7 % → 3.4 % overshoot</a:t>
            </a:r>
          </a:p>
        </p:txBody>
      </p:sp>
      <p:sp>
        <p:nvSpPr>
          <p:cNvPr id="25" name="Rounded Rectangle 24"/>
          <p:cNvSpPr/>
          <p:nvPr/>
        </p:nvSpPr>
        <p:spPr>
          <a:xfrm>
            <a:off x="548640" y="2834640"/>
            <a:ext cx="402336" cy="402336"/>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48640" y="2834640"/>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S</a:t>
            </a:r>
          </a:p>
        </p:txBody>
      </p:sp>
      <p:sp>
        <p:nvSpPr>
          <p:cNvPr id="27" name="TextBox 26"/>
          <p:cNvSpPr txBox="1"/>
          <p:nvPr/>
        </p:nvSpPr>
        <p:spPr>
          <a:xfrm>
            <a:off x="1143000" y="2834640"/>
            <a:ext cx="6949440" cy="402336"/>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262626"/>
                </a:solidFill>
                <a:latin typeface="Product Sans"/>
                <a:ea typeface="Product Sans"/>
                <a:cs typeface="Product Sans"/>
              </a:rPr>
              <a:t>Found three high-impact defects in safety-critical C</a:t>
            </a:r>
          </a:p>
        </p:txBody>
      </p:sp>
      <p:sp>
        <p:nvSpPr>
          <p:cNvPr id="28" name="Rounded Rectangle 27"/>
          <p:cNvSpPr/>
          <p:nvPr/>
        </p:nvSpPr>
        <p:spPr>
          <a:xfrm>
            <a:off x="8229600" y="2871216"/>
            <a:ext cx="341071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229600" y="2871216"/>
            <a:ext cx="341071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Cascadia Mono"/>
                <a:ea typeface="Cascadia Mono"/>
                <a:cs typeface="Cascadia Mono"/>
              </a:rPr>
              <a:t>with proof, not opinion</a:t>
            </a:r>
          </a:p>
        </p:txBody>
      </p:sp>
      <p:sp>
        <p:nvSpPr>
          <p:cNvPr id="30" name="Rounded Rectangle 29"/>
          <p:cNvSpPr/>
          <p:nvPr/>
        </p:nvSpPr>
        <p:spPr>
          <a:xfrm>
            <a:off x="548640" y="3346704"/>
            <a:ext cx="402336" cy="402336"/>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48640" y="3346704"/>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a:t>
            </a:r>
          </a:p>
        </p:txBody>
      </p:sp>
      <p:sp>
        <p:nvSpPr>
          <p:cNvPr id="32" name="TextBox 31"/>
          <p:cNvSpPr txBox="1"/>
          <p:nvPr/>
        </p:nvSpPr>
        <p:spPr>
          <a:xfrm>
            <a:off x="1143000" y="3346704"/>
            <a:ext cx="6949440" cy="402336"/>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262626"/>
                </a:solidFill>
                <a:latin typeface="Product Sans"/>
                <a:ea typeface="Product Sans"/>
                <a:cs typeface="Product Sans"/>
              </a:rPr>
              <a:t>Removed 49.8 Hz interference from a sensor capture</a:t>
            </a:r>
          </a:p>
        </p:txBody>
      </p:sp>
      <p:sp>
        <p:nvSpPr>
          <p:cNvPr id="33" name="Rounded Rectangle 32"/>
          <p:cNvSpPr/>
          <p:nvPr/>
        </p:nvSpPr>
        <p:spPr>
          <a:xfrm>
            <a:off x="8229600" y="3383280"/>
            <a:ext cx="341071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229600" y="3383280"/>
            <a:ext cx="341071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Cascadia Mono"/>
                <a:ea typeface="Cascadia Mono"/>
                <a:cs typeface="Cascadia Mono"/>
              </a:rPr>
              <a:t>83 % less error</a:t>
            </a:r>
          </a:p>
        </p:txBody>
      </p:sp>
      <p:sp>
        <p:nvSpPr>
          <p:cNvPr id="35" name="Rounded Rectangle 34"/>
          <p:cNvSpPr/>
          <p:nvPr/>
        </p:nvSpPr>
        <p:spPr>
          <a:xfrm>
            <a:off x="548640" y="3858768"/>
            <a:ext cx="402336" cy="402336"/>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548640" y="3858768"/>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a:t>
            </a:r>
          </a:p>
        </p:txBody>
      </p:sp>
      <p:sp>
        <p:nvSpPr>
          <p:cNvPr id="37" name="TextBox 36"/>
          <p:cNvSpPr txBox="1"/>
          <p:nvPr/>
        </p:nvSpPr>
        <p:spPr>
          <a:xfrm>
            <a:off x="1143000" y="3858768"/>
            <a:ext cx="6949440" cy="402336"/>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262626"/>
                </a:solidFill>
                <a:latin typeface="Product Sans"/>
                <a:ea typeface="Product Sans"/>
                <a:cs typeface="Product Sans"/>
              </a:rPr>
              <a:t>Compressed a network to fit vehicle hardware</a:t>
            </a:r>
          </a:p>
        </p:txBody>
      </p:sp>
      <p:sp>
        <p:nvSpPr>
          <p:cNvPr id="38" name="Rounded Rectangle 37"/>
          <p:cNvSpPr/>
          <p:nvPr/>
        </p:nvSpPr>
        <p:spPr>
          <a:xfrm>
            <a:off x="8229600" y="3895344"/>
            <a:ext cx="341071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229600" y="3895344"/>
            <a:ext cx="341071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Cascadia Mono"/>
                <a:ea typeface="Cascadia Mono"/>
                <a:cs typeface="Cascadia Mono"/>
              </a:rPr>
              <a:t>4.1× smaller</a:t>
            </a:r>
          </a:p>
        </p:txBody>
      </p:sp>
      <p:sp>
        <p:nvSpPr>
          <p:cNvPr id="40" name="Rounded Rectangle 39"/>
          <p:cNvSpPr/>
          <p:nvPr/>
        </p:nvSpPr>
        <p:spPr>
          <a:xfrm>
            <a:off x="548640" y="4498848"/>
            <a:ext cx="5394960" cy="114300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786384" y="4608576"/>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quot;No&quot; Symbol 41"/>
          <p:cNvSpPr/>
          <p:nvPr/>
        </p:nvSpPr>
        <p:spPr>
          <a:xfrm>
            <a:off x="864565" y="4686757"/>
            <a:ext cx="191109" cy="191109"/>
          </a:xfrm>
          <a:prstGeom prst="noSmoking">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1280160" y="4636008"/>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What did not happen</a:t>
            </a:r>
          </a:p>
        </p:txBody>
      </p:sp>
      <p:sp>
        <p:nvSpPr>
          <p:cNvPr id="44" name="TextBox 43"/>
          <p:cNvSpPr txBox="1"/>
          <p:nvPr/>
        </p:nvSpPr>
        <p:spPr>
          <a:xfrm>
            <a:off x="786384" y="5038344"/>
            <a:ext cx="4919472" cy="49377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Nobody pasted a model into a chat window</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Nothing was accepted because it sounded right</a:t>
            </a:r>
          </a:p>
        </p:txBody>
      </p:sp>
      <p:sp>
        <p:nvSpPr>
          <p:cNvPr id="45" name="Rounded Rectangle 44"/>
          <p:cNvSpPr/>
          <p:nvPr/>
        </p:nvSpPr>
        <p:spPr>
          <a:xfrm>
            <a:off x="6245352" y="4498848"/>
            <a:ext cx="5394960" cy="114300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p:cNvSpPr/>
          <p:nvPr/>
        </p:nvSpPr>
        <p:spPr>
          <a:xfrm>
            <a:off x="6483096" y="4608576"/>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ectangle 46"/>
          <p:cNvSpPr/>
          <p:nvPr/>
        </p:nvSpPr>
        <p:spPr>
          <a:xfrm>
            <a:off x="6566489" y="4799685"/>
            <a:ext cx="41696" cy="6949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ectangle 47"/>
          <p:cNvSpPr/>
          <p:nvPr/>
        </p:nvSpPr>
        <p:spPr>
          <a:xfrm>
            <a:off x="6632508" y="4744090"/>
            <a:ext cx="41696" cy="12508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ectangle 48"/>
          <p:cNvSpPr/>
          <p:nvPr/>
        </p:nvSpPr>
        <p:spPr>
          <a:xfrm>
            <a:off x="6698528" y="4695444"/>
            <a:ext cx="41696" cy="173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6976872" y="4636008"/>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Show /usage one more time</a:t>
            </a:r>
          </a:p>
        </p:txBody>
      </p:sp>
      <p:sp>
        <p:nvSpPr>
          <p:cNvPr id="51" name="TextBox 50"/>
          <p:cNvSpPr txBox="1"/>
          <p:nvPr/>
        </p:nvSpPr>
        <p:spPr>
          <a:xfrm>
            <a:off x="6483096" y="5038344"/>
            <a:ext cx="4919472" cy="49377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050" b="0" i="0">
                <a:solidFill>
                  <a:srgbClr val="262626"/>
                </a:solidFill>
                <a:latin typeface="Product Sans"/>
                <a:ea typeface="Product Sans"/>
                <a:cs typeface="Product Sans"/>
              </a:rPr>
              <a:t>Compare it against the number you wrote down at the start</a:t>
            </a:r>
          </a:p>
          <a:p>
            <a:pPr marL="127000" indent="-127000" algn="l">
              <a:lnSpc>
                <a:spcPct val="100000"/>
              </a:lnSpc>
              <a:spcAft>
                <a:spcPts val="600"/>
              </a:spcAft>
              <a:buSzPct val="100000"/>
              <a:buChar char="•"/>
            </a:pPr>
            <a:r>
              <a:rPr sz="1050" b="0" i="0">
                <a:solidFill>
                  <a:srgbClr val="262626"/>
                </a:solidFill>
                <a:latin typeface="Product Sans"/>
                <a:ea typeface="Product Sans"/>
                <a:cs typeface="Product Sans"/>
              </a:rPr>
              <a:t>That is a full afternoon of engineering, executed and verified</a:t>
            </a:r>
          </a:p>
        </p:txBody>
      </p:sp>
      <p:sp>
        <p:nvSpPr>
          <p:cNvPr id="52" name="Rounded Rectangle 51"/>
          <p:cNvSpPr/>
          <p:nvPr/>
        </p:nvSpPr>
        <p:spPr>
          <a:xfrm>
            <a:off x="548640" y="576072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685800" y="576072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You still own the results. The same review and validation apply to agent-authored work as to your own.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03B5484-5520-D49F-DCF2-C859E60D2EAD}"/>
            </a:ext>
          </a:extLst>
        </p:cNvPr>
        <p:cNvGrpSpPr/>
        <p:nvPr/>
      </p:nvGrpSpPr>
      <p:grpSpPr>
        <a:xfrm>
          <a:off x="0" y="0"/>
          <a:ext cx="0" cy="0"/>
          <a:chOff x="0" y="0"/>
          <a:chExt cx="0" cy="0"/>
        </a:xfrm>
      </p:grpSpPr>
      <p:pic>
        <p:nvPicPr>
          <p:cNvPr id="2" name="Picture 1" descr="image.jpg">
            <a:extLst>
              <a:ext uri="{FF2B5EF4-FFF2-40B4-BE49-F238E27FC236}">
                <a16:creationId xmlns:a16="http://schemas.microsoft.com/office/drawing/2014/main" id="{CD6D57D3-AC25-507E-AFAB-7134AB2C5581}"/>
              </a:ext>
            </a:extLst>
          </p:cNvPr>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a:extLst>
              <a:ext uri="{FF2B5EF4-FFF2-40B4-BE49-F238E27FC236}">
                <a16:creationId xmlns:a16="http://schemas.microsoft.com/office/drawing/2014/main" id="{65C8245D-119D-259A-3FF2-CC55A46B6A4D}"/>
              </a:ext>
            </a:extLst>
          </p:cNvPr>
          <p:cNvPicPr>
            <a:picLocks noChangeAspect="1"/>
          </p:cNvPicPr>
          <p:nvPr/>
        </p:nvPicPr>
        <p:blipFill>
          <a:blip r:embed="rId4"/>
          <a:stretch>
            <a:fillRect/>
          </a:stretch>
        </p:blipFill>
        <p:spPr>
          <a:xfrm>
            <a:off x="10716768" y="118872"/>
            <a:ext cx="969264" cy="338328"/>
          </a:xfrm>
          <a:prstGeom prst="rect">
            <a:avLst/>
          </a:prstGeom>
        </p:spPr>
      </p:pic>
      <p:sp>
        <p:nvSpPr>
          <p:cNvPr id="4" name="TextBox 3">
            <a:extLst>
              <a:ext uri="{FF2B5EF4-FFF2-40B4-BE49-F238E27FC236}">
                <a16:creationId xmlns:a16="http://schemas.microsoft.com/office/drawing/2014/main" id="{4C0F13F0-1458-0925-8A1C-C54E184D8FEB}"/>
              </a:ext>
            </a:extLst>
          </p:cNvPr>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a:extLst>
              <a:ext uri="{FF2B5EF4-FFF2-40B4-BE49-F238E27FC236}">
                <a16:creationId xmlns:a16="http://schemas.microsoft.com/office/drawing/2014/main" id="{7BBE53B8-7B43-7451-7A3A-36A432B3FF49}"/>
              </a:ext>
            </a:extLst>
          </p:cNvPr>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41</a:t>
            </a:r>
          </a:p>
        </p:txBody>
      </p:sp>
      <p:sp>
        <p:nvSpPr>
          <p:cNvPr id="6" name="TextBox 5">
            <a:extLst>
              <a:ext uri="{FF2B5EF4-FFF2-40B4-BE49-F238E27FC236}">
                <a16:creationId xmlns:a16="http://schemas.microsoft.com/office/drawing/2014/main" id="{AD5F8EDD-8040-F98B-333D-CC994C6C0DEF}"/>
              </a:ext>
            </a:extLst>
          </p:cNvPr>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What you just watched</a:t>
            </a:r>
          </a:p>
        </p:txBody>
      </p:sp>
      <p:sp>
        <p:nvSpPr>
          <p:cNvPr id="7" name="TextBox 6">
            <a:extLst>
              <a:ext uri="{FF2B5EF4-FFF2-40B4-BE49-F238E27FC236}">
                <a16:creationId xmlns:a16="http://schemas.microsoft.com/office/drawing/2014/main" id="{D0DE5EF9-7AEC-29B8-3380-74B998278235}"/>
              </a:ext>
            </a:extLst>
          </p:cNvPr>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An opening demo, a main demo, and safety-critical C — every claim backed by something that ran</a:t>
            </a:r>
          </a:p>
        </p:txBody>
      </p:sp>
      <p:sp>
        <p:nvSpPr>
          <p:cNvPr id="8" name="Rounded Rectangle 7">
            <a:extLst>
              <a:ext uri="{FF2B5EF4-FFF2-40B4-BE49-F238E27FC236}">
                <a16:creationId xmlns:a16="http://schemas.microsoft.com/office/drawing/2014/main" id="{35B8DE68-A6B9-B64C-A679-3108546190E7}"/>
              </a:ext>
            </a:extLst>
          </p:cNvPr>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0EB9B441-64EE-A44D-D827-D1D42CE8D353}"/>
              </a:ext>
            </a:extLst>
          </p:cNvPr>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RECAP</a:t>
            </a:r>
          </a:p>
        </p:txBody>
      </p:sp>
      <p:sp>
        <p:nvSpPr>
          <p:cNvPr id="10" name="Rounded Rectangle 9">
            <a:extLst>
              <a:ext uri="{FF2B5EF4-FFF2-40B4-BE49-F238E27FC236}">
                <a16:creationId xmlns:a16="http://schemas.microsoft.com/office/drawing/2014/main" id="{A0DC62F9-55A4-2BD2-963F-0B6FD2C937FB}"/>
              </a:ext>
            </a:extLst>
          </p:cNvPr>
          <p:cNvSpPr/>
          <p:nvPr/>
        </p:nvSpPr>
        <p:spPr>
          <a:xfrm>
            <a:off x="548640" y="1574227"/>
            <a:ext cx="402336" cy="402336"/>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FF2B5EF4-FFF2-40B4-BE49-F238E27FC236}">
                <a16:creationId xmlns:a16="http://schemas.microsoft.com/office/drawing/2014/main" id="{EC77A2F3-C2E5-3AA0-F270-9DD1C7C6AC36}"/>
              </a:ext>
            </a:extLst>
          </p:cNvPr>
          <p:cNvSpPr txBox="1"/>
          <p:nvPr/>
        </p:nvSpPr>
        <p:spPr>
          <a:xfrm>
            <a:off x="548640" y="1574227"/>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D</a:t>
            </a:r>
          </a:p>
        </p:txBody>
      </p:sp>
      <p:sp>
        <p:nvSpPr>
          <p:cNvPr id="12" name="TextBox 11">
            <a:extLst>
              <a:ext uri="{FF2B5EF4-FFF2-40B4-BE49-F238E27FC236}">
                <a16:creationId xmlns:a16="http://schemas.microsoft.com/office/drawing/2014/main" id="{0AED3822-7126-10BC-9F94-0CB99DC1DBF3}"/>
              </a:ext>
            </a:extLst>
          </p:cNvPr>
          <p:cNvSpPr txBox="1"/>
          <p:nvPr/>
        </p:nvSpPr>
        <p:spPr>
          <a:xfrm>
            <a:off x="1143000" y="1574227"/>
            <a:ext cx="6949440" cy="402336"/>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262626"/>
                </a:solidFill>
                <a:latin typeface="Product Sans"/>
                <a:ea typeface="Product Sans"/>
                <a:cs typeface="Product Sans"/>
              </a:rPr>
              <a:t>Trained a model that predicts remaining useful life</a:t>
            </a:r>
          </a:p>
        </p:txBody>
      </p:sp>
      <p:sp>
        <p:nvSpPr>
          <p:cNvPr id="13" name="Rounded Rectangle 12">
            <a:extLst>
              <a:ext uri="{FF2B5EF4-FFF2-40B4-BE49-F238E27FC236}">
                <a16:creationId xmlns:a16="http://schemas.microsoft.com/office/drawing/2014/main" id="{CFAE7EA4-F180-5308-AB45-B595893CD55B}"/>
              </a:ext>
            </a:extLst>
          </p:cNvPr>
          <p:cNvSpPr/>
          <p:nvPr/>
        </p:nvSpPr>
        <p:spPr>
          <a:xfrm>
            <a:off x="8229600" y="1610803"/>
            <a:ext cx="341071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a:extLst>
              <a:ext uri="{FF2B5EF4-FFF2-40B4-BE49-F238E27FC236}">
                <a16:creationId xmlns:a16="http://schemas.microsoft.com/office/drawing/2014/main" id="{4E510DBB-17DF-6BE1-A1C5-524987B908AD}"/>
              </a:ext>
            </a:extLst>
          </p:cNvPr>
          <p:cNvSpPr txBox="1"/>
          <p:nvPr/>
        </p:nvSpPr>
        <p:spPr>
          <a:xfrm>
            <a:off x="8229600" y="1610803"/>
            <a:ext cx="341071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Cascadia Mono"/>
                <a:ea typeface="Cascadia Mono"/>
                <a:cs typeface="Cascadia Mono"/>
              </a:rPr>
              <a:t>RMSE ~20 cycles</a:t>
            </a:r>
          </a:p>
        </p:txBody>
      </p:sp>
      <p:sp>
        <p:nvSpPr>
          <p:cNvPr id="15" name="Rounded Rectangle 14">
            <a:extLst>
              <a:ext uri="{FF2B5EF4-FFF2-40B4-BE49-F238E27FC236}">
                <a16:creationId xmlns:a16="http://schemas.microsoft.com/office/drawing/2014/main" id="{E50CDCCD-F284-9DFA-9D5A-75653A7C59F6}"/>
              </a:ext>
            </a:extLst>
          </p:cNvPr>
          <p:cNvSpPr/>
          <p:nvPr/>
        </p:nvSpPr>
        <p:spPr>
          <a:xfrm>
            <a:off x="548640" y="2539350"/>
            <a:ext cx="402336" cy="402336"/>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a:extLst>
              <a:ext uri="{FF2B5EF4-FFF2-40B4-BE49-F238E27FC236}">
                <a16:creationId xmlns:a16="http://schemas.microsoft.com/office/drawing/2014/main" id="{4547C283-5894-FAA2-2A75-CAA0C7DEC8E3}"/>
              </a:ext>
            </a:extLst>
          </p:cNvPr>
          <p:cNvSpPr txBox="1"/>
          <p:nvPr/>
        </p:nvSpPr>
        <p:spPr>
          <a:xfrm>
            <a:off x="548640" y="2539350"/>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A</a:t>
            </a:r>
          </a:p>
        </p:txBody>
      </p:sp>
      <p:sp>
        <p:nvSpPr>
          <p:cNvPr id="17" name="TextBox 16">
            <a:extLst>
              <a:ext uri="{FF2B5EF4-FFF2-40B4-BE49-F238E27FC236}">
                <a16:creationId xmlns:a16="http://schemas.microsoft.com/office/drawing/2014/main" id="{F2F86F8A-09DA-2B77-F760-1C6183CD27D6}"/>
              </a:ext>
            </a:extLst>
          </p:cNvPr>
          <p:cNvSpPr txBox="1"/>
          <p:nvPr/>
        </p:nvSpPr>
        <p:spPr>
          <a:xfrm>
            <a:off x="1143000" y="2539350"/>
            <a:ext cx="6949440" cy="402336"/>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262626"/>
                </a:solidFill>
                <a:latin typeface="Product Sans"/>
                <a:ea typeface="Product Sans"/>
                <a:cs typeface="Product Sans"/>
              </a:rPr>
              <a:t>Built a plant + controller, then made a requirement pass</a:t>
            </a:r>
          </a:p>
        </p:txBody>
      </p:sp>
      <p:sp>
        <p:nvSpPr>
          <p:cNvPr id="18" name="Rounded Rectangle 17">
            <a:extLst>
              <a:ext uri="{FF2B5EF4-FFF2-40B4-BE49-F238E27FC236}">
                <a16:creationId xmlns:a16="http://schemas.microsoft.com/office/drawing/2014/main" id="{80F5E871-3940-ECD8-8080-9C048BE7A8FB}"/>
              </a:ext>
            </a:extLst>
          </p:cNvPr>
          <p:cNvSpPr/>
          <p:nvPr/>
        </p:nvSpPr>
        <p:spPr>
          <a:xfrm>
            <a:off x="8229600" y="2575926"/>
            <a:ext cx="341071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2C6B3DC1-EF4B-44A2-2E02-A0C971A71EC4}"/>
              </a:ext>
            </a:extLst>
          </p:cNvPr>
          <p:cNvSpPr txBox="1"/>
          <p:nvPr/>
        </p:nvSpPr>
        <p:spPr>
          <a:xfrm>
            <a:off x="8229600" y="2575926"/>
            <a:ext cx="341071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Cascadia Mono"/>
                <a:ea typeface="Cascadia Mono"/>
                <a:cs typeface="Cascadia Mono"/>
              </a:rPr>
              <a:t>32.7 % → 3.4 % overshoot</a:t>
            </a:r>
          </a:p>
        </p:txBody>
      </p:sp>
      <p:sp>
        <p:nvSpPr>
          <p:cNvPr id="20" name="Rounded Rectangle 19">
            <a:extLst>
              <a:ext uri="{FF2B5EF4-FFF2-40B4-BE49-F238E27FC236}">
                <a16:creationId xmlns:a16="http://schemas.microsoft.com/office/drawing/2014/main" id="{E7F3E363-AA6C-25F8-E7F9-C7A361FFB703}"/>
              </a:ext>
            </a:extLst>
          </p:cNvPr>
          <p:cNvSpPr/>
          <p:nvPr/>
        </p:nvSpPr>
        <p:spPr>
          <a:xfrm>
            <a:off x="548640" y="3501541"/>
            <a:ext cx="402336" cy="402336"/>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0835E9C8-4DB0-53F7-D726-B37EF61495C7}"/>
              </a:ext>
            </a:extLst>
          </p:cNvPr>
          <p:cNvSpPr txBox="1"/>
          <p:nvPr/>
        </p:nvSpPr>
        <p:spPr>
          <a:xfrm>
            <a:off x="548640" y="3501541"/>
            <a:ext cx="402336" cy="402336"/>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S</a:t>
            </a:r>
          </a:p>
        </p:txBody>
      </p:sp>
      <p:sp>
        <p:nvSpPr>
          <p:cNvPr id="22" name="TextBox 21">
            <a:extLst>
              <a:ext uri="{FF2B5EF4-FFF2-40B4-BE49-F238E27FC236}">
                <a16:creationId xmlns:a16="http://schemas.microsoft.com/office/drawing/2014/main" id="{5ADBBAFA-511D-CEF7-1E31-44C3DF31C22F}"/>
              </a:ext>
            </a:extLst>
          </p:cNvPr>
          <p:cNvSpPr txBox="1"/>
          <p:nvPr/>
        </p:nvSpPr>
        <p:spPr>
          <a:xfrm>
            <a:off x="1143000" y="3501541"/>
            <a:ext cx="6949440" cy="402336"/>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262626"/>
                </a:solidFill>
                <a:latin typeface="Product Sans"/>
                <a:ea typeface="Product Sans"/>
                <a:cs typeface="Product Sans"/>
              </a:rPr>
              <a:t>Found three high-impact defects in safety-critical C</a:t>
            </a:r>
          </a:p>
        </p:txBody>
      </p:sp>
      <p:sp>
        <p:nvSpPr>
          <p:cNvPr id="23" name="Rounded Rectangle 22">
            <a:extLst>
              <a:ext uri="{FF2B5EF4-FFF2-40B4-BE49-F238E27FC236}">
                <a16:creationId xmlns:a16="http://schemas.microsoft.com/office/drawing/2014/main" id="{204845FC-F13E-8723-8634-882AB80E357D}"/>
              </a:ext>
            </a:extLst>
          </p:cNvPr>
          <p:cNvSpPr/>
          <p:nvPr/>
        </p:nvSpPr>
        <p:spPr>
          <a:xfrm>
            <a:off x="8229600" y="3538117"/>
            <a:ext cx="3410712" cy="329184"/>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a:extLst>
              <a:ext uri="{FF2B5EF4-FFF2-40B4-BE49-F238E27FC236}">
                <a16:creationId xmlns:a16="http://schemas.microsoft.com/office/drawing/2014/main" id="{A7100E51-D42C-4DA4-1809-DB26763817F8}"/>
              </a:ext>
            </a:extLst>
          </p:cNvPr>
          <p:cNvSpPr txBox="1"/>
          <p:nvPr/>
        </p:nvSpPr>
        <p:spPr>
          <a:xfrm>
            <a:off x="8229600" y="3538117"/>
            <a:ext cx="3410712" cy="329184"/>
          </a:xfrm>
          <a:prstGeom prst="rect">
            <a:avLst/>
          </a:prstGeom>
          <a:noFill/>
        </p:spPr>
        <p:txBody>
          <a:bodyPr wrap="square" lIns="0" tIns="0" rIns="0" bIns="0" anchor="ctr">
            <a:spAutoFit/>
          </a:bodyPr>
          <a:lstStyle/>
          <a:p>
            <a:pPr marL="0" indent="0" algn="ctr">
              <a:lnSpc>
                <a:spcPct val="100000"/>
              </a:lnSpc>
              <a:spcAft>
                <a:spcPts val="400"/>
              </a:spcAft>
              <a:buNone/>
            </a:pPr>
            <a:r>
              <a:rPr sz="1100" b="0" i="0">
                <a:solidFill>
                  <a:srgbClr val="1F3864"/>
                </a:solidFill>
                <a:latin typeface="Cascadia Mono"/>
                <a:ea typeface="Cascadia Mono"/>
                <a:cs typeface="Cascadia Mono"/>
              </a:rPr>
              <a:t>with proof, not opinion</a:t>
            </a:r>
          </a:p>
        </p:txBody>
      </p:sp>
      <p:sp>
        <p:nvSpPr>
          <p:cNvPr id="40" name="Rounded Rectangle 39">
            <a:extLst>
              <a:ext uri="{FF2B5EF4-FFF2-40B4-BE49-F238E27FC236}">
                <a16:creationId xmlns:a16="http://schemas.microsoft.com/office/drawing/2014/main" id="{396CB2D5-3D71-C890-65C3-029604269F6F}"/>
              </a:ext>
            </a:extLst>
          </p:cNvPr>
          <p:cNvSpPr/>
          <p:nvPr/>
        </p:nvSpPr>
        <p:spPr>
          <a:xfrm>
            <a:off x="548640" y="4498848"/>
            <a:ext cx="5394960" cy="114300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a:extLst>
              <a:ext uri="{FF2B5EF4-FFF2-40B4-BE49-F238E27FC236}">
                <a16:creationId xmlns:a16="http://schemas.microsoft.com/office/drawing/2014/main" id="{DB6F7197-1A2A-7412-9B51-7344A5BF4A07}"/>
              </a:ext>
            </a:extLst>
          </p:cNvPr>
          <p:cNvSpPr/>
          <p:nvPr/>
        </p:nvSpPr>
        <p:spPr>
          <a:xfrm>
            <a:off x="786384" y="4608576"/>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quot;No&quot; Symbol 41">
            <a:extLst>
              <a:ext uri="{FF2B5EF4-FFF2-40B4-BE49-F238E27FC236}">
                <a16:creationId xmlns:a16="http://schemas.microsoft.com/office/drawing/2014/main" id="{1729E861-0E49-1C53-22DD-DEC01AB570A6}"/>
              </a:ext>
            </a:extLst>
          </p:cNvPr>
          <p:cNvSpPr/>
          <p:nvPr/>
        </p:nvSpPr>
        <p:spPr>
          <a:xfrm>
            <a:off x="864565" y="4686757"/>
            <a:ext cx="191109" cy="191109"/>
          </a:xfrm>
          <a:prstGeom prst="noSmoking">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a:extLst>
              <a:ext uri="{FF2B5EF4-FFF2-40B4-BE49-F238E27FC236}">
                <a16:creationId xmlns:a16="http://schemas.microsoft.com/office/drawing/2014/main" id="{60AFBA18-C1EE-5505-2F35-A7D4AD28E1D5}"/>
              </a:ext>
            </a:extLst>
          </p:cNvPr>
          <p:cNvSpPr txBox="1"/>
          <p:nvPr/>
        </p:nvSpPr>
        <p:spPr>
          <a:xfrm>
            <a:off x="1280160" y="4636008"/>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What did not happen</a:t>
            </a:r>
          </a:p>
        </p:txBody>
      </p:sp>
      <p:sp>
        <p:nvSpPr>
          <p:cNvPr id="44" name="TextBox 43">
            <a:extLst>
              <a:ext uri="{FF2B5EF4-FFF2-40B4-BE49-F238E27FC236}">
                <a16:creationId xmlns:a16="http://schemas.microsoft.com/office/drawing/2014/main" id="{5943BF34-559A-858E-4BCE-B5DD7D2C4A97}"/>
              </a:ext>
            </a:extLst>
          </p:cNvPr>
          <p:cNvSpPr txBox="1"/>
          <p:nvPr/>
        </p:nvSpPr>
        <p:spPr>
          <a:xfrm>
            <a:off x="786384" y="5038344"/>
            <a:ext cx="4919472" cy="49377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Nobody pasted a model into a chat window</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Nothing was accepted because it sounded right</a:t>
            </a:r>
          </a:p>
        </p:txBody>
      </p:sp>
      <p:sp>
        <p:nvSpPr>
          <p:cNvPr id="45" name="Rounded Rectangle 44">
            <a:extLst>
              <a:ext uri="{FF2B5EF4-FFF2-40B4-BE49-F238E27FC236}">
                <a16:creationId xmlns:a16="http://schemas.microsoft.com/office/drawing/2014/main" id="{05EA39DE-5900-666E-219B-88880190FEC4}"/>
              </a:ext>
            </a:extLst>
          </p:cNvPr>
          <p:cNvSpPr/>
          <p:nvPr/>
        </p:nvSpPr>
        <p:spPr>
          <a:xfrm>
            <a:off x="6245352" y="4498848"/>
            <a:ext cx="5394960" cy="114300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a:extLst>
              <a:ext uri="{FF2B5EF4-FFF2-40B4-BE49-F238E27FC236}">
                <a16:creationId xmlns:a16="http://schemas.microsoft.com/office/drawing/2014/main" id="{0C050034-70CF-F56F-A6D6-01CDFA0EEFD5}"/>
              </a:ext>
            </a:extLst>
          </p:cNvPr>
          <p:cNvSpPr/>
          <p:nvPr/>
        </p:nvSpPr>
        <p:spPr>
          <a:xfrm>
            <a:off x="6483096" y="4608576"/>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ectangle 46">
            <a:extLst>
              <a:ext uri="{FF2B5EF4-FFF2-40B4-BE49-F238E27FC236}">
                <a16:creationId xmlns:a16="http://schemas.microsoft.com/office/drawing/2014/main" id="{2B917E3B-9AF7-28DF-F001-C49FEFD89EE4}"/>
              </a:ext>
            </a:extLst>
          </p:cNvPr>
          <p:cNvSpPr/>
          <p:nvPr/>
        </p:nvSpPr>
        <p:spPr>
          <a:xfrm>
            <a:off x="6566489" y="4799685"/>
            <a:ext cx="41696" cy="6949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ectangle 47">
            <a:extLst>
              <a:ext uri="{FF2B5EF4-FFF2-40B4-BE49-F238E27FC236}">
                <a16:creationId xmlns:a16="http://schemas.microsoft.com/office/drawing/2014/main" id="{CB77E26B-A3E8-6427-D75F-4C23644937B7}"/>
              </a:ext>
            </a:extLst>
          </p:cNvPr>
          <p:cNvSpPr/>
          <p:nvPr/>
        </p:nvSpPr>
        <p:spPr>
          <a:xfrm>
            <a:off x="6632508" y="4744090"/>
            <a:ext cx="41696" cy="12508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ectangle 48">
            <a:extLst>
              <a:ext uri="{FF2B5EF4-FFF2-40B4-BE49-F238E27FC236}">
                <a16:creationId xmlns:a16="http://schemas.microsoft.com/office/drawing/2014/main" id="{6F6DED30-B104-CAEE-AAB1-9811EE15FE57}"/>
              </a:ext>
            </a:extLst>
          </p:cNvPr>
          <p:cNvSpPr/>
          <p:nvPr/>
        </p:nvSpPr>
        <p:spPr>
          <a:xfrm>
            <a:off x="6698528" y="4695444"/>
            <a:ext cx="41696" cy="173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a:extLst>
              <a:ext uri="{FF2B5EF4-FFF2-40B4-BE49-F238E27FC236}">
                <a16:creationId xmlns:a16="http://schemas.microsoft.com/office/drawing/2014/main" id="{4749F0B3-D5CB-1FFB-4853-9E03FFAF2392}"/>
              </a:ext>
            </a:extLst>
          </p:cNvPr>
          <p:cNvSpPr txBox="1"/>
          <p:nvPr/>
        </p:nvSpPr>
        <p:spPr>
          <a:xfrm>
            <a:off x="6976872" y="4636008"/>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Show /usage one more time</a:t>
            </a:r>
          </a:p>
        </p:txBody>
      </p:sp>
      <p:sp>
        <p:nvSpPr>
          <p:cNvPr id="51" name="TextBox 50">
            <a:extLst>
              <a:ext uri="{FF2B5EF4-FFF2-40B4-BE49-F238E27FC236}">
                <a16:creationId xmlns:a16="http://schemas.microsoft.com/office/drawing/2014/main" id="{1D6EF3F1-65FF-CF57-C198-0E99213B0B27}"/>
              </a:ext>
            </a:extLst>
          </p:cNvPr>
          <p:cNvSpPr txBox="1"/>
          <p:nvPr/>
        </p:nvSpPr>
        <p:spPr>
          <a:xfrm>
            <a:off x="6483096" y="5038344"/>
            <a:ext cx="4919472" cy="49377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050" b="0" i="0">
                <a:solidFill>
                  <a:srgbClr val="262626"/>
                </a:solidFill>
                <a:latin typeface="Product Sans"/>
                <a:ea typeface="Product Sans"/>
                <a:cs typeface="Product Sans"/>
              </a:rPr>
              <a:t>Compare it against the number you wrote down at the start</a:t>
            </a:r>
          </a:p>
          <a:p>
            <a:pPr marL="127000" indent="-127000" algn="l">
              <a:lnSpc>
                <a:spcPct val="100000"/>
              </a:lnSpc>
              <a:spcAft>
                <a:spcPts val="600"/>
              </a:spcAft>
              <a:buSzPct val="100000"/>
              <a:buChar char="•"/>
            </a:pPr>
            <a:r>
              <a:rPr sz="1050" b="0" i="0">
                <a:solidFill>
                  <a:srgbClr val="262626"/>
                </a:solidFill>
                <a:latin typeface="Product Sans"/>
                <a:ea typeface="Product Sans"/>
                <a:cs typeface="Product Sans"/>
              </a:rPr>
              <a:t>That is a full afternoon of engineering, executed and verified</a:t>
            </a:r>
          </a:p>
        </p:txBody>
      </p:sp>
      <p:sp>
        <p:nvSpPr>
          <p:cNvPr id="52" name="Rounded Rectangle 51">
            <a:extLst>
              <a:ext uri="{FF2B5EF4-FFF2-40B4-BE49-F238E27FC236}">
                <a16:creationId xmlns:a16="http://schemas.microsoft.com/office/drawing/2014/main" id="{6F365430-2F91-E219-A2F1-7F58C38D457F}"/>
              </a:ext>
            </a:extLst>
          </p:cNvPr>
          <p:cNvSpPr/>
          <p:nvPr/>
        </p:nvSpPr>
        <p:spPr>
          <a:xfrm>
            <a:off x="548640" y="576072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a:extLst>
              <a:ext uri="{FF2B5EF4-FFF2-40B4-BE49-F238E27FC236}">
                <a16:creationId xmlns:a16="http://schemas.microsoft.com/office/drawing/2014/main" id="{E0C95FDB-005E-0FBB-C499-710882AD47D8}"/>
              </a:ext>
            </a:extLst>
          </p:cNvPr>
          <p:cNvSpPr txBox="1"/>
          <p:nvPr/>
        </p:nvSpPr>
        <p:spPr>
          <a:xfrm>
            <a:off x="685800" y="576072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You still own the results. The same review and validation apply to agent-authored work as to your own.</a:t>
            </a:r>
          </a:p>
        </p:txBody>
      </p:sp>
    </p:spTree>
    <p:extLst>
      <p:ext uri="{BB962C8B-B14F-4D97-AF65-F5344CB8AC3E}">
        <p14:creationId xmlns:p14="http://schemas.microsoft.com/office/powerpoint/2010/main" val="32440089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42</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What needs a toolbox?</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Start on base. Add depth when the workflow demands it.</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WRAP</a:t>
            </a:r>
          </a:p>
        </p:txBody>
      </p:sp>
      <p:sp>
        <p:nvSpPr>
          <p:cNvPr id="10" name="TextBox 9"/>
          <p:cNvSpPr txBox="1"/>
          <p:nvPr/>
        </p:nvSpPr>
        <p:spPr>
          <a:xfrm>
            <a:off x="548640" y="1325880"/>
            <a:ext cx="6400800" cy="274320"/>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262626"/>
                </a:solidFill>
                <a:latin typeface="Product Sans"/>
                <a:ea typeface="Product Sans"/>
                <a:cs typeface="Product Sans"/>
              </a:rPr>
              <a:t>Build, edit and wire models (model_edit)</a:t>
            </a:r>
          </a:p>
        </p:txBody>
      </p:sp>
      <p:sp>
        <p:nvSpPr>
          <p:cNvPr id="11" name="Rounded Rectangle 10"/>
          <p:cNvSpPr/>
          <p:nvPr/>
        </p:nvSpPr>
        <p:spPr>
          <a:xfrm>
            <a:off x="7132320" y="1344168"/>
            <a:ext cx="4507992" cy="237744"/>
          </a:xfrm>
          <a:prstGeom prst="roundRect">
            <a:avLst>
              <a:gd name="adj" fmla="val 4500"/>
            </a:avLst>
          </a:prstGeom>
          <a:solidFill>
            <a:srgbClr val="2F7D3B"/>
          </a:solidFill>
          <a:ln w="1270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132320" y="1344168"/>
            <a:ext cx="4507992" cy="237744"/>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BASE SIMULINK</a:t>
            </a:r>
          </a:p>
        </p:txBody>
      </p:sp>
      <p:sp>
        <p:nvSpPr>
          <p:cNvPr id="13" name="TextBox 12"/>
          <p:cNvSpPr txBox="1"/>
          <p:nvPr/>
        </p:nvSpPr>
        <p:spPr>
          <a:xfrm>
            <a:off x="548640" y="1709928"/>
            <a:ext cx="6400800" cy="274320"/>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262626"/>
                </a:solidFill>
                <a:latin typeface="Product Sans"/>
                <a:ea typeface="Product Sans"/>
                <a:cs typeface="Product Sans"/>
              </a:rPr>
              <a:t>Simulate and log to the Data Inspector</a:t>
            </a:r>
          </a:p>
        </p:txBody>
      </p:sp>
      <p:sp>
        <p:nvSpPr>
          <p:cNvPr id="14" name="Rounded Rectangle 13"/>
          <p:cNvSpPr/>
          <p:nvPr/>
        </p:nvSpPr>
        <p:spPr>
          <a:xfrm>
            <a:off x="7132320" y="1728216"/>
            <a:ext cx="4507992" cy="237744"/>
          </a:xfrm>
          <a:prstGeom prst="roundRect">
            <a:avLst>
              <a:gd name="adj" fmla="val 4500"/>
            </a:avLst>
          </a:prstGeom>
          <a:solidFill>
            <a:srgbClr val="2F7D3B"/>
          </a:solidFill>
          <a:ln w="1270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132320" y="1728216"/>
            <a:ext cx="4507992" cy="237744"/>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BASE SIMULINK</a:t>
            </a:r>
          </a:p>
        </p:txBody>
      </p:sp>
      <p:sp>
        <p:nvSpPr>
          <p:cNvPr id="16" name="TextBox 15"/>
          <p:cNvSpPr txBox="1"/>
          <p:nvPr/>
        </p:nvSpPr>
        <p:spPr>
          <a:xfrm>
            <a:off x="548640" y="2093976"/>
            <a:ext cx="6400800" cy="274320"/>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262626"/>
                </a:solidFill>
                <a:latin typeface="Product Sans"/>
                <a:ea typeface="Product Sans"/>
                <a:cs typeface="Product Sans"/>
              </a:rPr>
              <a:t>Inspect models, diagnostics, parameters</a:t>
            </a:r>
          </a:p>
        </p:txBody>
      </p:sp>
      <p:sp>
        <p:nvSpPr>
          <p:cNvPr id="17" name="Rounded Rectangle 16"/>
          <p:cNvSpPr/>
          <p:nvPr/>
        </p:nvSpPr>
        <p:spPr>
          <a:xfrm>
            <a:off x="7132320" y="2112264"/>
            <a:ext cx="4507992" cy="237744"/>
          </a:xfrm>
          <a:prstGeom prst="roundRect">
            <a:avLst>
              <a:gd name="adj" fmla="val 4500"/>
            </a:avLst>
          </a:prstGeom>
          <a:solidFill>
            <a:srgbClr val="2F7D3B"/>
          </a:solidFill>
          <a:ln w="1270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132320" y="2112264"/>
            <a:ext cx="4507992" cy="237744"/>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BASE SIMULINK</a:t>
            </a:r>
          </a:p>
        </p:txBody>
      </p:sp>
      <p:sp>
        <p:nvSpPr>
          <p:cNvPr id="19" name="TextBox 18"/>
          <p:cNvSpPr txBox="1"/>
          <p:nvPr/>
        </p:nvSpPr>
        <p:spPr>
          <a:xfrm>
            <a:off x="548640" y="2478024"/>
            <a:ext cx="6400800" cy="274320"/>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262626"/>
                </a:solidFill>
                <a:latin typeface="Product Sans"/>
                <a:ea typeface="Product Sans"/>
                <a:cs typeface="Product Sans"/>
              </a:rPr>
              <a:t>Live-script documentation and reports</a:t>
            </a:r>
          </a:p>
        </p:txBody>
      </p:sp>
      <p:sp>
        <p:nvSpPr>
          <p:cNvPr id="20" name="Rounded Rectangle 19"/>
          <p:cNvSpPr/>
          <p:nvPr/>
        </p:nvSpPr>
        <p:spPr>
          <a:xfrm>
            <a:off x="7132320" y="2496312"/>
            <a:ext cx="4507992" cy="237744"/>
          </a:xfrm>
          <a:prstGeom prst="roundRect">
            <a:avLst>
              <a:gd name="adj" fmla="val 4500"/>
            </a:avLst>
          </a:prstGeom>
          <a:solidFill>
            <a:srgbClr val="2F7D3B"/>
          </a:solidFill>
          <a:ln w="12700">
            <a:solidFill>
              <a:srgbClr val="2F7D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132320" y="2496312"/>
            <a:ext cx="4507992" cy="237744"/>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BASE MATLAB</a:t>
            </a:r>
          </a:p>
        </p:txBody>
      </p:sp>
      <p:sp>
        <p:nvSpPr>
          <p:cNvPr id="22" name="TextBox 21"/>
          <p:cNvSpPr txBox="1"/>
          <p:nvPr/>
        </p:nvSpPr>
        <p:spPr>
          <a:xfrm>
            <a:off x="548640" y="2862072"/>
            <a:ext cx="6400800" cy="274320"/>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262626"/>
                </a:solidFill>
                <a:latin typeface="Product Sans"/>
                <a:ea typeface="Product Sans"/>
                <a:cs typeface="Product Sans"/>
              </a:rPr>
              <a:t>Main demo A — physical DC motor model</a:t>
            </a:r>
          </a:p>
        </p:txBody>
      </p:sp>
      <p:sp>
        <p:nvSpPr>
          <p:cNvPr id="23" name="Rounded Rectangle 22"/>
          <p:cNvSpPr/>
          <p:nvPr/>
        </p:nvSpPr>
        <p:spPr>
          <a:xfrm>
            <a:off x="7132320" y="2880360"/>
            <a:ext cx="4507992" cy="237744"/>
          </a:xfrm>
          <a:prstGeom prst="roundRect">
            <a:avLst>
              <a:gd name="adj" fmla="val 4500"/>
            </a:avLst>
          </a:prstGeom>
          <a:solidFill>
            <a:srgbClr val="B46A0B"/>
          </a:solidFill>
          <a:ln w="1270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132320" y="2880360"/>
            <a:ext cx="4507992" cy="237744"/>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Simscape + Simscape Electrical</a:t>
            </a:r>
          </a:p>
        </p:txBody>
      </p:sp>
      <p:sp>
        <p:nvSpPr>
          <p:cNvPr id="25" name="TextBox 24"/>
          <p:cNvSpPr txBox="1"/>
          <p:nvPr/>
        </p:nvSpPr>
        <p:spPr>
          <a:xfrm>
            <a:off x="548640" y="3246120"/>
            <a:ext cx="6400800" cy="274320"/>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262626"/>
                </a:solidFill>
                <a:latin typeface="Product Sans"/>
                <a:ea typeface="Product Sans"/>
                <a:cs typeface="Product Sans"/>
              </a:rPr>
              <a:t>Main demo A — managed / Gherkin test cases</a:t>
            </a:r>
          </a:p>
        </p:txBody>
      </p:sp>
      <p:sp>
        <p:nvSpPr>
          <p:cNvPr id="26" name="Rounded Rectangle 25"/>
          <p:cNvSpPr/>
          <p:nvPr/>
        </p:nvSpPr>
        <p:spPr>
          <a:xfrm>
            <a:off x="7132320" y="3264408"/>
            <a:ext cx="4507992" cy="237744"/>
          </a:xfrm>
          <a:prstGeom prst="roundRect">
            <a:avLst>
              <a:gd name="adj" fmla="val 4500"/>
            </a:avLst>
          </a:prstGeom>
          <a:solidFill>
            <a:srgbClr val="B46A0B"/>
          </a:solidFill>
          <a:ln w="1270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132320" y="3264408"/>
            <a:ext cx="4507992" cy="237744"/>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Simulink Test  (assertions work on base)</a:t>
            </a:r>
          </a:p>
        </p:txBody>
      </p:sp>
      <p:sp>
        <p:nvSpPr>
          <p:cNvPr id="28" name="TextBox 27"/>
          <p:cNvSpPr txBox="1"/>
          <p:nvPr/>
        </p:nvSpPr>
        <p:spPr>
          <a:xfrm>
            <a:off x="548640" y="3630168"/>
            <a:ext cx="6400800" cy="274320"/>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262626"/>
                </a:solidFill>
                <a:latin typeface="Product Sans"/>
                <a:ea typeface="Product Sans"/>
                <a:cs typeface="Product Sans"/>
              </a:rPr>
              <a:t>Signal filtering — filter design</a:t>
            </a:r>
          </a:p>
        </p:txBody>
      </p:sp>
      <p:sp>
        <p:nvSpPr>
          <p:cNvPr id="29" name="Rounded Rectangle 28"/>
          <p:cNvSpPr/>
          <p:nvPr/>
        </p:nvSpPr>
        <p:spPr>
          <a:xfrm>
            <a:off x="7132320" y="3648456"/>
            <a:ext cx="4507992" cy="237744"/>
          </a:xfrm>
          <a:prstGeom prst="roundRect">
            <a:avLst>
              <a:gd name="adj" fmla="val 4500"/>
            </a:avLst>
          </a:prstGeom>
          <a:solidFill>
            <a:srgbClr val="B46A0B"/>
          </a:solidFill>
          <a:ln w="1270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132320" y="3648456"/>
            <a:ext cx="4507992" cy="237744"/>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Signal Processing Toolbox</a:t>
            </a:r>
          </a:p>
        </p:txBody>
      </p:sp>
      <p:sp>
        <p:nvSpPr>
          <p:cNvPr id="31" name="TextBox 30"/>
          <p:cNvSpPr txBox="1"/>
          <p:nvPr/>
        </p:nvSpPr>
        <p:spPr>
          <a:xfrm>
            <a:off x="548640" y="4014215"/>
            <a:ext cx="6400800" cy="274320"/>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262626"/>
                </a:solidFill>
                <a:latin typeface="Product Sans"/>
                <a:ea typeface="Product Sans"/>
                <a:cs typeface="Product Sans"/>
              </a:rPr>
              <a:t>RUL + compression — train, then quantize</a:t>
            </a:r>
          </a:p>
        </p:txBody>
      </p:sp>
      <p:sp>
        <p:nvSpPr>
          <p:cNvPr id="32" name="Rounded Rectangle 31"/>
          <p:cNvSpPr/>
          <p:nvPr/>
        </p:nvSpPr>
        <p:spPr>
          <a:xfrm>
            <a:off x="7132320" y="4032503"/>
            <a:ext cx="4507992" cy="237744"/>
          </a:xfrm>
          <a:prstGeom prst="roundRect">
            <a:avLst>
              <a:gd name="adj" fmla="val 4500"/>
            </a:avLst>
          </a:prstGeom>
          <a:solidFill>
            <a:srgbClr val="B46A0B"/>
          </a:solidFill>
          <a:ln w="1270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7132320" y="4032503"/>
            <a:ext cx="4507992" cy="237744"/>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Deep Learning Toolbox</a:t>
            </a:r>
          </a:p>
        </p:txBody>
      </p:sp>
      <p:sp>
        <p:nvSpPr>
          <p:cNvPr id="34" name="TextBox 33"/>
          <p:cNvSpPr txBox="1"/>
          <p:nvPr/>
        </p:nvSpPr>
        <p:spPr>
          <a:xfrm>
            <a:off x="548640" y="4398264"/>
            <a:ext cx="6400800" cy="274320"/>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262626"/>
                </a:solidFill>
                <a:latin typeface="Product Sans"/>
                <a:ea typeface="Product Sans"/>
                <a:cs typeface="Product Sans"/>
              </a:rPr>
              <a:t>Safety-critical C — MISRA and defect analysis</a:t>
            </a:r>
          </a:p>
        </p:txBody>
      </p:sp>
      <p:sp>
        <p:nvSpPr>
          <p:cNvPr id="35" name="Rounded Rectangle 34"/>
          <p:cNvSpPr/>
          <p:nvPr/>
        </p:nvSpPr>
        <p:spPr>
          <a:xfrm>
            <a:off x="7132320" y="4416551"/>
            <a:ext cx="4507992" cy="237744"/>
          </a:xfrm>
          <a:prstGeom prst="roundRect">
            <a:avLst>
              <a:gd name="adj" fmla="val 4500"/>
            </a:avLst>
          </a:prstGeom>
          <a:solidFill>
            <a:srgbClr val="B46A0B"/>
          </a:solidFill>
          <a:ln w="1270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7132320" y="4416551"/>
            <a:ext cx="4507992" cy="237744"/>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Polyspace Bug Finder</a:t>
            </a:r>
          </a:p>
        </p:txBody>
      </p:sp>
      <p:sp>
        <p:nvSpPr>
          <p:cNvPr id="37" name="TextBox 36"/>
          <p:cNvSpPr txBox="1"/>
          <p:nvPr/>
        </p:nvSpPr>
        <p:spPr>
          <a:xfrm>
            <a:off x="548640" y="4782312"/>
            <a:ext cx="6400800" cy="274320"/>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262626"/>
                </a:solidFill>
                <a:latin typeface="Product Sans"/>
                <a:ea typeface="Product Sans"/>
                <a:cs typeface="Product Sans"/>
              </a:rPr>
              <a:t>Architecture views (System Composer)</a:t>
            </a:r>
          </a:p>
        </p:txBody>
      </p:sp>
      <p:sp>
        <p:nvSpPr>
          <p:cNvPr id="38" name="Rounded Rectangle 37"/>
          <p:cNvSpPr/>
          <p:nvPr/>
        </p:nvSpPr>
        <p:spPr>
          <a:xfrm>
            <a:off x="7132320" y="4800599"/>
            <a:ext cx="4507992" cy="237744"/>
          </a:xfrm>
          <a:prstGeom prst="roundRect">
            <a:avLst>
              <a:gd name="adj" fmla="val 4500"/>
            </a:avLst>
          </a:prstGeom>
          <a:solidFill>
            <a:srgbClr val="B46A0B"/>
          </a:solidFill>
          <a:ln w="12700">
            <a:solidFill>
              <a:srgbClr val="B46A0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7132320" y="4800599"/>
            <a:ext cx="4507992" cy="237744"/>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System Composer</a:t>
            </a:r>
          </a:p>
        </p:txBody>
      </p:sp>
      <p:sp>
        <p:nvSpPr>
          <p:cNvPr id="40" name="Rounded Rectangle 39"/>
          <p:cNvSpPr/>
          <p:nvPr/>
        </p:nvSpPr>
        <p:spPr>
          <a:xfrm>
            <a:off x="548640" y="53492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85800" y="53492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Start on base — the core method needs no toolbox at all. And detect_matlab_toolboxes tells the agent exactly what you have.</a:t>
            </a:r>
          </a:p>
        </p:txBody>
      </p:sp>
      <p:sp>
        <p:nvSpPr>
          <p:cNvPr id="42" name="TextBox 41"/>
          <p:cNvSpPr txBox="1"/>
          <p:nvPr/>
        </p:nvSpPr>
        <p:spPr>
          <a:xfrm>
            <a:off x="3291840" y="585216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Verified on the presenter's machine: R2026a Update 4 with the full product suite installed.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13</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What this changes for your research</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Think of it as a very fast lab technician — not a co-author</a:t>
            </a:r>
          </a:p>
        </p:txBody>
      </p:sp>
      <p:sp>
        <p:nvSpPr>
          <p:cNvPr id="8" name="Rounded Rectangle 7"/>
          <p:cNvSpPr/>
          <p:nvPr/>
        </p:nvSpPr>
        <p:spPr>
          <a:xfrm>
            <a:off x="548640" y="1261872"/>
            <a:ext cx="11091672" cy="2395728"/>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804672" y="1463039"/>
            <a:ext cx="2926080" cy="1609344"/>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2029967" y="1645920"/>
            <a:ext cx="475488" cy="475488"/>
          </a:xfrm>
          <a:prstGeom prst="ellipse">
            <a:avLst/>
          </a:prstGeom>
          <a:solidFill>
            <a:srgbClr val="FFFFF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2210653" y="1760037"/>
            <a:ext cx="114117" cy="114117"/>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 Same Side Corner Rectangle 11"/>
          <p:cNvSpPr/>
          <p:nvPr/>
        </p:nvSpPr>
        <p:spPr>
          <a:xfrm>
            <a:off x="2158349" y="1893173"/>
            <a:ext cx="218724" cy="118872"/>
          </a:xfrm>
          <a:prstGeom prst="round2Same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32688" y="2249424"/>
            <a:ext cx="2670048" cy="274320"/>
          </a:xfrm>
          <a:prstGeom prst="rect">
            <a:avLst/>
          </a:prstGeom>
          <a:noFill/>
        </p:spPr>
        <p:txBody>
          <a:bodyPr wrap="square" lIns="0" tIns="0" rIns="0" bIns="0" anchor="ctr">
            <a:spAutoFit/>
          </a:bodyPr>
          <a:lstStyle/>
          <a:p>
            <a:pPr marL="0" indent="0" algn="ctr">
              <a:lnSpc>
                <a:spcPct val="100000"/>
              </a:lnSpc>
              <a:spcAft>
                <a:spcPts val="400"/>
              </a:spcAft>
              <a:buNone/>
            </a:pPr>
            <a:r>
              <a:rPr sz="1550" b="0" i="0">
                <a:solidFill>
                  <a:srgbClr val="FFFFFF"/>
                </a:solidFill>
                <a:latin typeface="Product Sans"/>
                <a:ea typeface="Product Sans"/>
                <a:cs typeface="Product Sans"/>
              </a:rPr>
              <a:t>You</a:t>
            </a:r>
          </a:p>
        </p:txBody>
      </p:sp>
      <p:sp>
        <p:nvSpPr>
          <p:cNvPr id="14" name="TextBox 13"/>
          <p:cNvSpPr txBox="1"/>
          <p:nvPr/>
        </p:nvSpPr>
        <p:spPr>
          <a:xfrm>
            <a:off x="969264" y="2542032"/>
            <a:ext cx="2596896" cy="512064"/>
          </a:xfrm>
          <a:prstGeom prst="rect">
            <a:avLst/>
          </a:prstGeom>
          <a:noFill/>
        </p:spPr>
        <p:txBody>
          <a:bodyPr wrap="square" lIns="0" tIns="0" rIns="0" bIns="0" anchor="t">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decide what is worth asking</a:t>
            </a:r>
          </a:p>
        </p:txBody>
      </p:sp>
      <p:sp>
        <p:nvSpPr>
          <p:cNvPr id="15" name="Right Arrow 14"/>
          <p:cNvSpPr/>
          <p:nvPr/>
        </p:nvSpPr>
        <p:spPr>
          <a:xfrm>
            <a:off x="3767328" y="2148840"/>
            <a:ext cx="237744" cy="237744"/>
          </a:xfrm>
          <a:prstGeom prst="rightArrow">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4041648" y="1463039"/>
            <a:ext cx="4105656" cy="1609344"/>
          </a:xfrm>
          <a:prstGeom prst="roundRect">
            <a:avLst>
              <a:gd name="adj" fmla="val 4500"/>
            </a:avLst>
          </a:prstGeom>
          <a:solidFill>
            <a:srgbClr val="FFFFFF"/>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5289804" y="1645920"/>
            <a:ext cx="475488" cy="475488"/>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Gear 6 17"/>
          <p:cNvSpPr/>
          <p:nvPr/>
        </p:nvSpPr>
        <p:spPr>
          <a:xfrm>
            <a:off x="5408676" y="1764792"/>
            <a:ext cx="237744" cy="237744"/>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5856732" y="1645920"/>
            <a:ext cx="475488" cy="475488"/>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Block Arc 19"/>
          <p:cNvSpPr/>
          <p:nvPr/>
        </p:nvSpPr>
        <p:spPr>
          <a:xfrm>
            <a:off x="5956584" y="1745772"/>
            <a:ext cx="275783" cy="275783"/>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Isosceles Triangle 20"/>
          <p:cNvSpPr/>
          <p:nvPr/>
        </p:nvSpPr>
        <p:spPr>
          <a:xfrm>
            <a:off x="6137269" y="1726752"/>
            <a:ext cx="99852" cy="85587"/>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423660" y="1645920"/>
            <a:ext cx="475488" cy="475488"/>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Document 22"/>
          <p:cNvSpPr/>
          <p:nvPr/>
        </p:nvSpPr>
        <p:spPr>
          <a:xfrm>
            <a:off x="6560362" y="1764792"/>
            <a:ext cx="202082" cy="237744"/>
          </a:xfrm>
          <a:prstGeom prst="flowChartDocumen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169663" y="2249424"/>
            <a:ext cx="3849624" cy="274320"/>
          </a:xfrm>
          <a:prstGeom prst="rect">
            <a:avLst/>
          </a:prstGeom>
          <a:noFill/>
        </p:spPr>
        <p:txBody>
          <a:bodyPr wrap="square" lIns="0" tIns="0" rIns="0" bIns="0" anchor="ctr">
            <a:spAutoFit/>
          </a:bodyPr>
          <a:lstStyle/>
          <a:p>
            <a:pPr marL="0" indent="0" algn="ctr">
              <a:lnSpc>
                <a:spcPct val="100000"/>
              </a:lnSpc>
              <a:spcAft>
                <a:spcPts val="400"/>
              </a:spcAft>
              <a:buNone/>
            </a:pPr>
            <a:r>
              <a:rPr sz="1550" b="0" i="0">
                <a:solidFill>
                  <a:srgbClr val="1F3864"/>
                </a:solidFill>
                <a:latin typeface="Product Sans"/>
                <a:ea typeface="Product Sans"/>
                <a:cs typeface="Product Sans"/>
              </a:rPr>
              <a:t>The agent</a:t>
            </a:r>
          </a:p>
        </p:txBody>
      </p:sp>
      <p:sp>
        <p:nvSpPr>
          <p:cNvPr id="25" name="TextBox 24"/>
          <p:cNvSpPr txBox="1"/>
          <p:nvPr/>
        </p:nvSpPr>
        <p:spPr>
          <a:xfrm>
            <a:off x="4206240" y="2542032"/>
            <a:ext cx="3776472" cy="512064"/>
          </a:xfrm>
          <a:prstGeom prst="rect">
            <a:avLst/>
          </a:prstGeom>
          <a:noFill/>
        </p:spPr>
        <p:txBody>
          <a:bodyPr wrap="square" lIns="0" tIns="0" rIns="0" bIns="0" anchor="t">
            <a:spAutoFit/>
          </a:bodyPr>
          <a:lstStyle/>
          <a:p>
            <a:pPr marL="0" indent="0" algn="ctr">
              <a:lnSpc>
                <a:spcPct val="100000"/>
              </a:lnSpc>
              <a:spcAft>
                <a:spcPts val="400"/>
              </a:spcAft>
              <a:buNone/>
            </a:pPr>
            <a:r>
              <a:rPr sz="1300" b="0" i="0">
                <a:solidFill>
                  <a:srgbClr val="595959"/>
                </a:solidFill>
                <a:latin typeface="Product Sans"/>
                <a:ea typeface="Product Sans"/>
                <a:cs typeface="Product Sans"/>
              </a:rPr>
              <a:t>sets up the rig, runs the repeats, logs everything</a:t>
            </a:r>
          </a:p>
        </p:txBody>
      </p:sp>
      <p:sp>
        <p:nvSpPr>
          <p:cNvPr id="26" name="Right Arrow 25"/>
          <p:cNvSpPr/>
          <p:nvPr/>
        </p:nvSpPr>
        <p:spPr>
          <a:xfrm>
            <a:off x="8183879" y="2148840"/>
            <a:ext cx="237744" cy="237744"/>
          </a:xfrm>
          <a:prstGeom prst="rightArrow">
            <a:avLst/>
          </a:prstGeom>
          <a:solidFill>
            <a:srgbClr val="C9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ounded Rectangle 26"/>
          <p:cNvSpPr/>
          <p:nvPr/>
        </p:nvSpPr>
        <p:spPr>
          <a:xfrm>
            <a:off x="8458200" y="1463039"/>
            <a:ext cx="2926080" cy="1609344"/>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683496" y="1645920"/>
            <a:ext cx="475488" cy="475488"/>
          </a:xfrm>
          <a:prstGeom prst="ellipse">
            <a:avLst/>
          </a:prstGeom>
          <a:solidFill>
            <a:srgbClr val="FFFFF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9773838" y="1793321"/>
            <a:ext cx="294802" cy="180685"/>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9873691" y="1836115"/>
            <a:ext cx="95097" cy="9509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586216" y="2249424"/>
            <a:ext cx="2670048" cy="274320"/>
          </a:xfrm>
          <a:prstGeom prst="rect">
            <a:avLst/>
          </a:prstGeom>
          <a:noFill/>
        </p:spPr>
        <p:txBody>
          <a:bodyPr wrap="square" lIns="0" tIns="0" rIns="0" bIns="0" anchor="ctr">
            <a:spAutoFit/>
          </a:bodyPr>
          <a:lstStyle/>
          <a:p>
            <a:pPr marL="0" indent="0" algn="ctr">
              <a:lnSpc>
                <a:spcPct val="100000"/>
              </a:lnSpc>
              <a:spcAft>
                <a:spcPts val="400"/>
              </a:spcAft>
              <a:buNone/>
            </a:pPr>
            <a:r>
              <a:rPr sz="1550" b="0" i="0">
                <a:solidFill>
                  <a:srgbClr val="FFFFFF"/>
                </a:solidFill>
                <a:latin typeface="Product Sans"/>
                <a:ea typeface="Product Sans"/>
                <a:cs typeface="Product Sans"/>
              </a:rPr>
              <a:t>You</a:t>
            </a:r>
          </a:p>
        </p:txBody>
      </p:sp>
      <p:sp>
        <p:nvSpPr>
          <p:cNvPr id="32" name="TextBox 31"/>
          <p:cNvSpPr txBox="1"/>
          <p:nvPr/>
        </p:nvSpPr>
        <p:spPr>
          <a:xfrm>
            <a:off x="8622792" y="2542032"/>
            <a:ext cx="2596896" cy="512064"/>
          </a:xfrm>
          <a:prstGeom prst="rect">
            <a:avLst/>
          </a:prstGeom>
          <a:noFill/>
        </p:spPr>
        <p:txBody>
          <a:bodyPr wrap="square" lIns="0" tIns="0" rIns="0" bIns="0" anchor="t">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judge what the result means</a:t>
            </a:r>
          </a:p>
        </p:txBody>
      </p:sp>
      <p:sp>
        <p:nvSpPr>
          <p:cNvPr id="33" name="TextBox 32"/>
          <p:cNvSpPr txBox="1"/>
          <p:nvPr/>
        </p:nvSpPr>
        <p:spPr>
          <a:xfrm>
            <a:off x="804672" y="3255264"/>
            <a:ext cx="10579608" cy="274320"/>
          </a:xfrm>
          <a:prstGeom prst="rect">
            <a:avLst/>
          </a:prstGeom>
          <a:noFill/>
        </p:spPr>
        <p:txBody>
          <a:bodyPr wrap="square" lIns="0" tIns="0" rIns="0" bIns="0" anchor="ctr">
            <a:spAutoFit/>
          </a:bodyPr>
          <a:lstStyle/>
          <a:p>
            <a:pPr marL="0" indent="0" algn="ctr">
              <a:lnSpc>
                <a:spcPct val="100000"/>
              </a:lnSpc>
              <a:spcAft>
                <a:spcPts val="400"/>
              </a:spcAft>
              <a:buNone/>
            </a:pPr>
            <a:r>
              <a:rPr sz="1250" b="0" i="1">
                <a:solidFill>
                  <a:srgbClr val="595959"/>
                </a:solidFill>
                <a:latin typeface="Product Sans"/>
                <a:ea typeface="Product Sans"/>
                <a:cs typeface="Product Sans"/>
              </a:rPr>
              <a:t>A good lab technician never designs your experiment — and never decides what the data means.</a:t>
            </a:r>
          </a:p>
        </p:txBody>
      </p:sp>
      <p:sp>
        <p:nvSpPr>
          <p:cNvPr id="34" name="Rounded Rectangle 33"/>
          <p:cNvSpPr/>
          <p:nvPr/>
        </p:nvSpPr>
        <p:spPr>
          <a:xfrm>
            <a:off x="548640" y="3840480"/>
            <a:ext cx="3602736" cy="148132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786384" y="395020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Lightning Bolt 35"/>
          <p:cNvSpPr/>
          <p:nvPr/>
        </p:nvSpPr>
        <p:spPr>
          <a:xfrm>
            <a:off x="906261" y="4032732"/>
            <a:ext cx="107716" cy="182422"/>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1280160" y="3977640"/>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Throughput</a:t>
            </a:r>
          </a:p>
        </p:txBody>
      </p:sp>
      <p:sp>
        <p:nvSpPr>
          <p:cNvPr id="38" name="TextBox 37"/>
          <p:cNvSpPr txBox="1"/>
          <p:nvPr/>
        </p:nvSpPr>
        <p:spPr>
          <a:xfrm>
            <a:off x="786384" y="4379976"/>
            <a:ext cx="3127248" cy="832103"/>
          </a:xfrm>
          <a:prstGeom prst="rect">
            <a:avLst/>
          </a:prstGeom>
          <a:noFill/>
        </p:spPr>
        <p:txBody>
          <a:bodyPr wrap="square" lIns="0" tIns="0" rIns="0" bIns="0" anchor="t">
            <a:spAutoFit/>
          </a:bodyPr>
          <a:lstStyle/>
          <a:p>
            <a:pPr marL="0" indent="0" algn="l">
              <a:lnSpc>
                <a:spcPct val="100000"/>
              </a:lnSpc>
              <a:spcAft>
                <a:spcPts val="600"/>
              </a:spcAft>
              <a:buNone/>
            </a:pPr>
            <a:r>
              <a:rPr sz="1250" b="0" i="0">
                <a:solidFill>
                  <a:srgbClr val="262626"/>
                </a:solidFill>
                <a:latin typeface="Product Sans"/>
                <a:ea typeface="Product Sans"/>
                <a:cs typeface="Product Sans"/>
              </a:rPr>
              <a:t>The tedious 70 % — cleaning, plotting, boilerplate, harnesses — stops eating your week.</a:t>
            </a:r>
          </a:p>
        </p:txBody>
      </p:sp>
      <p:sp>
        <p:nvSpPr>
          <p:cNvPr id="39" name="Rounded Rectangle 38"/>
          <p:cNvSpPr/>
          <p:nvPr/>
        </p:nvSpPr>
        <p:spPr>
          <a:xfrm>
            <a:off x="4325112" y="3840480"/>
            <a:ext cx="3602736" cy="148132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4562855" y="395020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Block Arc 40"/>
          <p:cNvSpPr/>
          <p:nvPr/>
        </p:nvSpPr>
        <p:spPr>
          <a:xfrm>
            <a:off x="4635825" y="4023177"/>
            <a:ext cx="201533" cy="201533"/>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Isosceles Triangle 41"/>
          <p:cNvSpPr/>
          <p:nvPr/>
        </p:nvSpPr>
        <p:spPr>
          <a:xfrm>
            <a:off x="4767864" y="4009278"/>
            <a:ext cx="72969" cy="6254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5056631" y="3977640"/>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Reproducibility</a:t>
            </a:r>
          </a:p>
        </p:txBody>
      </p:sp>
      <p:sp>
        <p:nvSpPr>
          <p:cNvPr id="44" name="TextBox 43"/>
          <p:cNvSpPr txBox="1"/>
          <p:nvPr/>
        </p:nvSpPr>
        <p:spPr>
          <a:xfrm>
            <a:off x="4562855" y="4379976"/>
            <a:ext cx="3127248" cy="832103"/>
          </a:xfrm>
          <a:prstGeom prst="rect">
            <a:avLst/>
          </a:prstGeom>
          <a:noFill/>
        </p:spPr>
        <p:txBody>
          <a:bodyPr wrap="square" lIns="0" tIns="0" rIns="0" bIns="0" anchor="t">
            <a:spAutoFit/>
          </a:bodyPr>
          <a:lstStyle/>
          <a:p>
            <a:pPr marL="0" indent="0" algn="l">
              <a:lnSpc>
                <a:spcPct val="100000"/>
              </a:lnSpc>
              <a:spcAft>
                <a:spcPts val="600"/>
              </a:spcAft>
              <a:buNone/>
            </a:pPr>
            <a:r>
              <a:rPr sz="1250" b="0" i="0">
                <a:solidFill>
                  <a:srgbClr val="262626"/>
                </a:solidFill>
                <a:latin typeface="Product Sans"/>
                <a:ea typeface="Product Sans"/>
                <a:cs typeface="Product Sans"/>
              </a:rPr>
              <a:t>The analysis behind Figure 4 still runs a year later, on one command.</a:t>
            </a:r>
          </a:p>
        </p:txBody>
      </p:sp>
      <p:sp>
        <p:nvSpPr>
          <p:cNvPr id="45" name="Rounded Rectangle 44"/>
          <p:cNvSpPr/>
          <p:nvPr/>
        </p:nvSpPr>
        <p:spPr>
          <a:xfrm>
            <a:off x="8101583" y="3840480"/>
            <a:ext cx="3602736" cy="148132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p:cNvSpPr/>
          <p:nvPr/>
        </p:nvSpPr>
        <p:spPr>
          <a:xfrm>
            <a:off x="8339327" y="395020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339327" y="3950208"/>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350" b="0" i="0">
                <a:solidFill>
                  <a:srgbClr val="FFFFFF"/>
                </a:solidFill>
                <a:latin typeface="Product Sans"/>
                <a:ea typeface="Product Sans"/>
                <a:cs typeface="Product Sans"/>
              </a:rPr>
              <a:t>✓</a:t>
            </a:r>
          </a:p>
        </p:txBody>
      </p:sp>
      <p:sp>
        <p:nvSpPr>
          <p:cNvPr id="48" name="TextBox 47"/>
          <p:cNvSpPr txBox="1"/>
          <p:nvPr/>
        </p:nvSpPr>
        <p:spPr>
          <a:xfrm>
            <a:off x="8833104" y="3977640"/>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Evidence</a:t>
            </a:r>
          </a:p>
        </p:txBody>
      </p:sp>
      <p:sp>
        <p:nvSpPr>
          <p:cNvPr id="49" name="TextBox 48"/>
          <p:cNvSpPr txBox="1"/>
          <p:nvPr/>
        </p:nvSpPr>
        <p:spPr>
          <a:xfrm>
            <a:off x="8339327" y="4379976"/>
            <a:ext cx="3127248" cy="832103"/>
          </a:xfrm>
          <a:prstGeom prst="rect">
            <a:avLst/>
          </a:prstGeom>
          <a:noFill/>
        </p:spPr>
        <p:txBody>
          <a:bodyPr wrap="square" lIns="0" tIns="0" rIns="0" bIns="0" anchor="t">
            <a:spAutoFit/>
          </a:bodyPr>
          <a:lstStyle/>
          <a:p>
            <a:pPr marL="0" indent="0" algn="l">
              <a:lnSpc>
                <a:spcPct val="100000"/>
              </a:lnSpc>
              <a:spcAft>
                <a:spcPts val="600"/>
              </a:spcAft>
              <a:buNone/>
            </a:pPr>
            <a:r>
              <a:rPr sz="1250" b="0" i="0">
                <a:solidFill>
                  <a:srgbClr val="262626"/>
                </a:solidFill>
                <a:latin typeface="Product Sans"/>
                <a:ea typeface="Product Sans"/>
                <a:cs typeface="Product Sans"/>
              </a:rPr>
              <a:t>Requirements become tests. Claims arrive with artifacts attached.</a:t>
            </a:r>
          </a:p>
        </p:txBody>
      </p:sp>
      <p:sp>
        <p:nvSpPr>
          <p:cNvPr id="50" name="Rounded Rectangle 49"/>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You keep the two ends that need judgement. The agent takes the middle that never did.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14</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Where this lands in ANCL's three thrusts</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Three pillars, and the demo that speaks to each one</a:t>
            </a:r>
          </a:p>
        </p:txBody>
      </p:sp>
      <p:sp>
        <p:nvSpPr>
          <p:cNvPr id="8" name="Rounded Rectangle 7"/>
          <p:cNvSpPr/>
          <p:nvPr/>
        </p:nvSpPr>
        <p:spPr>
          <a:xfrm>
            <a:off x="548640" y="1280160"/>
            <a:ext cx="3602736" cy="379476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pcb.jpg"/>
          <p:cNvPicPr>
            <a:picLocks noChangeAspect="1"/>
          </p:cNvPicPr>
          <p:nvPr/>
        </p:nvPicPr>
        <p:blipFill>
          <a:blip r:embed="rId5"/>
          <a:srcRect t="15136" b="15136"/>
          <a:stretch>
            <a:fillRect/>
          </a:stretch>
        </p:blipFill>
        <p:spPr>
          <a:xfrm>
            <a:off x="557784" y="1289304"/>
            <a:ext cx="3584448" cy="1874519"/>
          </a:xfrm>
          <a:prstGeom prst="rect">
            <a:avLst/>
          </a:prstGeom>
        </p:spPr>
      </p:pic>
      <p:sp>
        <p:nvSpPr>
          <p:cNvPr id="10" name="Rounded Rectangle 9"/>
          <p:cNvSpPr/>
          <p:nvPr/>
        </p:nvSpPr>
        <p:spPr>
          <a:xfrm>
            <a:off x="713232" y="1417320"/>
            <a:ext cx="1170432" cy="256032"/>
          </a:xfrm>
          <a:prstGeom prst="roundRect">
            <a:avLst>
              <a:gd name="adj" fmla="val 4500"/>
            </a:avLst>
          </a:prstGeom>
          <a:solidFill>
            <a:srgbClr val="4472C4"/>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13232" y="1417320"/>
            <a:ext cx="1170432" cy="256032"/>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THRUST A</a:t>
            </a:r>
          </a:p>
        </p:txBody>
      </p:sp>
      <p:sp>
        <p:nvSpPr>
          <p:cNvPr id="12" name="TextBox 11"/>
          <p:cNvSpPr txBox="1"/>
          <p:nvPr/>
        </p:nvSpPr>
        <p:spPr>
          <a:xfrm>
            <a:off x="786384" y="3291840"/>
            <a:ext cx="3127248" cy="310896"/>
          </a:xfrm>
          <a:prstGeom prst="rect">
            <a:avLst/>
          </a:prstGeom>
          <a:noFill/>
        </p:spPr>
        <p:txBody>
          <a:bodyPr wrap="square" lIns="0" tIns="0" rIns="0" bIns="0" anchor="t">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Sustainability &amp; novel materials</a:t>
            </a:r>
          </a:p>
        </p:txBody>
      </p:sp>
      <p:sp>
        <p:nvSpPr>
          <p:cNvPr id="13" name="TextBox 12"/>
          <p:cNvSpPr txBox="1"/>
          <p:nvPr/>
        </p:nvSpPr>
        <p:spPr>
          <a:xfrm>
            <a:off x="786384" y="3675887"/>
            <a:ext cx="3127248" cy="731520"/>
          </a:xfrm>
          <a:prstGeom prst="rect">
            <a:avLst/>
          </a:prstGeom>
          <a:noFill/>
        </p:spPr>
        <p:txBody>
          <a:bodyPr wrap="square" lIns="0" tIns="0" rIns="0" bIns="0" anchor="t">
            <a:spAutoFit/>
          </a:bodyPr>
          <a:lstStyle/>
          <a:p>
            <a:pPr marL="0" indent="0" algn="l">
              <a:lnSpc>
                <a:spcPct val="100000"/>
              </a:lnSpc>
              <a:spcAft>
                <a:spcPts val="400"/>
              </a:spcAft>
              <a:buNone/>
            </a:pPr>
            <a:r>
              <a:rPr sz="1300" b="0" i="0">
                <a:solidFill>
                  <a:srgbClr val="262626"/>
                </a:solidFill>
                <a:latin typeface="Product Sans"/>
                <a:ea typeface="Product Sans"/>
                <a:cs typeface="Product Sans"/>
              </a:rPr>
              <a:t>Fit actuator and material models to bench data.</a:t>
            </a:r>
          </a:p>
        </p:txBody>
      </p:sp>
      <p:sp>
        <p:nvSpPr>
          <p:cNvPr id="14" name="Rounded Rectangle 13"/>
          <p:cNvSpPr/>
          <p:nvPr/>
        </p:nvSpPr>
        <p:spPr>
          <a:xfrm>
            <a:off x="786384" y="4553712"/>
            <a:ext cx="1920240" cy="274320"/>
          </a:xfrm>
          <a:prstGeom prst="roundRect">
            <a:avLst>
              <a:gd name="adj" fmla="val 4500"/>
            </a:avLst>
          </a:prstGeom>
          <a:solidFill>
            <a:srgbClr val="595959"/>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86384" y="4553712"/>
            <a:ext cx="1920240" cy="274320"/>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FFFFFF"/>
                </a:solidFill>
                <a:latin typeface="Product Sans"/>
                <a:ea typeface="Product Sans"/>
                <a:cs typeface="Product Sans"/>
              </a:rPr>
              <a:t>the signal-filtering pattern</a:t>
            </a:r>
          </a:p>
        </p:txBody>
      </p:sp>
      <p:sp>
        <p:nvSpPr>
          <p:cNvPr id="16" name="Rounded Rectangle 15"/>
          <p:cNvSpPr/>
          <p:nvPr/>
        </p:nvSpPr>
        <p:spPr>
          <a:xfrm>
            <a:off x="4325112" y="1280160"/>
            <a:ext cx="3602736" cy="379476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car.jpg"/>
          <p:cNvPicPr>
            <a:picLocks noChangeAspect="1"/>
          </p:cNvPicPr>
          <p:nvPr/>
        </p:nvPicPr>
        <p:blipFill>
          <a:blip r:embed="rId6"/>
          <a:srcRect t="10778" b="10778"/>
          <a:stretch>
            <a:fillRect/>
          </a:stretch>
        </p:blipFill>
        <p:spPr>
          <a:xfrm>
            <a:off x="4334255" y="1289304"/>
            <a:ext cx="3584448" cy="1874519"/>
          </a:xfrm>
          <a:prstGeom prst="rect">
            <a:avLst/>
          </a:prstGeom>
        </p:spPr>
      </p:pic>
      <p:sp>
        <p:nvSpPr>
          <p:cNvPr id="18" name="Rounded Rectangle 17"/>
          <p:cNvSpPr/>
          <p:nvPr/>
        </p:nvSpPr>
        <p:spPr>
          <a:xfrm>
            <a:off x="4489703" y="1417320"/>
            <a:ext cx="1170432" cy="256032"/>
          </a:xfrm>
          <a:prstGeom prst="roundRect">
            <a:avLst>
              <a:gd name="adj" fmla="val 4500"/>
            </a:avLst>
          </a:prstGeom>
          <a:solidFill>
            <a:srgbClr val="4472C4"/>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489703" y="1417320"/>
            <a:ext cx="1170432" cy="256032"/>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THRUST B</a:t>
            </a:r>
          </a:p>
        </p:txBody>
      </p:sp>
      <p:sp>
        <p:nvSpPr>
          <p:cNvPr id="20" name="TextBox 19"/>
          <p:cNvSpPr txBox="1"/>
          <p:nvPr/>
        </p:nvSpPr>
        <p:spPr>
          <a:xfrm>
            <a:off x="4562855" y="3291840"/>
            <a:ext cx="3127248" cy="310896"/>
          </a:xfrm>
          <a:prstGeom prst="rect">
            <a:avLst/>
          </a:prstGeom>
          <a:noFill/>
        </p:spPr>
        <p:txBody>
          <a:bodyPr wrap="square" lIns="0" tIns="0" rIns="0" bIns="0" anchor="t">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Artificial intelligence</a:t>
            </a:r>
          </a:p>
        </p:txBody>
      </p:sp>
      <p:sp>
        <p:nvSpPr>
          <p:cNvPr id="21" name="TextBox 20"/>
          <p:cNvSpPr txBox="1"/>
          <p:nvPr/>
        </p:nvSpPr>
        <p:spPr>
          <a:xfrm>
            <a:off x="4562855" y="3675887"/>
            <a:ext cx="3127248" cy="731520"/>
          </a:xfrm>
          <a:prstGeom prst="rect">
            <a:avLst/>
          </a:prstGeom>
          <a:noFill/>
        </p:spPr>
        <p:txBody>
          <a:bodyPr wrap="square" lIns="0" tIns="0" rIns="0" bIns="0" anchor="t">
            <a:spAutoFit/>
          </a:bodyPr>
          <a:lstStyle/>
          <a:p>
            <a:pPr marL="0" indent="0" algn="l">
              <a:lnSpc>
                <a:spcPct val="100000"/>
              </a:lnSpc>
              <a:spcAft>
                <a:spcPts val="400"/>
              </a:spcAft>
              <a:buNone/>
            </a:pPr>
            <a:r>
              <a:rPr sz="1300" b="0" i="0">
                <a:solidFill>
                  <a:srgbClr val="262626"/>
                </a:solidFill>
                <a:latin typeface="Product Sans"/>
                <a:ea typeface="Product Sans"/>
                <a:cs typeface="Product Sans"/>
              </a:rPr>
              <a:t>Compress a network until it fits the vehicle HPC.</a:t>
            </a:r>
          </a:p>
        </p:txBody>
      </p:sp>
      <p:sp>
        <p:nvSpPr>
          <p:cNvPr id="22" name="Rounded Rectangle 21"/>
          <p:cNvSpPr/>
          <p:nvPr/>
        </p:nvSpPr>
        <p:spPr>
          <a:xfrm>
            <a:off x="4562855" y="4553712"/>
            <a:ext cx="1920240" cy="274320"/>
          </a:xfrm>
          <a:prstGeom prst="roundRect">
            <a:avLst>
              <a:gd name="adj" fmla="val 4500"/>
            </a:avLst>
          </a:prstGeom>
          <a:solidFill>
            <a:srgbClr val="4472C4"/>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562855" y="4553712"/>
            <a:ext cx="1920240" cy="274320"/>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FFFFFF"/>
                </a:solidFill>
                <a:latin typeface="Product Sans"/>
                <a:ea typeface="Product Sans"/>
                <a:cs typeface="Product Sans"/>
              </a:rPr>
              <a:t>the opening demo, today</a:t>
            </a:r>
          </a:p>
        </p:txBody>
      </p:sp>
      <p:sp>
        <p:nvSpPr>
          <p:cNvPr id="24" name="Rounded Rectangle 23"/>
          <p:cNvSpPr/>
          <p:nvPr/>
        </p:nvSpPr>
        <p:spPr>
          <a:xfrm>
            <a:off x="8101583" y="1280160"/>
            <a:ext cx="3602736" cy="379476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compute.jpg"/>
          <p:cNvPicPr>
            <a:picLocks noChangeAspect="1"/>
          </p:cNvPicPr>
          <p:nvPr/>
        </p:nvPicPr>
        <p:blipFill>
          <a:blip r:embed="rId7"/>
          <a:srcRect t="15136" b="15136"/>
          <a:stretch>
            <a:fillRect/>
          </a:stretch>
        </p:blipFill>
        <p:spPr>
          <a:xfrm>
            <a:off x="8110727" y="1289304"/>
            <a:ext cx="3584448" cy="1874519"/>
          </a:xfrm>
          <a:prstGeom prst="rect">
            <a:avLst/>
          </a:prstGeom>
        </p:spPr>
      </p:pic>
      <p:sp>
        <p:nvSpPr>
          <p:cNvPr id="26" name="Rounded Rectangle 25"/>
          <p:cNvSpPr/>
          <p:nvPr/>
        </p:nvSpPr>
        <p:spPr>
          <a:xfrm>
            <a:off x="8266175" y="1417320"/>
            <a:ext cx="1170432" cy="256032"/>
          </a:xfrm>
          <a:prstGeom prst="roundRect">
            <a:avLst>
              <a:gd name="adj" fmla="val 4500"/>
            </a:avLst>
          </a:prstGeom>
          <a:solidFill>
            <a:srgbClr val="4472C4"/>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66175" y="1417320"/>
            <a:ext cx="1170432" cy="256032"/>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FFFFFF"/>
                </a:solidFill>
                <a:latin typeface="Product Sans"/>
                <a:ea typeface="Product Sans"/>
                <a:cs typeface="Product Sans"/>
              </a:rPr>
              <a:t>THRUST C</a:t>
            </a:r>
          </a:p>
        </p:txBody>
      </p:sp>
      <p:sp>
        <p:nvSpPr>
          <p:cNvPr id="28" name="TextBox 27"/>
          <p:cNvSpPr txBox="1"/>
          <p:nvPr/>
        </p:nvSpPr>
        <p:spPr>
          <a:xfrm>
            <a:off x="8339327" y="3291840"/>
            <a:ext cx="3127248" cy="310896"/>
          </a:xfrm>
          <a:prstGeom prst="rect">
            <a:avLst/>
          </a:prstGeom>
          <a:noFill/>
        </p:spPr>
        <p:txBody>
          <a:bodyPr wrap="square" lIns="0" tIns="0" rIns="0" bIns="0" anchor="t">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Connectivity &amp; security</a:t>
            </a:r>
          </a:p>
        </p:txBody>
      </p:sp>
      <p:sp>
        <p:nvSpPr>
          <p:cNvPr id="29" name="TextBox 28"/>
          <p:cNvSpPr txBox="1"/>
          <p:nvPr/>
        </p:nvSpPr>
        <p:spPr>
          <a:xfrm>
            <a:off x="8339327" y="3675887"/>
            <a:ext cx="3127248" cy="731520"/>
          </a:xfrm>
          <a:prstGeom prst="rect">
            <a:avLst/>
          </a:prstGeom>
          <a:noFill/>
        </p:spPr>
        <p:txBody>
          <a:bodyPr wrap="square" lIns="0" tIns="0" rIns="0" bIns="0" anchor="t">
            <a:spAutoFit/>
          </a:bodyPr>
          <a:lstStyle/>
          <a:p>
            <a:pPr marL="0" indent="0" algn="l">
              <a:lnSpc>
                <a:spcPct val="100000"/>
              </a:lnSpc>
              <a:spcAft>
                <a:spcPts val="400"/>
              </a:spcAft>
              <a:buNone/>
            </a:pPr>
            <a:r>
              <a:rPr sz="1300" b="0" i="0">
                <a:solidFill>
                  <a:srgbClr val="262626"/>
                </a:solidFill>
                <a:latin typeface="Product Sans"/>
                <a:ea typeface="Product Sans"/>
                <a:cs typeface="Product Sans"/>
              </a:rPr>
              <a:t>Prove automotive C is MISRA-clean before it ships.</a:t>
            </a:r>
          </a:p>
        </p:txBody>
      </p:sp>
      <p:sp>
        <p:nvSpPr>
          <p:cNvPr id="30" name="Rounded Rectangle 29"/>
          <p:cNvSpPr/>
          <p:nvPr/>
        </p:nvSpPr>
        <p:spPr>
          <a:xfrm>
            <a:off x="8339327" y="4553712"/>
            <a:ext cx="1920240" cy="274320"/>
          </a:xfrm>
          <a:prstGeom prst="roundRect">
            <a:avLst>
              <a:gd name="adj" fmla="val 4500"/>
            </a:avLst>
          </a:prstGeom>
          <a:solidFill>
            <a:srgbClr val="4472C4"/>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339327" y="4553712"/>
            <a:ext cx="1920240" cy="274320"/>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FFFFFF"/>
                </a:solidFill>
                <a:latin typeface="Product Sans"/>
                <a:ea typeface="Product Sans"/>
                <a:cs typeface="Product Sans"/>
              </a:rPr>
              <a:t>the closing demo, today</a:t>
            </a:r>
          </a:p>
        </p:txBody>
      </p:sp>
      <p:sp>
        <p:nvSpPr>
          <p:cNvPr id="32" name="Rounded Rectangle 31"/>
          <p:cNvSpPr/>
          <p:nvPr/>
        </p:nvSpPr>
        <p:spPr>
          <a:xfrm>
            <a:off x="548640" y="5157216"/>
            <a:ext cx="11091672" cy="603504"/>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85800" y="5157216"/>
            <a:ext cx="10817352" cy="603504"/>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You know this work far better than I do. My job today is the tooling — and the tooling removes friction between the idea and the result.</a:t>
            </a:r>
          </a:p>
        </p:txBody>
      </p:sp>
      <p:sp>
        <p:nvSpPr>
          <p:cNvPr id="34" name="TextBox 33"/>
          <p:cNvSpPr txBox="1"/>
          <p:nvPr/>
        </p:nvSpPr>
        <p:spPr>
          <a:xfrm>
            <a:off x="3291840" y="589788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Thrusts per ntu.edu.sg/ancl · 131 papers, 93 patents · photos CC0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15</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MATLAB MCP Server — the local bridge</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A local server that connects your AI agent to the MATLAB you already licence</a:t>
            </a:r>
          </a:p>
        </p:txBody>
      </p:sp>
      <p:sp>
        <p:nvSpPr>
          <p:cNvPr id="8" name="Rounded Rectangle 7"/>
          <p:cNvSpPr/>
          <p:nvPr/>
        </p:nvSpPr>
        <p:spPr>
          <a:xfrm>
            <a:off x="548640" y="1298448"/>
            <a:ext cx="8366760" cy="12344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786384" y="1408175"/>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Donut 9"/>
          <p:cNvSpPr/>
          <p:nvPr/>
        </p:nvSpPr>
        <p:spPr>
          <a:xfrm>
            <a:off x="852403" y="1522841"/>
            <a:ext cx="125089" cy="125089"/>
          </a:xfrm>
          <a:prstGeom prst="donut">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Donut 10"/>
          <p:cNvSpPr/>
          <p:nvPr/>
        </p:nvSpPr>
        <p:spPr>
          <a:xfrm>
            <a:off x="942746" y="1522841"/>
            <a:ext cx="125089" cy="125089"/>
          </a:xfrm>
          <a:prstGeom prst="donut">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280160" y="1435607"/>
            <a:ext cx="7397496" cy="292608"/>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What it is</a:t>
            </a:r>
          </a:p>
        </p:txBody>
      </p:sp>
      <p:sp>
        <p:nvSpPr>
          <p:cNvPr id="13" name="TextBox 12"/>
          <p:cNvSpPr txBox="1"/>
          <p:nvPr/>
        </p:nvSpPr>
        <p:spPr>
          <a:xfrm>
            <a:off x="786384" y="1837943"/>
            <a:ext cx="7891272" cy="585216"/>
          </a:xfrm>
          <a:prstGeom prst="rect">
            <a:avLst/>
          </a:prstGeom>
          <a:noFill/>
        </p:spPr>
        <p:txBody>
          <a:bodyPr wrap="square" lIns="0" tIns="0" rIns="0" bIns="0" anchor="t">
            <a:spAutoFit/>
          </a:bodyPr>
          <a:lstStyle/>
          <a:p>
            <a:pPr marL="0" indent="0" algn="l">
              <a:lnSpc>
                <a:spcPct val="100000"/>
              </a:lnSpc>
              <a:spcAft>
                <a:spcPts val="600"/>
              </a:spcAft>
              <a:buNone/>
            </a:pPr>
            <a:r>
              <a:rPr sz="1250" b="0" i="0">
                <a:solidFill>
                  <a:srgbClr val="262626"/>
                </a:solidFill>
                <a:latin typeface="Product Sans"/>
                <a:ea typeface="Product Sans"/>
                <a:cs typeface="Product Sans"/>
              </a:rPr>
              <a:t>A local MCP server that connects AI agents to a locally licensed MATLAB, enabling intelligent automation and code execution.</a:t>
            </a:r>
          </a:p>
        </p:txBody>
      </p:sp>
      <p:sp>
        <p:nvSpPr>
          <p:cNvPr id="14" name="Rounded Rectangle 13"/>
          <p:cNvSpPr/>
          <p:nvPr/>
        </p:nvSpPr>
        <p:spPr>
          <a:xfrm>
            <a:off x="548640" y="2697480"/>
            <a:ext cx="8366760" cy="896112"/>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786384" y="280720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86384" y="2807208"/>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a:t>
            </a:r>
          </a:p>
        </p:txBody>
      </p:sp>
      <p:sp>
        <p:nvSpPr>
          <p:cNvPr id="17" name="TextBox 16"/>
          <p:cNvSpPr txBox="1"/>
          <p:nvPr/>
        </p:nvSpPr>
        <p:spPr>
          <a:xfrm>
            <a:off x="1280160" y="2834640"/>
            <a:ext cx="7397496" cy="292608"/>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1F3864"/>
                </a:solidFill>
                <a:latin typeface="Product Sans"/>
                <a:ea typeface="Product Sans"/>
                <a:cs typeface="Product Sans"/>
              </a:rPr>
              <a:t>No additional licence required</a:t>
            </a:r>
          </a:p>
        </p:txBody>
      </p:sp>
      <p:sp>
        <p:nvSpPr>
          <p:cNvPr id="18" name="TextBox 17"/>
          <p:cNvSpPr txBox="1"/>
          <p:nvPr/>
        </p:nvSpPr>
        <p:spPr>
          <a:xfrm>
            <a:off x="786384" y="3236976"/>
            <a:ext cx="7891272" cy="246888"/>
          </a:xfrm>
          <a:prstGeom prst="rect">
            <a:avLst/>
          </a:prstGeom>
          <a:noFill/>
        </p:spPr>
        <p:txBody>
          <a:bodyPr wrap="square" lIns="0" tIns="0" rIns="0" bIns="0" anchor="t">
            <a:spAutoFit/>
          </a:bodyPr>
          <a:lstStyle/>
          <a:p>
            <a:pPr marL="0" indent="0" algn="l">
              <a:lnSpc>
                <a:spcPct val="100000"/>
              </a:lnSpc>
              <a:spcAft>
                <a:spcPts val="600"/>
              </a:spcAft>
              <a:buNone/>
            </a:pPr>
            <a:r>
              <a:rPr sz="1250" b="0" i="0">
                <a:solidFill>
                  <a:srgbClr val="262626"/>
                </a:solidFill>
                <a:latin typeface="Product Sans"/>
                <a:ea typeface="Product Sans"/>
                <a:cs typeface="Product Sans"/>
              </a:rPr>
              <a:t>Just connect and go. It runs on the MATLAB licence your campus agreement already provides.</a:t>
            </a:r>
          </a:p>
        </p:txBody>
      </p:sp>
      <p:sp>
        <p:nvSpPr>
          <p:cNvPr id="19" name="Rounded Rectangle 18"/>
          <p:cNvSpPr/>
          <p:nvPr/>
        </p:nvSpPr>
        <p:spPr>
          <a:xfrm>
            <a:off x="548640" y="3666744"/>
            <a:ext cx="8366760" cy="896112"/>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786384" y="3776472"/>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Block Arc 20"/>
          <p:cNvSpPr/>
          <p:nvPr/>
        </p:nvSpPr>
        <p:spPr>
          <a:xfrm>
            <a:off x="887150" y="3825118"/>
            <a:ext cx="145938" cy="145938"/>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869777" y="3929359"/>
            <a:ext cx="180685" cy="1389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280160" y="3803904"/>
            <a:ext cx="7397496" cy="292608"/>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1F3864"/>
                </a:solidFill>
                <a:latin typeface="Product Sans"/>
                <a:ea typeface="Product Sans"/>
                <a:cs typeface="Product Sans"/>
              </a:rPr>
              <a:t>Privacy preserved by local execution</a:t>
            </a:r>
          </a:p>
        </p:txBody>
      </p:sp>
      <p:sp>
        <p:nvSpPr>
          <p:cNvPr id="24" name="TextBox 23"/>
          <p:cNvSpPr txBox="1"/>
          <p:nvPr/>
        </p:nvSpPr>
        <p:spPr>
          <a:xfrm>
            <a:off x="786384" y="4206240"/>
            <a:ext cx="7891272" cy="246887"/>
          </a:xfrm>
          <a:prstGeom prst="rect">
            <a:avLst/>
          </a:prstGeom>
          <a:noFill/>
        </p:spPr>
        <p:txBody>
          <a:bodyPr wrap="square" lIns="0" tIns="0" rIns="0" bIns="0" anchor="t">
            <a:spAutoFit/>
          </a:bodyPr>
          <a:lstStyle/>
          <a:p>
            <a:pPr marL="0" indent="0" algn="l">
              <a:lnSpc>
                <a:spcPct val="100000"/>
              </a:lnSpc>
              <a:spcAft>
                <a:spcPts val="600"/>
              </a:spcAft>
              <a:buNone/>
            </a:pPr>
            <a:r>
              <a:rPr sz="1250" b="0" i="0">
                <a:solidFill>
                  <a:srgbClr val="262626"/>
                </a:solidFill>
                <a:latin typeface="Product Sans"/>
                <a:ea typeface="Product Sans"/>
                <a:cs typeface="Product Sans"/>
              </a:rPr>
              <a:t>The server and MATLAB both run on your machine. Code, models and data never leave it.</a:t>
            </a:r>
          </a:p>
        </p:txBody>
      </p:sp>
      <p:sp>
        <p:nvSpPr>
          <p:cNvPr id="25" name="Rounded Rectangle 24"/>
          <p:cNvSpPr/>
          <p:nvPr/>
        </p:nvSpPr>
        <p:spPr>
          <a:xfrm>
            <a:off x="548640" y="4636008"/>
            <a:ext cx="8366760" cy="896112"/>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786384" y="4745736"/>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Block Arc 26"/>
          <p:cNvSpPr/>
          <p:nvPr/>
        </p:nvSpPr>
        <p:spPr>
          <a:xfrm>
            <a:off x="859353" y="4818705"/>
            <a:ext cx="201533" cy="201533"/>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Isosceles Triangle 27"/>
          <p:cNvSpPr/>
          <p:nvPr/>
        </p:nvSpPr>
        <p:spPr>
          <a:xfrm>
            <a:off x="991392" y="4804806"/>
            <a:ext cx="72969" cy="6254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280160" y="4773168"/>
            <a:ext cx="7397496" cy="292608"/>
          </a:xfrm>
          <a:prstGeom prst="rect">
            <a:avLst/>
          </a:prstGeom>
          <a:noFill/>
        </p:spPr>
        <p:txBody>
          <a:bodyPr wrap="square" lIns="0" tIns="0" rIns="0" bIns="0" anchor="ctr">
            <a:spAutoFit/>
          </a:bodyPr>
          <a:lstStyle/>
          <a:p>
            <a:pPr marL="0" indent="0" algn="l">
              <a:lnSpc>
                <a:spcPct val="100000"/>
              </a:lnSpc>
              <a:spcAft>
                <a:spcPts val="400"/>
              </a:spcAft>
              <a:buNone/>
            </a:pPr>
            <a:r>
              <a:rPr sz="1300" b="0" i="0">
                <a:solidFill>
                  <a:srgbClr val="1F3864"/>
                </a:solidFill>
                <a:latin typeface="Product Sans"/>
                <a:ea typeface="Product Sans"/>
                <a:cs typeface="Product Sans"/>
              </a:rPr>
              <a:t>New session, or the one you have open</a:t>
            </a:r>
          </a:p>
        </p:txBody>
      </p:sp>
      <p:sp>
        <p:nvSpPr>
          <p:cNvPr id="30" name="TextBox 29"/>
          <p:cNvSpPr txBox="1"/>
          <p:nvPr/>
        </p:nvSpPr>
        <p:spPr>
          <a:xfrm>
            <a:off x="786384" y="5175504"/>
            <a:ext cx="7891272" cy="246887"/>
          </a:xfrm>
          <a:prstGeom prst="rect">
            <a:avLst/>
          </a:prstGeom>
          <a:noFill/>
        </p:spPr>
        <p:txBody>
          <a:bodyPr wrap="square" lIns="0" tIns="0" rIns="0" bIns="0" anchor="t">
            <a:spAutoFit/>
          </a:bodyPr>
          <a:lstStyle/>
          <a:p>
            <a:pPr marL="0" indent="0" algn="l">
              <a:lnSpc>
                <a:spcPct val="100000"/>
              </a:lnSpc>
              <a:spcAft>
                <a:spcPts val="600"/>
              </a:spcAft>
              <a:buNone/>
            </a:pPr>
            <a:r>
              <a:rPr sz="1250" b="0" i="0">
                <a:solidFill>
                  <a:srgbClr val="262626"/>
                </a:solidFill>
                <a:latin typeface="Product Sans"/>
                <a:ea typeface="Product Sans"/>
                <a:cs typeface="Product Sans"/>
              </a:rPr>
              <a:t>It can start a fresh MATLAB or attach to your existing session — your workspace, your open model.</a:t>
            </a:r>
          </a:p>
        </p:txBody>
      </p:sp>
      <p:sp>
        <p:nvSpPr>
          <p:cNvPr id="32" name="TextBox 31"/>
          <p:cNvSpPr txBox="1"/>
          <p:nvPr/>
        </p:nvSpPr>
        <p:spPr>
          <a:xfrm>
            <a:off x="548640" y="5504688"/>
            <a:ext cx="11091672" cy="201168"/>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Diagram: MathWorks · “Agentic AI Workflows with MATLAB and Simulink”</a:t>
            </a:r>
          </a:p>
        </p:txBody>
      </p:sp>
      <p:sp>
        <p:nvSpPr>
          <p:cNvPr id="33" name="Rounded Rectangle 32"/>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github.com/matlab/matlab-mcp-server — R2021a or later, Windows, macOS and Linux.</a:t>
            </a:r>
          </a:p>
        </p:txBody>
      </p:sp>
      <p:pic>
        <p:nvPicPr>
          <p:cNvPr id="36" name="Picture 35">
            <a:extLst>
              <a:ext uri="{FF2B5EF4-FFF2-40B4-BE49-F238E27FC236}">
                <a16:creationId xmlns:a16="http://schemas.microsoft.com/office/drawing/2014/main" id="{FDB06ACE-E112-05D3-8921-A4382DF404B8}"/>
              </a:ext>
            </a:extLst>
          </p:cNvPr>
          <p:cNvPicPr>
            <a:picLocks noChangeAspect="1"/>
          </p:cNvPicPr>
          <p:nvPr/>
        </p:nvPicPr>
        <p:blipFill>
          <a:blip r:embed="rId4"/>
          <a:stretch>
            <a:fillRect/>
          </a:stretch>
        </p:blipFill>
        <p:spPr>
          <a:xfrm>
            <a:off x="9047439" y="1671427"/>
            <a:ext cx="2974792" cy="351514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24</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Maintain oversight — in an interactive environment</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The agent works inside tools you can open, inspect and argue with</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PART 3</a:t>
            </a:r>
          </a:p>
        </p:txBody>
      </p:sp>
      <p:pic>
        <p:nvPicPr>
          <p:cNvPr id="10" name="Picture 9" descr="mw_oversight1.png"/>
          <p:cNvPicPr>
            <a:picLocks noChangeAspect="1"/>
          </p:cNvPicPr>
          <p:nvPr/>
        </p:nvPicPr>
        <p:blipFill>
          <a:blip r:embed="rId4"/>
          <a:stretch>
            <a:fillRect/>
          </a:stretch>
        </p:blipFill>
        <p:spPr>
          <a:xfrm>
            <a:off x="1549756" y="1280160"/>
            <a:ext cx="9089438" cy="3931920"/>
          </a:xfrm>
          <a:prstGeom prst="rect">
            <a:avLst/>
          </a:prstGeom>
        </p:spPr>
      </p:pic>
      <p:sp>
        <p:nvSpPr>
          <p:cNvPr id="11" name="TextBox 10"/>
          <p:cNvSpPr txBox="1"/>
          <p:nvPr/>
        </p:nvSpPr>
        <p:spPr>
          <a:xfrm>
            <a:off x="548640" y="5285232"/>
            <a:ext cx="11091672" cy="201168"/>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Diagram: MathWorks · “Agentic AI Workflows with MATLAB and Simulink”</a:t>
            </a:r>
          </a:p>
        </p:txBody>
      </p:sp>
      <p:sp>
        <p:nvSpPr>
          <p:cNvPr id="12" name="Rounded Rectangle 11"/>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Data analysis · apps · charts · Simulink · Simscape · Stateflow — every one of them something you can inspect by hand.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25</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Maintain oversight — integrated with your systems</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Version control, requirements traceability and hardware testing are where the evidence lives</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PART 3</a:t>
            </a:r>
          </a:p>
        </p:txBody>
      </p:sp>
      <p:pic>
        <p:nvPicPr>
          <p:cNvPr id="10" name="Picture 9" descr="mw_oversight2.png"/>
          <p:cNvPicPr>
            <a:picLocks noChangeAspect="1"/>
          </p:cNvPicPr>
          <p:nvPr/>
        </p:nvPicPr>
        <p:blipFill>
          <a:blip r:embed="rId4"/>
          <a:stretch>
            <a:fillRect/>
          </a:stretch>
        </p:blipFill>
        <p:spPr>
          <a:xfrm>
            <a:off x="1964753" y="1280160"/>
            <a:ext cx="8259444" cy="3931920"/>
          </a:xfrm>
          <a:prstGeom prst="rect">
            <a:avLst/>
          </a:prstGeom>
        </p:spPr>
      </p:pic>
      <p:sp>
        <p:nvSpPr>
          <p:cNvPr id="11" name="TextBox 10"/>
          <p:cNvSpPr txBox="1"/>
          <p:nvPr/>
        </p:nvSpPr>
        <p:spPr>
          <a:xfrm>
            <a:off x="548640" y="5285232"/>
            <a:ext cx="11091672" cy="201168"/>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Diagram: MathWorks · “Agentic AI Workflows with MATLAB and Simulink”</a:t>
            </a:r>
          </a:p>
        </p:txBody>
      </p:sp>
      <p:sp>
        <p:nvSpPr>
          <p:cNvPr id="12" name="Rounded Rectangle 11"/>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This is the row that makes research transferable to an industry partner — traceability and HIL, not just a working script.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44</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Image and data credits</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Everything in this deck is either generated here or openly licensed</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WRAP</a:t>
            </a:r>
          </a:p>
        </p:txBody>
      </p:sp>
      <p:sp>
        <p:nvSpPr>
          <p:cNvPr id="10" name="Rounded Rectangle 9"/>
          <p:cNvSpPr/>
          <p:nvPr/>
        </p:nvSpPr>
        <p:spPr>
          <a:xfrm>
            <a:off x="548640" y="1325880"/>
            <a:ext cx="5394960" cy="16459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786384" y="1435607"/>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69777" y="1626717"/>
            <a:ext cx="41696" cy="6949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935796" y="1571122"/>
            <a:ext cx="41696" cy="12508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1001816" y="1522475"/>
            <a:ext cx="41696" cy="1737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280160" y="1463039"/>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Generated for this deck</a:t>
            </a:r>
          </a:p>
        </p:txBody>
      </p:sp>
      <p:sp>
        <p:nvSpPr>
          <p:cNvPr id="16" name="TextBox 15"/>
          <p:cNvSpPr txBox="1"/>
          <p:nvPr/>
        </p:nvSpPr>
        <p:spPr>
          <a:xfrm>
            <a:off x="786384" y="1865376"/>
            <a:ext cx="4919472" cy="9966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All six demo figures — produced by the rehearsal runs on the presenter's MATLAB R2026a</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All diagrams — drawn as native PowerPoint shapes, editable</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Simulink canvases — printed from the actual demo models</a:t>
            </a:r>
          </a:p>
        </p:txBody>
      </p:sp>
      <p:sp>
        <p:nvSpPr>
          <p:cNvPr id="17" name="Rounded Rectangle 16"/>
          <p:cNvSpPr/>
          <p:nvPr/>
        </p:nvSpPr>
        <p:spPr>
          <a:xfrm>
            <a:off x="6245352" y="1325880"/>
            <a:ext cx="5394960" cy="16459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483096" y="1435607"/>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Magnetic Disk 18"/>
          <p:cNvSpPr/>
          <p:nvPr/>
        </p:nvSpPr>
        <p:spPr>
          <a:xfrm>
            <a:off x="6565620" y="1535506"/>
            <a:ext cx="182422" cy="147675"/>
          </a:xfrm>
          <a:prstGeom prst="flowChartMagneticDisk">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976872" y="1463039"/>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350" b="0" i="0">
                <a:solidFill>
                  <a:srgbClr val="1F3864"/>
                </a:solidFill>
                <a:latin typeface="Product Sans"/>
                <a:ea typeface="Product Sans"/>
                <a:cs typeface="Product Sans"/>
              </a:rPr>
              <a:t>Data sets</a:t>
            </a:r>
          </a:p>
        </p:txBody>
      </p:sp>
      <p:sp>
        <p:nvSpPr>
          <p:cNvPr id="21" name="TextBox 20"/>
          <p:cNvSpPr txBox="1"/>
          <p:nvPr/>
        </p:nvSpPr>
        <p:spPr>
          <a:xfrm>
            <a:off x="6483096" y="1865376"/>
            <a:ext cx="4919472" cy="996695"/>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NASA C-MAPSS turbofan degradation data, via MathWorks “Data Sets for Deep Learning”</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Digits data set, shipped with Deep Learning Toolbox</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Wheel-speed capture — synthesised for this workshop (make_demo_data.m)</a:t>
            </a:r>
          </a:p>
        </p:txBody>
      </p:sp>
      <p:sp>
        <p:nvSpPr>
          <p:cNvPr id="22" name="TextBox 21"/>
          <p:cNvSpPr txBox="1"/>
          <p:nvPr/>
        </p:nvSpPr>
        <p:spPr>
          <a:xfrm>
            <a:off x="548640" y="3154680"/>
            <a:ext cx="11091672" cy="237744"/>
          </a:xfrm>
          <a:prstGeom prst="rect">
            <a:avLst/>
          </a:prstGeom>
          <a:noFill/>
        </p:spPr>
        <p:txBody>
          <a:bodyPr wrap="square" lIns="0" tIns="0" rIns="0" bIns="0" anchor="t">
            <a:spAutoFit/>
          </a:bodyPr>
          <a:lstStyle/>
          <a:p>
            <a:pPr marL="0" indent="0" algn="l">
              <a:lnSpc>
                <a:spcPct val="100000"/>
              </a:lnSpc>
              <a:spcAft>
                <a:spcPts val="400"/>
              </a:spcAft>
              <a:buNone/>
            </a:pPr>
            <a:r>
              <a:rPr sz="1050" b="0" i="0">
                <a:solidFill>
                  <a:srgbClr val="4472C4"/>
                </a:solidFill>
                <a:latin typeface="Product Sans"/>
                <a:ea typeface="Product Sans"/>
                <a:cs typeface="Product Sans"/>
              </a:rPr>
              <a:t>PHOTOGRAPHY — ALL CC0 / PUBLIC DOMAIN, VIA OPENVERSE</a:t>
            </a:r>
          </a:p>
        </p:txBody>
      </p:sp>
      <p:pic>
        <p:nvPicPr>
          <p:cNvPr id="23" name="Picture 22" descr="kitchen.jpg"/>
          <p:cNvPicPr>
            <a:picLocks noChangeAspect="1"/>
          </p:cNvPicPr>
          <p:nvPr/>
        </p:nvPicPr>
        <p:blipFill>
          <a:blip r:embed="rId4"/>
          <a:srcRect t="15475" b="15475"/>
          <a:stretch>
            <a:fillRect/>
          </a:stretch>
        </p:blipFill>
        <p:spPr>
          <a:xfrm>
            <a:off x="548640" y="3456432"/>
            <a:ext cx="2622042" cy="1207008"/>
          </a:xfrm>
          <a:prstGeom prst="rect">
            <a:avLst/>
          </a:prstGeom>
        </p:spPr>
      </p:pic>
      <p:sp>
        <p:nvSpPr>
          <p:cNvPr id="24" name="TextBox 23"/>
          <p:cNvSpPr txBox="1"/>
          <p:nvPr/>
        </p:nvSpPr>
        <p:spPr>
          <a:xfrm>
            <a:off x="548640" y="4718304"/>
            <a:ext cx="2622042" cy="20116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1F3864"/>
                </a:solidFill>
                <a:latin typeface="Product Sans"/>
                <a:ea typeface="Product Sans"/>
                <a:cs typeface="Product Sans"/>
              </a:rPr>
              <a:t>slide 5</a:t>
            </a:r>
          </a:p>
        </p:txBody>
      </p:sp>
      <p:sp>
        <p:nvSpPr>
          <p:cNvPr id="25" name="TextBox 24"/>
          <p:cNvSpPr txBox="1"/>
          <p:nvPr/>
        </p:nvSpPr>
        <p:spPr>
          <a:xfrm>
            <a:off x="548640" y="4919472"/>
            <a:ext cx="2622042" cy="402336"/>
          </a:xfrm>
          <a:prstGeom prst="rect">
            <a:avLst/>
          </a:prstGeom>
          <a:noFill/>
        </p:spPr>
        <p:txBody>
          <a:bodyPr wrap="square" lIns="0" tIns="0" rIns="0" bIns="0" anchor="t">
            <a:spAutoFit/>
          </a:bodyPr>
          <a:lstStyle/>
          <a:p>
            <a:pPr marL="0" indent="0" algn="ctr">
              <a:lnSpc>
                <a:spcPct val="100000"/>
              </a:lnSpc>
              <a:spcAft>
                <a:spcPts val="400"/>
              </a:spcAft>
              <a:buNone/>
            </a:pPr>
            <a:r>
              <a:rPr sz="950" b="0" i="0">
                <a:solidFill>
                  <a:srgbClr val="595959"/>
                </a:solidFill>
                <a:latin typeface="Product Sans"/>
                <a:ea typeface="Product Sans"/>
                <a:cs typeface="Product Sans"/>
              </a:rPr>
              <a:t>Restaurant Kitchen</a:t>
            </a:r>
          </a:p>
          <a:p>
            <a:pPr marL="0" indent="0" algn="ctr">
              <a:lnSpc>
                <a:spcPct val="100000"/>
              </a:lnSpc>
              <a:spcAft>
                <a:spcPts val="400"/>
              </a:spcAft>
              <a:buNone/>
            </a:pPr>
            <a:r>
              <a:rPr sz="950" b="0" i="0">
                <a:solidFill>
                  <a:srgbClr val="595959"/>
                </a:solidFill>
                <a:latin typeface="Product Sans"/>
                <a:ea typeface="Product Sans"/>
                <a:cs typeface="Product Sans"/>
              </a:rPr>
              <a:t>Michael Browning · CC0 · stocksnap</a:t>
            </a:r>
          </a:p>
        </p:txBody>
      </p:sp>
      <p:pic>
        <p:nvPicPr>
          <p:cNvPr id="26" name="Picture 25" descr="pcb.jpg"/>
          <p:cNvPicPr>
            <a:picLocks noChangeAspect="1"/>
          </p:cNvPicPr>
          <p:nvPr/>
        </p:nvPicPr>
        <p:blipFill>
          <a:blip r:embed="rId5"/>
          <a:srcRect t="19311" b="19311"/>
          <a:stretch>
            <a:fillRect/>
          </a:stretch>
        </p:blipFill>
        <p:spPr>
          <a:xfrm>
            <a:off x="3371850" y="3456432"/>
            <a:ext cx="2622042" cy="1207008"/>
          </a:xfrm>
          <a:prstGeom prst="rect">
            <a:avLst/>
          </a:prstGeom>
        </p:spPr>
      </p:pic>
      <p:sp>
        <p:nvSpPr>
          <p:cNvPr id="27" name="TextBox 26"/>
          <p:cNvSpPr txBox="1"/>
          <p:nvPr/>
        </p:nvSpPr>
        <p:spPr>
          <a:xfrm>
            <a:off x="3371850" y="4718304"/>
            <a:ext cx="2622042" cy="20116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1F3864"/>
                </a:solidFill>
                <a:latin typeface="Product Sans"/>
                <a:ea typeface="Product Sans"/>
                <a:cs typeface="Product Sans"/>
              </a:rPr>
              <a:t>slide 7 · Thrust A</a:t>
            </a:r>
          </a:p>
        </p:txBody>
      </p:sp>
      <p:sp>
        <p:nvSpPr>
          <p:cNvPr id="28" name="TextBox 27"/>
          <p:cNvSpPr txBox="1"/>
          <p:nvPr/>
        </p:nvSpPr>
        <p:spPr>
          <a:xfrm>
            <a:off x="3371850" y="4919472"/>
            <a:ext cx="2622042" cy="402336"/>
          </a:xfrm>
          <a:prstGeom prst="rect">
            <a:avLst/>
          </a:prstGeom>
          <a:noFill/>
        </p:spPr>
        <p:txBody>
          <a:bodyPr wrap="square" lIns="0" tIns="0" rIns="0" bIns="0" anchor="t">
            <a:spAutoFit/>
          </a:bodyPr>
          <a:lstStyle/>
          <a:p>
            <a:pPr marL="0" indent="0" algn="ctr">
              <a:lnSpc>
                <a:spcPct val="100000"/>
              </a:lnSpc>
              <a:spcAft>
                <a:spcPts val="400"/>
              </a:spcAft>
              <a:buNone/>
            </a:pPr>
            <a:r>
              <a:rPr sz="850" b="0" i="0">
                <a:solidFill>
                  <a:srgbClr val="595959"/>
                </a:solidFill>
                <a:latin typeface="Product Sans"/>
                <a:ea typeface="Product Sans"/>
                <a:cs typeface="Product Sans"/>
              </a:rPr>
              <a:t>Macro photograph of the RP2350 microcontroll</a:t>
            </a:r>
          </a:p>
          <a:p>
            <a:pPr marL="0" indent="0" algn="ctr">
              <a:lnSpc>
                <a:spcPct val="100000"/>
              </a:lnSpc>
              <a:spcAft>
                <a:spcPts val="400"/>
              </a:spcAft>
              <a:buNone/>
            </a:pPr>
            <a:r>
              <a:rPr sz="850" b="0" i="0">
                <a:solidFill>
                  <a:srgbClr val="595959"/>
                </a:solidFill>
                <a:latin typeface="Product Sans"/>
                <a:ea typeface="Product Sans"/>
                <a:cs typeface="Product Sans"/>
              </a:rPr>
              <a:t>Profpcde · CC0 · wikimedia</a:t>
            </a:r>
          </a:p>
        </p:txBody>
      </p:sp>
      <p:pic>
        <p:nvPicPr>
          <p:cNvPr id="29" name="Picture 28" descr="car.jpg"/>
          <p:cNvPicPr>
            <a:picLocks noChangeAspect="1"/>
          </p:cNvPicPr>
          <p:nvPr/>
        </p:nvPicPr>
        <p:blipFill>
          <a:blip r:embed="rId6"/>
          <a:srcRect t="15475" b="15475"/>
          <a:stretch>
            <a:fillRect/>
          </a:stretch>
        </p:blipFill>
        <p:spPr>
          <a:xfrm>
            <a:off x="6195060" y="3456432"/>
            <a:ext cx="2622042" cy="1207008"/>
          </a:xfrm>
          <a:prstGeom prst="rect">
            <a:avLst/>
          </a:prstGeom>
        </p:spPr>
      </p:pic>
      <p:sp>
        <p:nvSpPr>
          <p:cNvPr id="30" name="TextBox 29"/>
          <p:cNvSpPr txBox="1"/>
          <p:nvPr/>
        </p:nvSpPr>
        <p:spPr>
          <a:xfrm>
            <a:off x="6195060" y="4718304"/>
            <a:ext cx="2622042" cy="20116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1F3864"/>
                </a:solidFill>
                <a:latin typeface="Product Sans"/>
                <a:ea typeface="Product Sans"/>
                <a:cs typeface="Product Sans"/>
              </a:rPr>
              <a:t>slide 7 · Thrust B</a:t>
            </a:r>
          </a:p>
        </p:txBody>
      </p:sp>
      <p:sp>
        <p:nvSpPr>
          <p:cNvPr id="31" name="TextBox 30"/>
          <p:cNvSpPr txBox="1"/>
          <p:nvPr/>
        </p:nvSpPr>
        <p:spPr>
          <a:xfrm>
            <a:off x="6195060" y="4919472"/>
            <a:ext cx="2622042" cy="402336"/>
          </a:xfrm>
          <a:prstGeom prst="rect">
            <a:avLst/>
          </a:prstGeom>
          <a:noFill/>
        </p:spPr>
        <p:txBody>
          <a:bodyPr wrap="square" lIns="0" tIns="0" rIns="0" bIns="0" anchor="t">
            <a:spAutoFit/>
          </a:bodyPr>
          <a:lstStyle/>
          <a:p>
            <a:pPr marL="0" indent="0" algn="ctr">
              <a:lnSpc>
                <a:spcPct val="100000"/>
              </a:lnSpc>
              <a:spcAft>
                <a:spcPts val="400"/>
              </a:spcAft>
              <a:buNone/>
            </a:pPr>
            <a:r>
              <a:rPr sz="950" b="0" i="0">
                <a:solidFill>
                  <a:srgbClr val="595959"/>
                </a:solidFill>
                <a:latin typeface="Product Sans"/>
                <a:ea typeface="Product Sans"/>
                <a:cs typeface="Product Sans"/>
              </a:rPr>
              <a:t>Luxury Car</a:t>
            </a:r>
          </a:p>
          <a:p>
            <a:pPr marL="0" indent="0" algn="ctr">
              <a:lnSpc>
                <a:spcPct val="100000"/>
              </a:lnSpc>
              <a:spcAft>
                <a:spcPts val="400"/>
              </a:spcAft>
              <a:buNone/>
            </a:pPr>
            <a:r>
              <a:rPr sz="950" b="0" i="0">
                <a:solidFill>
                  <a:srgbClr val="595959"/>
                </a:solidFill>
                <a:latin typeface="Product Sans"/>
                <a:ea typeface="Product Sans"/>
                <a:cs typeface="Product Sans"/>
              </a:rPr>
              <a:t>Burst · CC0 · stocksnap</a:t>
            </a:r>
          </a:p>
        </p:txBody>
      </p:sp>
      <p:pic>
        <p:nvPicPr>
          <p:cNvPr id="32" name="Picture 31" descr="compute.jpg"/>
          <p:cNvPicPr>
            <a:picLocks noChangeAspect="1"/>
          </p:cNvPicPr>
          <p:nvPr/>
        </p:nvPicPr>
        <p:blipFill>
          <a:blip r:embed="rId7"/>
          <a:srcRect t="19311" b="19311"/>
          <a:stretch>
            <a:fillRect/>
          </a:stretch>
        </p:blipFill>
        <p:spPr>
          <a:xfrm>
            <a:off x="9018270" y="3456432"/>
            <a:ext cx="2622042" cy="1207008"/>
          </a:xfrm>
          <a:prstGeom prst="rect">
            <a:avLst/>
          </a:prstGeom>
        </p:spPr>
      </p:pic>
      <p:sp>
        <p:nvSpPr>
          <p:cNvPr id="33" name="TextBox 32"/>
          <p:cNvSpPr txBox="1"/>
          <p:nvPr/>
        </p:nvSpPr>
        <p:spPr>
          <a:xfrm>
            <a:off x="9018270" y="4718304"/>
            <a:ext cx="2622042" cy="20116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1F3864"/>
                </a:solidFill>
                <a:latin typeface="Product Sans"/>
                <a:ea typeface="Product Sans"/>
                <a:cs typeface="Product Sans"/>
              </a:rPr>
              <a:t>slide 7 · Thrust C</a:t>
            </a:r>
          </a:p>
        </p:txBody>
      </p:sp>
      <p:sp>
        <p:nvSpPr>
          <p:cNvPr id="34" name="TextBox 33"/>
          <p:cNvSpPr txBox="1"/>
          <p:nvPr/>
        </p:nvSpPr>
        <p:spPr>
          <a:xfrm>
            <a:off x="9018270" y="4919472"/>
            <a:ext cx="2622042" cy="402336"/>
          </a:xfrm>
          <a:prstGeom prst="rect">
            <a:avLst/>
          </a:prstGeom>
          <a:noFill/>
        </p:spPr>
        <p:txBody>
          <a:bodyPr wrap="square" lIns="0" tIns="0" rIns="0" bIns="0" anchor="t">
            <a:spAutoFit/>
          </a:bodyPr>
          <a:lstStyle/>
          <a:p>
            <a:pPr marL="0" indent="0" algn="ctr">
              <a:lnSpc>
                <a:spcPct val="100000"/>
              </a:lnSpc>
              <a:spcAft>
                <a:spcPts val="400"/>
              </a:spcAft>
              <a:buNone/>
            </a:pPr>
            <a:r>
              <a:rPr sz="950" b="0" i="0">
                <a:solidFill>
                  <a:srgbClr val="595959"/>
                </a:solidFill>
                <a:latin typeface="Product Sans"/>
                <a:ea typeface="Product Sans"/>
                <a:cs typeface="Product Sans"/>
              </a:rPr>
              <a:t>Free computer server room image</a:t>
            </a:r>
          </a:p>
          <a:p>
            <a:pPr marL="0" indent="0" algn="ctr">
              <a:lnSpc>
                <a:spcPct val="100000"/>
              </a:lnSpc>
              <a:spcAft>
                <a:spcPts val="400"/>
              </a:spcAft>
              <a:buNone/>
            </a:pPr>
            <a:r>
              <a:rPr sz="950" b="0" i="0">
                <a:solidFill>
                  <a:srgbClr val="595959"/>
                </a:solidFill>
                <a:latin typeface="Product Sans"/>
                <a:ea typeface="Product Sans"/>
                <a:cs typeface="Product Sans"/>
              </a:rPr>
              <a:t>unknown · CC0 · rawpixel</a:t>
            </a:r>
          </a:p>
        </p:txBody>
      </p:sp>
      <p:sp>
        <p:nvSpPr>
          <p:cNvPr id="35" name="Rounded Rectangle 34"/>
          <p:cNvSpPr/>
          <p:nvPr/>
        </p:nvSpPr>
        <p:spPr>
          <a:xfrm>
            <a:off x="548640" y="5568696"/>
            <a:ext cx="11091672" cy="603504"/>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85800" y="5568696"/>
            <a:ext cx="10817352" cy="603504"/>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No licence obligations attach to CC0 images — the credits are here because attribution is good practice, not because it is required.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43</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Resources and next steps</a:t>
            </a:r>
          </a:p>
        </p:txBody>
      </p:sp>
      <p:sp>
        <p:nvSpPr>
          <p:cNvPr id="7" name="Rounded Rectangle 6"/>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WRAP</a:t>
            </a:r>
          </a:p>
        </p:txBody>
      </p:sp>
      <p:sp>
        <p:nvSpPr>
          <p:cNvPr id="9" name="Rounded Rectangle 8"/>
          <p:cNvSpPr/>
          <p:nvPr/>
        </p:nvSpPr>
        <p:spPr>
          <a:xfrm>
            <a:off x="548640" y="1234440"/>
            <a:ext cx="5394960" cy="30175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786384" y="134416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Donut 10"/>
          <p:cNvSpPr/>
          <p:nvPr/>
        </p:nvSpPr>
        <p:spPr>
          <a:xfrm>
            <a:off x="852403" y="1458833"/>
            <a:ext cx="125089" cy="125089"/>
          </a:xfrm>
          <a:prstGeom prst="donut">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Donut 11"/>
          <p:cNvSpPr/>
          <p:nvPr/>
        </p:nvSpPr>
        <p:spPr>
          <a:xfrm>
            <a:off x="942746" y="1458833"/>
            <a:ext cx="125089" cy="125089"/>
          </a:xfrm>
          <a:prstGeom prst="donut">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280160" y="1371600"/>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Links</a:t>
            </a:r>
          </a:p>
        </p:txBody>
      </p:sp>
      <p:sp>
        <p:nvSpPr>
          <p:cNvPr id="14" name="TextBox 13"/>
          <p:cNvSpPr txBox="1"/>
          <p:nvPr/>
        </p:nvSpPr>
        <p:spPr>
          <a:xfrm>
            <a:off x="786384" y="1773936"/>
            <a:ext cx="4919472" cy="2368296"/>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mathworks.com/products/matlab/agentic-ai</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github.com/matlab/matlab-agentic-toolkit</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github.com/matlab/simulink-agentic-toolkit</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github.com/matlab/matlab-mcp-server</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Ebook: Guide to Agentic AI with MATLAB and Simulink</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Interactive explainer: “Agentic AI 101” on mathworks.com</a:t>
            </a:r>
          </a:p>
          <a:p>
            <a:pPr marL="127000" indent="-127000" algn="l">
              <a:lnSpc>
                <a:spcPct val="100000"/>
              </a:lnSpc>
              <a:spcAft>
                <a:spcPts val="600"/>
              </a:spcAft>
              <a:buSzPct val="100000"/>
              <a:buChar char="•"/>
            </a:pPr>
            <a:r>
              <a:rPr sz="1200" b="0" i="0">
                <a:solidFill>
                  <a:srgbClr val="262626"/>
                </a:solidFill>
                <a:latin typeface="Product Sans"/>
                <a:ea typeface="Product Sans"/>
                <a:cs typeface="Product Sans"/>
              </a:rPr>
              <a:t>Watch or star the repos — the toolkits ship updates weekly, independently of MATLAB releases</a:t>
            </a:r>
          </a:p>
        </p:txBody>
      </p:sp>
      <p:sp>
        <p:nvSpPr>
          <p:cNvPr id="15" name="Rounded Rectangle 14"/>
          <p:cNvSpPr/>
          <p:nvPr/>
        </p:nvSpPr>
        <p:spPr>
          <a:xfrm>
            <a:off x="6245352" y="1234440"/>
            <a:ext cx="5394960" cy="301752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483096" y="134416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6559539" y="1437985"/>
            <a:ext cx="90342" cy="1598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663781" y="1437985"/>
            <a:ext cx="90342" cy="1598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6651619" y="1427561"/>
            <a:ext cx="10424" cy="180685"/>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976872" y="1371600"/>
            <a:ext cx="4425696" cy="292608"/>
          </a:xfrm>
          <a:prstGeom prst="rect">
            <a:avLst/>
          </a:prstGeom>
          <a:noFill/>
        </p:spPr>
        <p:txBody>
          <a:bodyPr wrap="square" lIns="0" tIns="0" rIns="0" bIns="0" anchor="ctr">
            <a:spAutoFit/>
          </a:bodyPr>
          <a:lstStyle/>
          <a:p>
            <a:pPr marL="0" indent="0" algn="l">
              <a:lnSpc>
                <a:spcPct val="100000"/>
              </a:lnSpc>
              <a:spcAft>
                <a:spcPts val="400"/>
              </a:spcAft>
              <a:buNone/>
            </a:pPr>
            <a:r>
              <a:rPr sz="1450" b="0" i="0">
                <a:solidFill>
                  <a:srgbClr val="1F3864"/>
                </a:solidFill>
                <a:latin typeface="Product Sans"/>
                <a:ea typeface="Product Sans"/>
                <a:cs typeface="Product Sans"/>
              </a:rPr>
              <a:t>Go deeper — instructor-led training</a:t>
            </a:r>
          </a:p>
        </p:txBody>
      </p:sp>
      <p:sp>
        <p:nvSpPr>
          <p:cNvPr id="21" name="TextBox 20"/>
          <p:cNvSpPr txBox="1"/>
          <p:nvPr/>
        </p:nvSpPr>
        <p:spPr>
          <a:xfrm>
            <a:off x="6483096" y="1773936"/>
            <a:ext cx="4919472" cy="630942"/>
          </a:xfrm>
          <a:prstGeom prst="rect">
            <a:avLst/>
          </a:prstGeom>
          <a:noFill/>
        </p:spPr>
        <p:txBody>
          <a:bodyPr wrap="square" lIns="0" tIns="0" rIns="0" bIns="0" anchor="t">
            <a:spAutoFit/>
          </a:bodyPr>
          <a:lstStyle/>
          <a:p>
            <a:pPr marL="127000" indent="-127000" algn="l">
              <a:lnSpc>
                <a:spcPct val="100000"/>
              </a:lnSpc>
              <a:spcAft>
                <a:spcPts val="600"/>
              </a:spcAft>
              <a:buSzPct val="100000"/>
              <a:buChar char="•"/>
            </a:pPr>
            <a:r>
              <a:rPr sz="1200" b="0" i="0" dirty="0">
                <a:solidFill>
                  <a:srgbClr val="262626"/>
                </a:solidFill>
                <a:latin typeface="Product Sans"/>
                <a:ea typeface="Product Sans"/>
                <a:cs typeface="Product Sans"/>
              </a:rPr>
              <a:t>Today's session is the compressed preview of both</a:t>
            </a:r>
          </a:p>
          <a:p>
            <a:pPr marL="127000" indent="-127000" algn="l">
              <a:lnSpc>
                <a:spcPct val="100000"/>
              </a:lnSpc>
              <a:spcAft>
                <a:spcPts val="600"/>
              </a:spcAft>
              <a:buSzPct val="100000"/>
              <a:buChar char="•"/>
            </a:pPr>
            <a:r>
              <a:rPr sz="1200" b="0" i="0" dirty="0">
                <a:solidFill>
                  <a:srgbClr val="262626"/>
                </a:solidFill>
                <a:latin typeface="Product Sans"/>
                <a:ea typeface="Product Sans"/>
                <a:cs typeface="Product Sans"/>
              </a:rPr>
              <a:t>Available as private events for research groups, departments and corporate labs</a:t>
            </a:r>
          </a:p>
        </p:txBody>
      </p:sp>
      <p:sp>
        <p:nvSpPr>
          <p:cNvPr id="22" name="Rounded Rectangle 21"/>
          <p:cNvSpPr/>
          <p:nvPr/>
        </p:nvSpPr>
        <p:spPr>
          <a:xfrm>
            <a:off x="548640" y="4389120"/>
            <a:ext cx="11091672" cy="1143000"/>
          </a:xfrm>
          <a:prstGeom prst="roundRect">
            <a:avLst>
              <a:gd name="adj" fmla="val 4500"/>
            </a:avLst>
          </a:prstGeom>
          <a:solidFill>
            <a:srgbClr val="1F3864"/>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7240" y="4498848"/>
            <a:ext cx="10634472" cy="274320"/>
          </a:xfrm>
          <a:prstGeom prst="rect">
            <a:avLst/>
          </a:prstGeom>
          <a:noFill/>
        </p:spPr>
        <p:txBody>
          <a:bodyPr wrap="square" lIns="0" tIns="0" rIns="0" bIns="0" anchor="t">
            <a:spAutoFit/>
          </a:bodyPr>
          <a:lstStyle/>
          <a:p>
            <a:pPr marL="0" indent="0" algn="l">
              <a:lnSpc>
                <a:spcPct val="100000"/>
              </a:lnSpc>
              <a:spcAft>
                <a:spcPts val="400"/>
              </a:spcAft>
              <a:buNone/>
            </a:pPr>
            <a:r>
              <a:rPr sz="1250" b="0" i="0">
                <a:solidFill>
                  <a:srgbClr val="FFFFFF"/>
                </a:solidFill>
                <a:latin typeface="Product Sans"/>
                <a:ea typeface="Product Sans"/>
                <a:cs typeface="Product Sans"/>
              </a:rPr>
              <a:t>THIS WEEK — PICK ONE</a:t>
            </a:r>
          </a:p>
        </p:txBody>
      </p:sp>
      <p:sp>
        <p:nvSpPr>
          <p:cNvPr id="24" name="TextBox 23"/>
          <p:cNvSpPr txBox="1"/>
          <p:nvPr/>
        </p:nvSpPr>
        <p:spPr>
          <a:xfrm>
            <a:off x="777240" y="4828032"/>
            <a:ext cx="10634472" cy="640080"/>
          </a:xfrm>
          <a:prstGeom prst="rect">
            <a:avLst/>
          </a:prstGeom>
          <a:noFill/>
        </p:spPr>
        <p:txBody>
          <a:bodyPr wrap="square" lIns="0" tIns="0" rIns="0" bIns="0" anchor="t">
            <a:spAutoFit/>
          </a:bodyPr>
          <a:lstStyle/>
          <a:p>
            <a:pPr marL="127000" indent="-127000" algn="l">
              <a:lnSpc>
                <a:spcPct val="100000"/>
              </a:lnSpc>
              <a:spcAft>
                <a:spcPts val="400"/>
              </a:spcAft>
              <a:buSzPct val="100000"/>
              <a:buChar char="•"/>
            </a:pPr>
            <a:r>
              <a:rPr sz="1250" b="0" i="0">
                <a:solidFill>
                  <a:srgbClr val="FFFFFF"/>
                </a:solidFill>
                <a:latin typeface="Product Sans"/>
                <a:ea typeface="Product Sans"/>
                <a:cs typeface="Product Sans"/>
              </a:rPr>
              <a:t>Hand the agent one model you already maintain and ask only for the read-only overview. No edits, no risk.</a:t>
            </a:r>
          </a:p>
          <a:p>
            <a:pPr marL="127000" indent="-127000" algn="l">
              <a:lnSpc>
                <a:spcPct val="100000"/>
              </a:lnSpc>
              <a:spcAft>
                <a:spcPts val="400"/>
              </a:spcAft>
              <a:buSzPct val="100000"/>
              <a:buChar char="•"/>
            </a:pPr>
            <a:r>
              <a:rPr sz="1250" b="0" i="0">
                <a:solidFill>
                  <a:srgbClr val="FFFFFF"/>
                </a:solidFill>
                <a:latin typeface="Product Sans"/>
                <a:ea typeface="Product Sans"/>
                <a:cs typeface="Product Sans"/>
              </a:rPr>
              <a:t>Or take one analysis you run by hand every month and ask for it as a live script you can re-run.</a:t>
            </a:r>
          </a:p>
        </p:txBody>
      </p:sp>
      <p:sp>
        <p:nvSpPr>
          <p:cNvPr id="25" name="Rounded Rectangle 24"/>
          <p:cNvSpPr/>
          <p:nvPr/>
        </p:nvSpPr>
        <p:spPr>
          <a:xfrm>
            <a:off x="548640" y="571500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85800" y="571500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We can run a pilot with your group: your models, your standards, your machines — and a custom skill set for ANCL.</a:t>
            </a:r>
          </a:p>
        </p:txBody>
      </p:sp>
      <p:sp>
        <p:nvSpPr>
          <p:cNvPr id="27" name="TextBox 26"/>
          <p:cNvSpPr txBox="1"/>
          <p:nvPr/>
        </p:nvSpPr>
        <p:spPr>
          <a:xfrm>
            <a:off x="3291840" y="6217920"/>
            <a:ext cx="8366760" cy="219456"/>
          </a:xfrm>
          <a:prstGeom prst="rect">
            <a:avLst/>
          </a:prstGeom>
          <a:noFill/>
        </p:spPr>
        <p:txBody>
          <a:bodyPr wrap="square" lIns="0" tIns="0" rIns="0" bIns="0" anchor="ctr">
            <a:spAutoFit/>
          </a:bodyPr>
          <a:lstStyle/>
          <a:p>
            <a:pPr marL="0" indent="0" algn="r">
              <a:lnSpc>
                <a:spcPct val="100000"/>
              </a:lnSpc>
              <a:spcAft>
                <a:spcPts val="400"/>
              </a:spcAft>
              <a:buNone/>
            </a:pPr>
            <a:r>
              <a:rPr sz="950" b="0" i="1">
                <a:solidFill>
                  <a:srgbClr val="595959"/>
                </a:solidFill>
                <a:latin typeface="Product Sans"/>
                <a:ea typeface="Product Sans"/>
                <a:cs typeface="Product Sans"/>
              </a:rPr>
              <a:t>Deck built and verified on MATLAB R2026a Update 4 · every demo timing measured, not estimated · Sep 2026</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3.png"/>
          <p:cNvPicPr>
            <a:picLocks noChangeAspect="1"/>
          </p:cNvPicPr>
          <p:nvPr/>
        </p:nvPicPr>
        <p:blipFill>
          <a:blip r:embed="rId2"/>
          <a:stretch>
            <a:fillRect/>
          </a:stretch>
        </p:blipFill>
        <p:spPr>
          <a:xfrm>
            <a:off x="0" y="1737360"/>
            <a:ext cx="12191969" cy="2103120"/>
          </a:xfrm>
          <a:prstGeom prst="rect">
            <a:avLst/>
          </a:prstGeom>
        </p:spPr>
      </p:pic>
      <p:sp>
        <p:nvSpPr>
          <p:cNvPr id="3" name="TextBox 2"/>
          <p:cNvSpPr txBox="1"/>
          <p:nvPr/>
        </p:nvSpPr>
        <p:spPr>
          <a:xfrm>
            <a:off x="731520" y="2148840"/>
            <a:ext cx="10725912" cy="914400"/>
          </a:xfrm>
          <a:prstGeom prst="rect">
            <a:avLst/>
          </a:prstGeom>
          <a:noFill/>
        </p:spPr>
        <p:txBody>
          <a:bodyPr wrap="square" lIns="0" tIns="0" rIns="0" bIns="0" anchor="ctr">
            <a:spAutoFit/>
          </a:bodyPr>
          <a:lstStyle/>
          <a:p>
            <a:pPr marL="0" indent="0" algn="ctr">
              <a:lnSpc>
                <a:spcPct val="100000"/>
              </a:lnSpc>
              <a:spcAft>
                <a:spcPts val="400"/>
              </a:spcAft>
              <a:buNone/>
            </a:pPr>
            <a:r>
              <a:rPr sz="4000" b="0" i="0">
                <a:solidFill>
                  <a:srgbClr val="FFFFFF"/>
                </a:solidFill>
                <a:latin typeface="Product Sans"/>
                <a:ea typeface="Product Sans"/>
                <a:cs typeface="Product Sans"/>
              </a:rPr>
              <a:t>Questions?</a:t>
            </a:r>
          </a:p>
        </p:txBody>
      </p:sp>
      <p:sp>
        <p:nvSpPr>
          <p:cNvPr id="4" name="TextBox 3"/>
          <p:cNvSpPr txBox="1"/>
          <p:nvPr/>
        </p:nvSpPr>
        <p:spPr>
          <a:xfrm>
            <a:off x="731520" y="4160520"/>
            <a:ext cx="10725912" cy="365760"/>
          </a:xfrm>
          <a:prstGeom prst="rect">
            <a:avLst/>
          </a:prstGeom>
          <a:noFill/>
        </p:spPr>
        <p:txBody>
          <a:bodyPr wrap="square" lIns="0" tIns="0" rIns="0" bIns="0" anchor="ctr">
            <a:spAutoFit/>
          </a:bodyPr>
          <a:lstStyle/>
          <a:p>
            <a:pPr marL="0" indent="0" algn="ctr">
              <a:lnSpc>
                <a:spcPct val="100000"/>
              </a:lnSpc>
              <a:spcAft>
                <a:spcPts val="400"/>
              </a:spcAft>
              <a:buNone/>
            </a:pPr>
            <a:r>
              <a:rPr sz="1450" b="0" i="0">
                <a:solidFill>
                  <a:srgbClr val="1F3864"/>
                </a:solidFill>
                <a:latin typeface="Product Sans"/>
                <a:ea typeface="Product Sans"/>
                <a:cs typeface="Product Sans"/>
              </a:rPr>
              <a:t>Koay Xian Cong  ·  Application Engineer  ·  Techsource Systems Pte Ltd</a:t>
            </a:r>
          </a:p>
        </p:txBody>
      </p:sp>
      <p:sp>
        <p:nvSpPr>
          <p:cNvPr id="5" name="TextBox 4"/>
          <p:cNvSpPr txBox="1"/>
          <p:nvPr/>
        </p:nvSpPr>
        <p:spPr>
          <a:xfrm>
            <a:off x="731520" y="4572000"/>
            <a:ext cx="10725912" cy="292608"/>
          </a:xfrm>
          <a:prstGeom prst="rect">
            <a:avLst/>
          </a:prstGeom>
          <a:noFill/>
        </p:spPr>
        <p:txBody>
          <a:bodyPr wrap="square" lIns="0" tIns="0" rIns="0" bIns="0" anchor="ctr">
            <a:spAutoFit/>
          </a:bodyPr>
          <a:lstStyle/>
          <a:p>
            <a:pPr marL="0" indent="0" algn="ctr">
              <a:lnSpc>
                <a:spcPct val="100000"/>
              </a:lnSpc>
              <a:spcAft>
                <a:spcPts val="400"/>
              </a:spcAft>
              <a:buNone/>
            </a:pPr>
            <a:r>
              <a:rPr sz="1250" b="0" i="1">
                <a:solidFill>
                  <a:srgbClr val="595959"/>
                </a:solidFill>
                <a:latin typeface="Product Sans"/>
                <a:ea typeface="Product Sans"/>
                <a:cs typeface="Product Sans"/>
              </a:rPr>
              <a:t>Ask about pilot setups, group training, and custom skills for your projects.</a:t>
            </a:r>
          </a:p>
        </p:txBody>
      </p:sp>
      <p:sp>
        <p:nvSpPr>
          <p:cNvPr id="6" name="Rounded Rectangle 5"/>
          <p:cNvSpPr/>
          <p:nvPr/>
        </p:nvSpPr>
        <p:spPr>
          <a:xfrm>
            <a:off x="3017520" y="5120640"/>
            <a:ext cx="6153912" cy="45720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017520" y="5120640"/>
            <a:ext cx="6153912" cy="45720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1F3864"/>
                </a:solidFill>
                <a:latin typeface="Product Sans"/>
                <a:ea typeface="Product Sans"/>
                <a:cs typeface="Product Sans"/>
              </a:rPr>
              <a:t>Which model or analysis would you hand to an agent first?</a:t>
            </a:r>
          </a:p>
        </p:txBody>
      </p:sp>
      <p:pic>
        <p:nvPicPr>
          <p:cNvPr id="8" name="Picture 7" descr="image.jpg"/>
          <p:cNvPicPr>
            <a:picLocks noChangeAspect="1"/>
          </p:cNvPicPr>
          <p:nvPr/>
        </p:nvPicPr>
        <p:blipFill>
          <a:blip r:embed="rId3"/>
          <a:stretch>
            <a:fillRect/>
          </a:stretch>
        </p:blipFill>
        <p:spPr>
          <a:xfrm>
            <a:off x="8796528" y="201168"/>
            <a:ext cx="1737360" cy="274320"/>
          </a:xfrm>
          <a:prstGeom prst="rect">
            <a:avLst/>
          </a:prstGeom>
        </p:spPr>
      </p:pic>
      <p:pic>
        <p:nvPicPr>
          <p:cNvPr id="9" name="Picture 8" descr="image.png"/>
          <p:cNvPicPr>
            <a:picLocks noChangeAspect="1"/>
          </p:cNvPicPr>
          <p:nvPr/>
        </p:nvPicPr>
        <p:blipFill>
          <a:blip r:embed="rId4"/>
          <a:stretch>
            <a:fillRect/>
          </a:stretch>
        </p:blipFill>
        <p:spPr>
          <a:xfrm>
            <a:off x="10716768" y="118872"/>
            <a:ext cx="969264" cy="338328"/>
          </a:xfrm>
          <a:prstGeom prst="rect">
            <a:avLst/>
          </a:prstGeom>
        </p:spPr>
      </p:pic>
      <p:sp>
        <p:nvSpPr>
          <p:cNvPr id="10" name="TextBox 9"/>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11" name="TextBox 10"/>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4"/>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46</a:t>
            </a:r>
          </a:p>
        </p:txBody>
      </p:sp>
      <p:sp>
        <p:nvSpPr>
          <p:cNvPr id="6" name="TextBox 5"/>
          <p:cNvSpPr txBox="1"/>
          <p:nvPr/>
        </p:nvSpPr>
        <p:spPr>
          <a:xfrm>
            <a:off x="1097280" y="1600200"/>
            <a:ext cx="9994392" cy="329184"/>
          </a:xfrm>
          <a:prstGeom prst="rect">
            <a:avLst/>
          </a:prstGeom>
          <a:noFill/>
        </p:spPr>
        <p:txBody>
          <a:bodyPr wrap="square" lIns="0" tIns="0" rIns="0" bIns="0" anchor="ctr">
            <a:spAutoFit/>
          </a:bodyPr>
          <a:lstStyle/>
          <a:p>
            <a:pPr marL="0" indent="0" algn="ctr">
              <a:lnSpc>
                <a:spcPct val="100000"/>
              </a:lnSpc>
              <a:spcAft>
                <a:spcPts val="400"/>
              </a:spcAft>
              <a:buNone/>
            </a:pPr>
            <a:r>
              <a:rPr sz="1350" b="0" i="0">
                <a:solidFill>
                  <a:srgbClr val="4472C4"/>
                </a:solidFill>
                <a:latin typeface="Product Sans"/>
                <a:ea typeface="Product Sans"/>
                <a:cs typeface="Product Sans"/>
              </a:rPr>
              <a:t>APPENDIX</a:t>
            </a:r>
          </a:p>
        </p:txBody>
      </p:sp>
      <p:pic>
        <p:nvPicPr>
          <p:cNvPr id="7" name="Picture 6" descr="image3.png"/>
          <p:cNvPicPr>
            <a:picLocks noChangeAspect="1"/>
          </p:cNvPicPr>
          <p:nvPr/>
        </p:nvPicPr>
        <p:blipFill>
          <a:blip r:embed="rId5"/>
          <a:stretch>
            <a:fillRect/>
          </a:stretch>
        </p:blipFill>
        <p:spPr>
          <a:xfrm>
            <a:off x="0" y="2103120"/>
            <a:ext cx="12191969" cy="1920240"/>
          </a:xfrm>
          <a:prstGeom prst="rect">
            <a:avLst/>
          </a:prstGeom>
        </p:spPr>
      </p:pic>
      <p:sp>
        <p:nvSpPr>
          <p:cNvPr id="8" name="TextBox 7"/>
          <p:cNvSpPr txBox="1"/>
          <p:nvPr/>
        </p:nvSpPr>
        <p:spPr>
          <a:xfrm>
            <a:off x="731520" y="2606040"/>
            <a:ext cx="10725912" cy="914400"/>
          </a:xfrm>
          <a:prstGeom prst="rect">
            <a:avLst/>
          </a:prstGeom>
          <a:noFill/>
        </p:spPr>
        <p:txBody>
          <a:bodyPr wrap="square" lIns="0" tIns="0" rIns="0" bIns="0" anchor="ctr">
            <a:spAutoFit/>
          </a:bodyPr>
          <a:lstStyle/>
          <a:p>
            <a:pPr marL="0" indent="0" algn="ctr">
              <a:lnSpc>
                <a:spcPct val="100000"/>
              </a:lnSpc>
              <a:spcAft>
                <a:spcPts val="400"/>
              </a:spcAft>
              <a:buNone/>
            </a:pPr>
            <a:r>
              <a:rPr sz="3300" b="0" i="0">
                <a:solidFill>
                  <a:srgbClr val="FFFFFF"/>
                </a:solidFill>
                <a:latin typeface="Product Sans"/>
                <a:ea typeface="Product Sans"/>
                <a:cs typeface="Product Sans"/>
              </a:rPr>
              <a:t>Setting it up on your own machine</a:t>
            </a:r>
          </a:p>
        </p:txBody>
      </p:sp>
      <p:sp>
        <p:nvSpPr>
          <p:cNvPr id="9" name="TextBox 8"/>
          <p:cNvSpPr txBox="1"/>
          <p:nvPr/>
        </p:nvSpPr>
        <p:spPr>
          <a:xfrm>
            <a:off x="1463040" y="4251960"/>
            <a:ext cx="9262872" cy="411480"/>
          </a:xfrm>
          <a:prstGeom prst="rect">
            <a:avLst/>
          </a:prstGeom>
          <a:noFill/>
        </p:spPr>
        <p:txBody>
          <a:bodyPr wrap="square" lIns="0" tIns="0" rIns="0" bIns="0" anchor="ctr">
            <a:spAutoFit/>
          </a:bodyPr>
          <a:lstStyle/>
          <a:p>
            <a:pPr marL="0" indent="0" algn="ctr">
              <a:lnSpc>
                <a:spcPct val="100000"/>
              </a:lnSpc>
              <a:spcAft>
                <a:spcPts val="400"/>
              </a:spcAft>
              <a:buNone/>
            </a:pPr>
            <a:r>
              <a:rPr sz="1500" b="0" i="1">
                <a:solidFill>
                  <a:srgbClr val="595959"/>
                </a:solidFill>
                <a:latin typeface="Product Sans"/>
                <a:ea typeface="Product Sans"/>
                <a:cs typeface="Product Sans"/>
              </a:rPr>
              <a:t>Six steps · verification on every platform · what to do when it breaks</a:t>
            </a:r>
          </a:p>
        </p:txBody>
      </p:sp>
      <p:sp>
        <p:nvSpPr>
          <p:cNvPr id="10" name="Rounded Rectangle 9"/>
          <p:cNvSpPr/>
          <p:nvPr/>
        </p:nvSpPr>
        <p:spPr>
          <a:xfrm>
            <a:off x="2121408" y="4892040"/>
            <a:ext cx="2468880" cy="38404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121408" y="4892040"/>
            <a:ext cx="2468880" cy="384048"/>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1F3864"/>
                </a:solidFill>
                <a:latin typeface="Product Sans"/>
                <a:ea typeface="Product Sans"/>
                <a:cs typeface="Product Sans"/>
              </a:rPr>
              <a:t>~15 minutes, once</a:t>
            </a:r>
          </a:p>
        </p:txBody>
      </p:sp>
      <p:sp>
        <p:nvSpPr>
          <p:cNvPr id="12" name="Rounded Rectangle 11"/>
          <p:cNvSpPr/>
          <p:nvPr/>
        </p:nvSpPr>
        <p:spPr>
          <a:xfrm>
            <a:off x="4864608" y="4892040"/>
            <a:ext cx="2468880" cy="38404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864608" y="4892040"/>
            <a:ext cx="2468880" cy="384048"/>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1F3864"/>
                </a:solidFill>
                <a:latin typeface="Product Sans"/>
                <a:ea typeface="Product Sans"/>
                <a:cs typeface="Product Sans"/>
              </a:rPr>
              <a:t>Runs on your MATLAB licence</a:t>
            </a:r>
          </a:p>
        </p:txBody>
      </p:sp>
      <p:sp>
        <p:nvSpPr>
          <p:cNvPr id="14" name="Rounded Rectangle 13"/>
          <p:cNvSpPr/>
          <p:nvPr/>
        </p:nvSpPr>
        <p:spPr>
          <a:xfrm>
            <a:off x="7607808" y="4892040"/>
            <a:ext cx="2468880" cy="38404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07808" y="4892040"/>
            <a:ext cx="2468880" cy="384048"/>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1F3864"/>
                </a:solidFill>
                <a:latin typeface="Product Sans"/>
                <a:ea typeface="Product Sans"/>
                <a:cs typeface="Product Sans"/>
              </a:rPr>
              <a:t>Ask us if you get stuck</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47</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First-time setup — the whole path on one slide</a:t>
            </a:r>
            <a:endParaRPr lang="en-US" sz="2400" dirty="0"/>
          </a:p>
        </p:txBody>
      </p:sp>
      <p:sp>
        <p:nvSpPr>
          <p:cNvPr id="7" name="Text 3"/>
          <p:cNvSpPr/>
          <p:nvPr/>
        </p:nvSpPr>
        <p:spPr>
          <a:xfrm>
            <a:off x="548640" y="859536"/>
            <a:ext cx="8869680" cy="292608"/>
          </a:xfrm>
          <a:prstGeom prst="rect">
            <a:avLst/>
          </a:prstGeom>
          <a:noFill/>
          <a:ln/>
        </p:spPr>
        <p:txBody>
          <a:bodyPr wrap="square" lIns="0" tIns="0" rIns="0" bIns="0" rtlCol="0" anchor="ctr"/>
          <a:lstStyle/>
          <a:p>
            <a:pPr marL="0" indent="0">
              <a:buNone/>
            </a:pPr>
            <a:r>
              <a:rPr lang="en-US" sz="1250" b="0" i="1" dirty="0">
                <a:solidFill>
                  <a:srgbClr val="595959"/>
                </a:solidFill>
                <a:latin typeface="Product Sans" pitchFamily="34" charset="0"/>
                <a:ea typeface="Product Sans" pitchFamily="34" charset="-122"/>
                <a:cs typeface="Product Sans" pitchFamily="34" charset="-120"/>
              </a:rPr>
              <a:t>Six steps, ~15 minutes. Screenshots for each step follow.</a:t>
            </a:r>
            <a:endParaRPr lang="en-US" sz="1250" dirty="0"/>
          </a:p>
        </p:txBody>
      </p:sp>
      <p:sp>
        <p:nvSpPr>
          <p:cNvPr id="8" name="Shape 4"/>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9" name="Text 5"/>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APPENDIX</a:t>
            </a:r>
            <a:endParaRPr lang="en-US" sz="950" dirty="0"/>
          </a:p>
        </p:txBody>
      </p:sp>
      <p:sp>
        <p:nvSpPr>
          <p:cNvPr id="10" name="Shape 6"/>
          <p:cNvSpPr/>
          <p:nvPr/>
        </p:nvSpPr>
        <p:spPr>
          <a:xfrm>
            <a:off x="548640" y="1417320"/>
            <a:ext cx="457200" cy="457200"/>
          </a:xfrm>
          <a:prstGeom prst="roundRect">
            <a:avLst>
              <a:gd name="adj" fmla="val 18000"/>
            </a:avLst>
          </a:prstGeom>
          <a:solidFill>
            <a:srgbClr val="4472C4"/>
          </a:solidFill>
          <a:ln w="12700">
            <a:solidFill>
              <a:srgbClr val="4472C4"/>
            </a:solidFill>
            <a:prstDash val="solid"/>
          </a:ln>
        </p:spPr>
        <p:txBody>
          <a:bodyPr/>
          <a:lstStyle/>
          <a:p>
            <a:endParaRPr lang="en-US"/>
          </a:p>
        </p:txBody>
      </p:sp>
      <p:sp>
        <p:nvSpPr>
          <p:cNvPr id="11" name="Text 7"/>
          <p:cNvSpPr/>
          <p:nvPr/>
        </p:nvSpPr>
        <p:spPr>
          <a:xfrm>
            <a:off x="548640" y="1417320"/>
            <a:ext cx="457200" cy="457200"/>
          </a:xfrm>
          <a:prstGeom prst="rect">
            <a:avLst/>
          </a:prstGeom>
          <a:noFill/>
          <a:ln/>
        </p:spPr>
        <p:txBody>
          <a:bodyPr wrap="square" lIns="254" tIns="254" rIns="254" bIns="254" rtlCol="0" anchor="ctr"/>
          <a:lstStyle/>
          <a:p>
            <a:pPr marL="0" indent="0" algn="ctr">
              <a:buNone/>
            </a:pPr>
            <a:r>
              <a:rPr lang="en-US" sz="1600" b="0" dirty="0">
                <a:solidFill>
                  <a:srgbClr val="FFFFFF"/>
                </a:solidFill>
                <a:latin typeface="Product Sans" pitchFamily="34" charset="0"/>
                <a:ea typeface="Product Sans" pitchFamily="34" charset="-122"/>
                <a:cs typeface="Product Sans" pitchFamily="34" charset="-120"/>
              </a:rPr>
              <a:t>1</a:t>
            </a:r>
            <a:endParaRPr lang="en-US" sz="1600" dirty="0"/>
          </a:p>
        </p:txBody>
      </p:sp>
      <p:sp>
        <p:nvSpPr>
          <p:cNvPr id="12" name="Text 8"/>
          <p:cNvSpPr/>
          <p:nvPr/>
        </p:nvSpPr>
        <p:spPr>
          <a:xfrm>
            <a:off x="1115568" y="1399032"/>
            <a:ext cx="2788920" cy="310896"/>
          </a:xfrm>
          <a:prstGeom prst="rect">
            <a:avLst/>
          </a:prstGeom>
          <a:noFill/>
          <a:ln/>
        </p:spPr>
        <p:txBody>
          <a:bodyPr wrap="square" lIns="0" tIns="0" rIns="0" bIns="0" rtlCol="0" anchor="ctr"/>
          <a:lstStyle/>
          <a:p>
            <a:pPr marL="0" indent="0">
              <a:buNone/>
            </a:pPr>
            <a:r>
              <a:rPr lang="en-US" sz="1500" b="0" dirty="0">
                <a:solidFill>
                  <a:srgbClr val="1F3864"/>
                </a:solidFill>
                <a:latin typeface="Product Sans" pitchFamily="34" charset="0"/>
                <a:ea typeface="Product Sans" pitchFamily="34" charset="-122"/>
                <a:cs typeface="Product Sans" pitchFamily="34" charset="-120"/>
              </a:rPr>
              <a:t>Download</a:t>
            </a:r>
            <a:endParaRPr lang="en-US" sz="1500" dirty="0"/>
          </a:p>
        </p:txBody>
      </p:sp>
      <p:sp>
        <p:nvSpPr>
          <p:cNvPr id="13" name="Text 9"/>
          <p:cNvSpPr/>
          <p:nvPr/>
        </p:nvSpPr>
        <p:spPr>
          <a:xfrm>
            <a:off x="1115568" y="1746504"/>
            <a:ext cx="3063240" cy="1005840"/>
          </a:xfrm>
          <a:prstGeom prst="rect">
            <a:avLst/>
          </a:prstGeom>
          <a:noFill/>
          <a:ln/>
        </p:spPr>
        <p:txBody>
          <a:bodyPr wrap="square" lIns="0" tIns="0" rIns="0" bIns="0" rtlCol="0" anchor="t"/>
          <a:lstStyle/>
          <a:p>
            <a:pPr marL="0" indent="0">
              <a:buNone/>
            </a:pPr>
            <a:r>
              <a:rPr lang="en-US" sz="1100" b="0" dirty="0">
                <a:solidFill>
                  <a:srgbClr val="262626"/>
                </a:solidFill>
                <a:latin typeface="Product Sans" pitchFamily="34" charset="0"/>
                <a:ea typeface="Product Sans" pitchFamily="34" charset="-122"/>
                <a:cs typeface="Product Sans" pitchFamily="34" charset="-120"/>
              </a:rPr>
              <a:t>agenticToolkitInstaller.mltbx from GitHub Releases</a:t>
            </a:r>
            <a:endParaRPr lang="en-US" sz="1100" dirty="0"/>
          </a:p>
        </p:txBody>
      </p:sp>
      <p:sp>
        <p:nvSpPr>
          <p:cNvPr id="14" name="Shape 10"/>
          <p:cNvSpPr/>
          <p:nvPr/>
        </p:nvSpPr>
        <p:spPr>
          <a:xfrm>
            <a:off x="4005072" y="1554480"/>
            <a:ext cx="237744" cy="182880"/>
          </a:xfrm>
          <a:prstGeom prst="rightArrow">
            <a:avLst/>
          </a:prstGeom>
          <a:solidFill>
            <a:srgbClr val="4472C4"/>
          </a:solidFill>
          <a:ln w="12700">
            <a:solidFill>
              <a:srgbClr val="4472C4"/>
            </a:solidFill>
            <a:prstDash val="solid"/>
          </a:ln>
        </p:spPr>
        <p:txBody>
          <a:bodyPr/>
          <a:lstStyle/>
          <a:p>
            <a:endParaRPr lang="en-US"/>
          </a:p>
        </p:txBody>
      </p:sp>
      <p:sp>
        <p:nvSpPr>
          <p:cNvPr id="15" name="Shape 11"/>
          <p:cNvSpPr/>
          <p:nvPr/>
        </p:nvSpPr>
        <p:spPr>
          <a:xfrm>
            <a:off x="4325112" y="1417320"/>
            <a:ext cx="457200" cy="457200"/>
          </a:xfrm>
          <a:prstGeom prst="roundRect">
            <a:avLst>
              <a:gd name="adj" fmla="val 18000"/>
            </a:avLst>
          </a:prstGeom>
          <a:solidFill>
            <a:srgbClr val="4472C4"/>
          </a:solidFill>
          <a:ln w="12700">
            <a:solidFill>
              <a:srgbClr val="4472C4"/>
            </a:solidFill>
            <a:prstDash val="solid"/>
          </a:ln>
        </p:spPr>
        <p:txBody>
          <a:bodyPr/>
          <a:lstStyle/>
          <a:p>
            <a:endParaRPr lang="en-US"/>
          </a:p>
        </p:txBody>
      </p:sp>
      <p:sp>
        <p:nvSpPr>
          <p:cNvPr id="16" name="Text 12"/>
          <p:cNvSpPr/>
          <p:nvPr/>
        </p:nvSpPr>
        <p:spPr>
          <a:xfrm>
            <a:off x="4325112" y="1417320"/>
            <a:ext cx="457200" cy="457200"/>
          </a:xfrm>
          <a:prstGeom prst="rect">
            <a:avLst/>
          </a:prstGeom>
          <a:noFill/>
          <a:ln/>
        </p:spPr>
        <p:txBody>
          <a:bodyPr wrap="square" lIns="254" tIns="254" rIns="254" bIns="254" rtlCol="0" anchor="ctr"/>
          <a:lstStyle/>
          <a:p>
            <a:pPr marL="0" indent="0" algn="ctr">
              <a:buNone/>
            </a:pPr>
            <a:r>
              <a:rPr lang="en-US" sz="1600" b="0" dirty="0">
                <a:solidFill>
                  <a:srgbClr val="FFFFFF"/>
                </a:solidFill>
                <a:latin typeface="Product Sans" pitchFamily="34" charset="0"/>
                <a:ea typeface="Product Sans" pitchFamily="34" charset="-122"/>
                <a:cs typeface="Product Sans" pitchFamily="34" charset="-120"/>
              </a:rPr>
              <a:t>2</a:t>
            </a:r>
            <a:endParaRPr lang="en-US" sz="1600" dirty="0"/>
          </a:p>
        </p:txBody>
      </p:sp>
      <p:sp>
        <p:nvSpPr>
          <p:cNvPr id="17" name="Text 13"/>
          <p:cNvSpPr/>
          <p:nvPr/>
        </p:nvSpPr>
        <p:spPr>
          <a:xfrm>
            <a:off x="4892040" y="1399032"/>
            <a:ext cx="2788920" cy="310896"/>
          </a:xfrm>
          <a:prstGeom prst="rect">
            <a:avLst/>
          </a:prstGeom>
          <a:noFill/>
          <a:ln/>
        </p:spPr>
        <p:txBody>
          <a:bodyPr wrap="square" lIns="0" tIns="0" rIns="0" bIns="0" rtlCol="0" anchor="ctr"/>
          <a:lstStyle/>
          <a:p>
            <a:pPr marL="0" indent="0">
              <a:buNone/>
            </a:pPr>
            <a:r>
              <a:rPr lang="en-US" sz="1500" b="0" dirty="0">
                <a:solidFill>
                  <a:srgbClr val="1F3864"/>
                </a:solidFill>
                <a:latin typeface="Product Sans" pitchFamily="34" charset="0"/>
                <a:ea typeface="Product Sans" pitchFamily="34" charset="-122"/>
                <a:cs typeface="Product Sans" pitchFamily="34" charset="-120"/>
              </a:rPr>
              <a:t>Open it</a:t>
            </a:r>
            <a:endParaRPr lang="en-US" sz="1500" dirty="0"/>
          </a:p>
        </p:txBody>
      </p:sp>
      <p:sp>
        <p:nvSpPr>
          <p:cNvPr id="18" name="Text 14"/>
          <p:cNvSpPr/>
          <p:nvPr/>
        </p:nvSpPr>
        <p:spPr>
          <a:xfrm>
            <a:off x="4892040" y="1746504"/>
            <a:ext cx="3063240" cy="1005840"/>
          </a:xfrm>
          <a:prstGeom prst="rect">
            <a:avLst/>
          </a:prstGeom>
          <a:noFill/>
          <a:ln/>
        </p:spPr>
        <p:txBody>
          <a:bodyPr wrap="square" lIns="0" tIns="0" rIns="0" bIns="0" rtlCol="0" anchor="t"/>
          <a:lstStyle/>
          <a:p>
            <a:pPr marL="0" indent="0">
              <a:buNone/>
            </a:pPr>
            <a:r>
              <a:rPr lang="en-US" sz="1100" b="0" dirty="0">
                <a:solidFill>
                  <a:srgbClr val="262626"/>
                </a:solidFill>
                <a:latin typeface="Product Sans" pitchFamily="34" charset="0"/>
                <a:ea typeface="Product Sans" pitchFamily="34" charset="-122"/>
                <a:cs typeface="Product Sans" pitchFamily="34" charset="-120"/>
              </a:rPr>
              <a:t>installs the Setup add-on into MATLAB</a:t>
            </a:r>
            <a:endParaRPr lang="en-US" sz="1100" dirty="0"/>
          </a:p>
        </p:txBody>
      </p:sp>
      <p:sp>
        <p:nvSpPr>
          <p:cNvPr id="19" name="Shape 15"/>
          <p:cNvSpPr/>
          <p:nvPr/>
        </p:nvSpPr>
        <p:spPr>
          <a:xfrm>
            <a:off x="7781544" y="1554480"/>
            <a:ext cx="237744" cy="182880"/>
          </a:xfrm>
          <a:prstGeom prst="rightArrow">
            <a:avLst/>
          </a:prstGeom>
          <a:solidFill>
            <a:srgbClr val="4472C4"/>
          </a:solidFill>
          <a:ln w="12700">
            <a:solidFill>
              <a:srgbClr val="4472C4"/>
            </a:solidFill>
            <a:prstDash val="solid"/>
          </a:ln>
        </p:spPr>
        <p:txBody>
          <a:bodyPr/>
          <a:lstStyle/>
          <a:p>
            <a:endParaRPr lang="en-US"/>
          </a:p>
        </p:txBody>
      </p:sp>
      <p:sp>
        <p:nvSpPr>
          <p:cNvPr id="20" name="Shape 16"/>
          <p:cNvSpPr/>
          <p:nvPr/>
        </p:nvSpPr>
        <p:spPr>
          <a:xfrm>
            <a:off x="8101584" y="1417320"/>
            <a:ext cx="457200" cy="457200"/>
          </a:xfrm>
          <a:prstGeom prst="roundRect">
            <a:avLst>
              <a:gd name="adj" fmla="val 18000"/>
            </a:avLst>
          </a:prstGeom>
          <a:solidFill>
            <a:srgbClr val="4472C4"/>
          </a:solidFill>
          <a:ln w="12700">
            <a:solidFill>
              <a:srgbClr val="4472C4"/>
            </a:solidFill>
            <a:prstDash val="solid"/>
          </a:ln>
        </p:spPr>
        <p:txBody>
          <a:bodyPr/>
          <a:lstStyle/>
          <a:p>
            <a:endParaRPr lang="en-US"/>
          </a:p>
        </p:txBody>
      </p:sp>
      <p:sp>
        <p:nvSpPr>
          <p:cNvPr id="21" name="Text 17"/>
          <p:cNvSpPr/>
          <p:nvPr/>
        </p:nvSpPr>
        <p:spPr>
          <a:xfrm>
            <a:off x="8101584" y="1417320"/>
            <a:ext cx="457200" cy="457200"/>
          </a:xfrm>
          <a:prstGeom prst="rect">
            <a:avLst/>
          </a:prstGeom>
          <a:noFill/>
          <a:ln/>
        </p:spPr>
        <p:txBody>
          <a:bodyPr wrap="square" lIns="254" tIns="254" rIns="254" bIns="254" rtlCol="0" anchor="ctr"/>
          <a:lstStyle/>
          <a:p>
            <a:pPr marL="0" indent="0" algn="ctr">
              <a:buNone/>
            </a:pPr>
            <a:r>
              <a:rPr lang="en-US" sz="1600" b="0" dirty="0">
                <a:solidFill>
                  <a:srgbClr val="FFFFFF"/>
                </a:solidFill>
                <a:latin typeface="Product Sans" pitchFamily="34" charset="0"/>
                <a:ea typeface="Product Sans" pitchFamily="34" charset="-122"/>
                <a:cs typeface="Product Sans" pitchFamily="34" charset="-120"/>
              </a:rPr>
              <a:t>3</a:t>
            </a:r>
            <a:endParaRPr lang="en-US" sz="1600" dirty="0"/>
          </a:p>
        </p:txBody>
      </p:sp>
      <p:sp>
        <p:nvSpPr>
          <p:cNvPr id="22" name="Text 18"/>
          <p:cNvSpPr/>
          <p:nvPr/>
        </p:nvSpPr>
        <p:spPr>
          <a:xfrm>
            <a:off x="8668512" y="1399032"/>
            <a:ext cx="2788920" cy="310896"/>
          </a:xfrm>
          <a:prstGeom prst="rect">
            <a:avLst/>
          </a:prstGeom>
          <a:noFill/>
          <a:ln/>
        </p:spPr>
        <p:txBody>
          <a:bodyPr wrap="square" lIns="0" tIns="0" rIns="0" bIns="0" rtlCol="0" anchor="ctr"/>
          <a:lstStyle/>
          <a:p>
            <a:pPr marL="0" indent="0">
              <a:buNone/>
            </a:pPr>
            <a:r>
              <a:rPr lang="en-US" sz="1500" b="0" dirty="0">
                <a:solidFill>
                  <a:srgbClr val="1F3864"/>
                </a:solidFill>
                <a:latin typeface="Product Sans" pitchFamily="34" charset="0"/>
                <a:ea typeface="Product Sans" pitchFamily="34" charset="-122"/>
                <a:cs typeface="Product Sans" pitchFamily="34" charset="-120"/>
              </a:rPr>
              <a:t>Install</a:t>
            </a:r>
            <a:endParaRPr lang="en-US" sz="1500" dirty="0"/>
          </a:p>
        </p:txBody>
      </p:sp>
      <p:sp>
        <p:nvSpPr>
          <p:cNvPr id="23" name="Text 19"/>
          <p:cNvSpPr/>
          <p:nvPr/>
        </p:nvSpPr>
        <p:spPr>
          <a:xfrm>
            <a:off x="8668512" y="1746504"/>
            <a:ext cx="3063240" cy="1005840"/>
          </a:xfrm>
          <a:prstGeom prst="rect">
            <a:avLst/>
          </a:prstGeom>
          <a:noFill/>
          <a:ln/>
        </p:spPr>
        <p:txBody>
          <a:bodyPr wrap="square" lIns="0" tIns="0" rIns="0" bIns="0" rtlCol="0" anchor="t"/>
          <a:lstStyle/>
          <a:p>
            <a:pPr marL="0" indent="0">
              <a:buNone/>
            </a:pPr>
            <a:r>
              <a:rPr lang="en-US" sz="1100" b="0" dirty="0">
                <a:solidFill>
                  <a:srgbClr val="262626"/>
                </a:solidFill>
                <a:latin typeface="Product Sans" pitchFamily="34" charset="0"/>
                <a:ea typeface="Product Sans" pitchFamily="34" charset="-122"/>
                <a:cs typeface="Product Sans" pitchFamily="34" charset="-120"/>
              </a:rPr>
              <a:t>setupAgenticToolkit("install") · pick MATLAB / Simulink / Both</a:t>
            </a:r>
            <a:endParaRPr lang="en-US" sz="1100" dirty="0"/>
          </a:p>
        </p:txBody>
      </p:sp>
      <p:sp>
        <p:nvSpPr>
          <p:cNvPr id="24" name="Shape 20"/>
          <p:cNvSpPr/>
          <p:nvPr/>
        </p:nvSpPr>
        <p:spPr>
          <a:xfrm>
            <a:off x="548640" y="3108960"/>
            <a:ext cx="457200" cy="457200"/>
          </a:xfrm>
          <a:prstGeom prst="roundRect">
            <a:avLst>
              <a:gd name="adj" fmla="val 18000"/>
            </a:avLst>
          </a:prstGeom>
          <a:solidFill>
            <a:srgbClr val="4472C4"/>
          </a:solidFill>
          <a:ln w="12700">
            <a:solidFill>
              <a:srgbClr val="4472C4"/>
            </a:solidFill>
            <a:prstDash val="solid"/>
          </a:ln>
        </p:spPr>
        <p:txBody>
          <a:bodyPr/>
          <a:lstStyle/>
          <a:p>
            <a:endParaRPr lang="en-US"/>
          </a:p>
        </p:txBody>
      </p:sp>
      <p:sp>
        <p:nvSpPr>
          <p:cNvPr id="25" name="Text 21"/>
          <p:cNvSpPr/>
          <p:nvPr/>
        </p:nvSpPr>
        <p:spPr>
          <a:xfrm>
            <a:off x="548640" y="3108960"/>
            <a:ext cx="457200" cy="457200"/>
          </a:xfrm>
          <a:prstGeom prst="rect">
            <a:avLst/>
          </a:prstGeom>
          <a:noFill/>
          <a:ln/>
        </p:spPr>
        <p:txBody>
          <a:bodyPr wrap="square" lIns="254" tIns="254" rIns="254" bIns="254" rtlCol="0" anchor="ctr"/>
          <a:lstStyle/>
          <a:p>
            <a:pPr marL="0" indent="0" algn="ctr">
              <a:buNone/>
            </a:pPr>
            <a:r>
              <a:rPr lang="en-US" sz="1600" b="0" dirty="0">
                <a:solidFill>
                  <a:srgbClr val="FFFFFF"/>
                </a:solidFill>
                <a:latin typeface="Product Sans" pitchFamily="34" charset="0"/>
                <a:ea typeface="Product Sans" pitchFamily="34" charset="-122"/>
                <a:cs typeface="Product Sans" pitchFamily="34" charset="-120"/>
              </a:rPr>
              <a:t>4</a:t>
            </a:r>
            <a:endParaRPr lang="en-US" sz="1600" dirty="0"/>
          </a:p>
        </p:txBody>
      </p:sp>
      <p:sp>
        <p:nvSpPr>
          <p:cNvPr id="26" name="Text 22"/>
          <p:cNvSpPr/>
          <p:nvPr/>
        </p:nvSpPr>
        <p:spPr>
          <a:xfrm>
            <a:off x="1115568" y="3090672"/>
            <a:ext cx="2788920" cy="310896"/>
          </a:xfrm>
          <a:prstGeom prst="rect">
            <a:avLst/>
          </a:prstGeom>
          <a:noFill/>
          <a:ln/>
        </p:spPr>
        <p:txBody>
          <a:bodyPr wrap="square" lIns="0" tIns="0" rIns="0" bIns="0" rtlCol="0" anchor="ctr"/>
          <a:lstStyle/>
          <a:p>
            <a:pPr marL="0" indent="0">
              <a:buNone/>
            </a:pPr>
            <a:r>
              <a:rPr lang="en-US" sz="1500" b="0" dirty="0">
                <a:solidFill>
                  <a:srgbClr val="1F3864"/>
                </a:solidFill>
                <a:latin typeface="Product Sans" pitchFamily="34" charset="0"/>
                <a:ea typeface="Product Sans" pitchFamily="34" charset="-122"/>
                <a:cs typeface="Product Sans" pitchFamily="34" charset="-120"/>
              </a:rPr>
              <a:t>Configure</a:t>
            </a:r>
            <a:endParaRPr lang="en-US" sz="1500" dirty="0"/>
          </a:p>
        </p:txBody>
      </p:sp>
      <p:sp>
        <p:nvSpPr>
          <p:cNvPr id="27" name="Text 23"/>
          <p:cNvSpPr/>
          <p:nvPr/>
        </p:nvSpPr>
        <p:spPr>
          <a:xfrm>
            <a:off x="1115568" y="3438144"/>
            <a:ext cx="3063240" cy="1005840"/>
          </a:xfrm>
          <a:prstGeom prst="rect">
            <a:avLst/>
          </a:prstGeom>
          <a:noFill/>
          <a:ln/>
        </p:spPr>
        <p:txBody>
          <a:bodyPr wrap="square" lIns="0" tIns="0" rIns="0" bIns="0" rtlCol="0" anchor="t"/>
          <a:lstStyle/>
          <a:p>
            <a:pPr marL="0" indent="0">
              <a:buNone/>
            </a:pPr>
            <a:r>
              <a:rPr lang="en-US" sz="1100" b="0" dirty="0">
                <a:solidFill>
                  <a:srgbClr val="262626"/>
                </a:solidFill>
                <a:latin typeface="Product Sans" pitchFamily="34" charset="0"/>
                <a:ea typeface="Product Sans" pitchFamily="34" charset="-122"/>
                <a:cs typeface="Product Sans" pitchFamily="34" charset="-120"/>
              </a:rPr>
              <a:t>pick your agents · skill groups · global or project</a:t>
            </a:r>
            <a:endParaRPr lang="en-US" sz="1100" dirty="0"/>
          </a:p>
        </p:txBody>
      </p:sp>
      <p:sp>
        <p:nvSpPr>
          <p:cNvPr id="28" name="Shape 24"/>
          <p:cNvSpPr/>
          <p:nvPr/>
        </p:nvSpPr>
        <p:spPr>
          <a:xfrm>
            <a:off x="4005072" y="3246120"/>
            <a:ext cx="237744" cy="182880"/>
          </a:xfrm>
          <a:prstGeom prst="rightArrow">
            <a:avLst/>
          </a:prstGeom>
          <a:solidFill>
            <a:srgbClr val="4472C4"/>
          </a:solidFill>
          <a:ln w="12700">
            <a:solidFill>
              <a:srgbClr val="4472C4"/>
            </a:solidFill>
            <a:prstDash val="solid"/>
          </a:ln>
        </p:spPr>
        <p:txBody>
          <a:bodyPr/>
          <a:lstStyle/>
          <a:p>
            <a:endParaRPr lang="en-US"/>
          </a:p>
        </p:txBody>
      </p:sp>
      <p:sp>
        <p:nvSpPr>
          <p:cNvPr id="29" name="Shape 25"/>
          <p:cNvSpPr/>
          <p:nvPr/>
        </p:nvSpPr>
        <p:spPr>
          <a:xfrm>
            <a:off x="4325112" y="3108960"/>
            <a:ext cx="457200" cy="457200"/>
          </a:xfrm>
          <a:prstGeom prst="roundRect">
            <a:avLst>
              <a:gd name="adj" fmla="val 18000"/>
            </a:avLst>
          </a:prstGeom>
          <a:solidFill>
            <a:srgbClr val="4472C4"/>
          </a:solidFill>
          <a:ln w="12700">
            <a:solidFill>
              <a:srgbClr val="4472C4"/>
            </a:solidFill>
            <a:prstDash val="solid"/>
          </a:ln>
        </p:spPr>
        <p:txBody>
          <a:bodyPr/>
          <a:lstStyle/>
          <a:p>
            <a:endParaRPr lang="en-US"/>
          </a:p>
        </p:txBody>
      </p:sp>
      <p:sp>
        <p:nvSpPr>
          <p:cNvPr id="30" name="Text 26"/>
          <p:cNvSpPr/>
          <p:nvPr/>
        </p:nvSpPr>
        <p:spPr>
          <a:xfrm>
            <a:off x="4325112" y="3108960"/>
            <a:ext cx="457200" cy="457200"/>
          </a:xfrm>
          <a:prstGeom prst="rect">
            <a:avLst/>
          </a:prstGeom>
          <a:noFill/>
          <a:ln/>
        </p:spPr>
        <p:txBody>
          <a:bodyPr wrap="square" lIns="254" tIns="254" rIns="254" bIns="254" rtlCol="0" anchor="ctr"/>
          <a:lstStyle/>
          <a:p>
            <a:pPr marL="0" indent="0" algn="ctr">
              <a:buNone/>
            </a:pPr>
            <a:r>
              <a:rPr lang="en-US" sz="1600" b="0" dirty="0">
                <a:solidFill>
                  <a:srgbClr val="FFFFFF"/>
                </a:solidFill>
                <a:latin typeface="Product Sans" pitchFamily="34" charset="0"/>
                <a:ea typeface="Product Sans" pitchFamily="34" charset="-122"/>
                <a:cs typeface="Product Sans" pitchFamily="34" charset="-120"/>
              </a:rPr>
              <a:t>5</a:t>
            </a:r>
            <a:endParaRPr lang="en-US" sz="1600" dirty="0"/>
          </a:p>
        </p:txBody>
      </p:sp>
      <p:sp>
        <p:nvSpPr>
          <p:cNvPr id="31" name="Text 27"/>
          <p:cNvSpPr/>
          <p:nvPr/>
        </p:nvSpPr>
        <p:spPr>
          <a:xfrm>
            <a:off x="4892040" y="3090672"/>
            <a:ext cx="2788920" cy="310896"/>
          </a:xfrm>
          <a:prstGeom prst="rect">
            <a:avLst/>
          </a:prstGeom>
          <a:noFill/>
          <a:ln/>
        </p:spPr>
        <p:txBody>
          <a:bodyPr wrap="square" lIns="0" tIns="0" rIns="0" bIns="0" rtlCol="0" anchor="ctr"/>
          <a:lstStyle/>
          <a:p>
            <a:pPr marL="0" indent="0">
              <a:buNone/>
            </a:pPr>
            <a:r>
              <a:rPr lang="en-US" sz="1500" b="0" dirty="0">
                <a:solidFill>
                  <a:srgbClr val="1F3864"/>
                </a:solidFill>
                <a:latin typeface="Product Sans" pitchFamily="34" charset="0"/>
                <a:ea typeface="Product Sans" pitchFamily="34" charset="-122"/>
                <a:cs typeface="Product Sans" pitchFamily="34" charset="-120"/>
              </a:rPr>
              <a:t>Share</a:t>
            </a:r>
            <a:endParaRPr lang="en-US" sz="1500" dirty="0"/>
          </a:p>
        </p:txBody>
      </p:sp>
      <p:sp>
        <p:nvSpPr>
          <p:cNvPr id="32" name="Text 28"/>
          <p:cNvSpPr/>
          <p:nvPr/>
        </p:nvSpPr>
        <p:spPr>
          <a:xfrm>
            <a:off x="4892040" y="3438144"/>
            <a:ext cx="3063240" cy="1005840"/>
          </a:xfrm>
          <a:prstGeom prst="rect">
            <a:avLst/>
          </a:prstGeom>
          <a:noFill/>
          <a:ln/>
        </p:spPr>
        <p:txBody>
          <a:bodyPr wrap="square" lIns="0" tIns="0" rIns="0" bIns="0" rtlCol="0" anchor="t"/>
          <a:lstStyle/>
          <a:p>
            <a:pPr marL="0" indent="0">
              <a:buNone/>
            </a:pPr>
            <a:r>
              <a:rPr lang="en-US" sz="1100" b="0" dirty="0">
                <a:solidFill>
                  <a:srgbClr val="262626"/>
                </a:solidFill>
                <a:latin typeface="Product Sans" pitchFamily="34" charset="0"/>
                <a:ea typeface="Product Sans" pitchFamily="34" charset="-122"/>
                <a:cs typeface="Product Sans" pitchFamily="34" charset="-120"/>
              </a:rPr>
              <a:t>shareMATLABSession() (or satk_initialize) in the MATLAB you want the agent to use</a:t>
            </a:r>
            <a:endParaRPr lang="en-US" sz="1100" dirty="0"/>
          </a:p>
        </p:txBody>
      </p:sp>
      <p:sp>
        <p:nvSpPr>
          <p:cNvPr id="33" name="Shape 29"/>
          <p:cNvSpPr/>
          <p:nvPr/>
        </p:nvSpPr>
        <p:spPr>
          <a:xfrm>
            <a:off x="7781544" y="3246120"/>
            <a:ext cx="237744" cy="182880"/>
          </a:xfrm>
          <a:prstGeom prst="rightArrow">
            <a:avLst/>
          </a:prstGeom>
          <a:solidFill>
            <a:srgbClr val="4472C4"/>
          </a:solidFill>
          <a:ln w="12700">
            <a:solidFill>
              <a:srgbClr val="4472C4"/>
            </a:solidFill>
            <a:prstDash val="solid"/>
          </a:ln>
        </p:spPr>
        <p:txBody>
          <a:bodyPr/>
          <a:lstStyle/>
          <a:p>
            <a:endParaRPr lang="en-US"/>
          </a:p>
        </p:txBody>
      </p:sp>
      <p:sp>
        <p:nvSpPr>
          <p:cNvPr id="34" name="Shape 30"/>
          <p:cNvSpPr/>
          <p:nvPr/>
        </p:nvSpPr>
        <p:spPr>
          <a:xfrm>
            <a:off x="8101584" y="3108960"/>
            <a:ext cx="457200" cy="457200"/>
          </a:xfrm>
          <a:prstGeom prst="roundRect">
            <a:avLst>
              <a:gd name="adj" fmla="val 18000"/>
            </a:avLst>
          </a:prstGeom>
          <a:solidFill>
            <a:srgbClr val="4472C4"/>
          </a:solidFill>
          <a:ln w="12700">
            <a:solidFill>
              <a:srgbClr val="4472C4"/>
            </a:solidFill>
            <a:prstDash val="solid"/>
          </a:ln>
        </p:spPr>
        <p:txBody>
          <a:bodyPr/>
          <a:lstStyle/>
          <a:p>
            <a:endParaRPr lang="en-US"/>
          </a:p>
        </p:txBody>
      </p:sp>
      <p:sp>
        <p:nvSpPr>
          <p:cNvPr id="35" name="Text 31"/>
          <p:cNvSpPr/>
          <p:nvPr/>
        </p:nvSpPr>
        <p:spPr>
          <a:xfrm>
            <a:off x="8101584" y="3108960"/>
            <a:ext cx="457200" cy="457200"/>
          </a:xfrm>
          <a:prstGeom prst="rect">
            <a:avLst/>
          </a:prstGeom>
          <a:noFill/>
          <a:ln/>
        </p:spPr>
        <p:txBody>
          <a:bodyPr wrap="square" lIns="254" tIns="254" rIns="254" bIns="254" rtlCol="0" anchor="ctr"/>
          <a:lstStyle/>
          <a:p>
            <a:pPr marL="0" indent="0" algn="ctr">
              <a:buNone/>
            </a:pPr>
            <a:r>
              <a:rPr lang="en-US" sz="1600" b="0" dirty="0">
                <a:solidFill>
                  <a:srgbClr val="FFFFFF"/>
                </a:solidFill>
                <a:latin typeface="Product Sans" pitchFamily="34" charset="0"/>
                <a:ea typeface="Product Sans" pitchFamily="34" charset="-122"/>
                <a:cs typeface="Product Sans" pitchFamily="34" charset="-120"/>
              </a:rPr>
              <a:t>6</a:t>
            </a:r>
            <a:endParaRPr lang="en-US" sz="1600" dirty="0"/>
          </a:p>
        </p:txBody>
      </p:sp>
      <p:sp>
        <p:nvSpPr>
          <p:cNvPr id="36" name="Text 32"/>
          <p:cNvSpPr/>
          <p:nvPr/>
        </p:nvSpPr>
        <p:spPr>
          <a:xfrm>
            <a:off x="8668512" y="3090672"/>
            <a:ext cx="2788920" cy="310896"/>
          </a:xfrm>
          <a:prstGeom prst="rect">
            <a:avLst/>
          </a:prstGeom>
          <a:noFill/>
          <a:ln/>
        </p:spPr>
        <p:txBody>
          <a:bodyPr wrap="square" lIns="0" tIns="0" rIns="0" bIns="0" rtlCol="0" anchor="ctr"/>
          <a:lstStyle/>
          <a:p>
            <a:pPr marL="0" indent="0">
              <a:buNone/>
            </a:pPr>
            <a:r>
              <a:rPr lang="en-US" sz="1500" b="0" dirty="0">
                <a:solidFill>
                  <a:srgbClr val="1F3864"/>
                </a:solidFill>
                <a:latin typeface="Product Sans" pitchFamily="34" charset="0"/>
                <a:ea typeface="Product Sans" pitchFamily="34" charset="-122"/>
                <a:cs typeface="Product Sans" pitchFamily="34" charset="-120"/>
              </a:rPr>
              <a:t>Verify</a:t>
            </a:r>
            <a:endParaRPr lang="en-US" sz="1500" dirty="0"/>
          </a:p>
        </p:txBody>
      </p:sp>
      <p:sp>
        <p:nvSpPr>
          <p:cNvPr id="37" name="Text 33"/>
          <p:cNvSpPr/>
          <p:nvPr/>
        </p:nvSpPr>
        <p:spPr>
          <a:xfrm>
            <a:off x="8668512" y="3438144"/>
            <a:ext cx="3063240" cy="1005840"/>
          </a:xfrm>
          <a:prstGeom prst="rect">
            <a:avLst/>
          </a:prstGeom>
          <a:noFill/>
          <a:ln/>
        </p:spPr>
        <p:txBody>
          <a:bodyPr wrap="square" lIns="0" tIns="0" rIns="0" bIns="0" rtlCol="0" anchor="t"/>
          <a:lstStyle/>
          <a:p>
            <a:pPr marL="0" indent="0">
              <a:buNone/>
            </a:pPr>
            <a:r>
              <a:rPr lang="en-US" sz="1100" b="0" dirty="0">
                <a:solidFill>
                  <a:srgbClr val="262626"/>
                </a:solidFill>
                <a:latin typeface="Product Sans" pitchFamily="34" charset="0"/>
                <a:ea typeface="Product Sans" pitchFamily="34" charset="-122"/>
                <a:cs typeface="Product Sans" pitchFamily="34" charset="-120"/>
              </a:rPr>
              <a:t>in Claude Code (terminal or Desktop) / Codex: tools listed? then the verify prompt</a:t>
            </a:r>
            <a:endParaRPr lang="en-US" sz="1100" dirty="0"/>
          </a:p>
        </p:txBody>
      </p:sp>
      <p:sp>
        <p:nvSpPr>
          <p:cNvPr id="38" name="Shape 34"/>
          <p:cNvSpPr/>
          <p:nvPr/>
        </p:nvSpPr>
        <p:spPr>
          <a:xfrm>
            <a:off x="548640" y="5074920"/>
            <a:ext cx="11091672" cy="365760"/>
          </a:xfrm>
          <a:prstGeom prst="roundRect">
            <a:avLst>
              <a:gd name="adj" fmla="val 15000"/>
            </a:avLst>
          </a:prstGeom>
          <a:solidFill>
            <a:srgbClr val="1F3864"/>
          </a:solidFill>
          <a:ln w="12700">
            <a:solidFill>
              <a:srgbClr val="1F3864"/>
            </a:solidFill>
            <a:prstDash val="solid"/>
          </a:ln>
        </p:spPr>
        <p:txBody>
          <a:bodyPr/>
          <a:lstStyle/>
          <a:p>
            <a:endParaRPr lang="en-US"/>
          </a:p>
        </p:txBody>
      </p:sp>
      <p:sp>
        <p:nvSpPr>
          <p:cNvPr id="39" name="Text 35"/>
          <p:cNvSpPr/>
          <p:nvPr/>
        </p:nvSpPr>
        <p:spPr>
          <a:xfrm>
            <a:off x="685800" y="5074920"/>
            <a:ext cx="10817352" cy="365760"/>
          </a:xfrm>
          <a:prstGeom prst="rect">
            <a:avLst/>
          </a:prstGeom>
          <a:noFill/>
          <a:ln/>
        </p:spPr>
        <p:txBody>
          <a:bodyPr wrap="square" lIns="0" tIns="0" rIns="0" bIns="0" rtlCol="0" anchor="ctr"/>
          <a:lstStyle/>
          <a:p>
            <a:pPr marL="0" indent="0" algn="ctr">
              <a:buNone/>
            </a:pPr>
            <a:r>
              <a:rPr lang="en-US" sz="1150" b="0" dirty="0">
                <a:solidFill>
                  <a:srgbClr val="FFFFFF"/>
                </a:solidFill>
                <a:latin typeface="Product Sans" pitchFamily="34" charset="0"/>
                <a:ea typeface="Product Sans" pitchFamily="34" charset="-122"/>
                <a:cs typeface="Product Sans" pitchFamily="34" charset="-120"/>
              </a:rPr>
              <a:t>Where people get stuck: step 5 (session not shared) and step 6 (agent not restarted). Both are 10-second fixes — see the rescue slides.</a:t>
            </a:r>
            <a:endParaRPr lang="en-US" sz="1150" dirty="0"/>
          </a:p>
        </p:txBody>
      </p:sp>
      <p:sp>
        <p:nvSpPr>
          <p:cNvPr id="40" name="Text 36"/>
          <p:cNvSpPr/>
          <p:nvPr/>
        </p:nvSpPr>
        <p:spPr>
          <a:xfrm>
            <a:off x="548640" y="5577840"/>
            <a:ext cx="11091672" cy="274320"/>
          </a:xfrm>
          <a:prstGeom prst="rect">
            <a:avLst/>
          </a:prstGeom>
          <a:noFill/>
          <a:ln/>
        </p:spPr>
        <p:txBody>
          <a:bodyPr wrap="square" lIns="0" tIns="0" rIns="0" bIns="0" rtlCol="0" anchor="ctr"/>
          <a:lstStyle/>
          <a:p>
            <a:pPr marL="0" indent="0" algn="ctr">
              <a:buNone/>
            </a:pPr>
            <a:r>
              <a:rPr lang="en-US" sz="1050" b="0" i="1" dirty="0">
                <a:solidFill>
                  <a:srgbClr val="595959"/>
                </a:solidFill>
                <a:latin typeface="Product Sans" pitchFamily="34" charset="0"/>
                <a:ea typeface="Product Sans" pitchFamily="34" charset="-122"/>
                <a:cs typeface="Product Sans" pitchFamily="34" charset="-120"/>
              </a:rPr>
              <a:t>Follow along with the printed First-Time Setup &amp; Rescue Card in your workshop pack.</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48</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Step 1–2 · Download the installer from GitHub</a:t>
            </a:r>
            <a:endParaRPr lang="en-US" sz="2400" dirty="0"/>
          </a:p>
        </p:txBody>
      </p:sp>
      <p:sp>
        <p:nvSpPr>
          <p:cNvPr id="7" name="Text 3"/>
          <p:cNvSpPr/>
          <p:nvPr/>
        </p:nvSpPr>
        <p:spPr>
          <a:xfrm>
            <a:off x="548640" y="859536"/>
            <a:ext cx="8869680" cy="292608"/>
          </a:xfrm>
          <a:prstGeom prst="rect">
            <a:avLst/>
          </a:prstGeom>
          <a:noFill/>
          <a:ln/>
        </p:spPr>
        <p:txBody>
          <a:bodyPr wrap="square" lIns="0" tIns="0" rIns="0" bIns="0" rtlCol="0" anchor="ctr"/>
          <a:lstStyle/>
          <a:p>
            <a:pPr marL="0" indent="0">
              <a:buNone/>
            </a:pPr>
            <a:r>
              <a:rPr lang="en-US" sz="1250" b="0" i="1" dirty="0">
                <a:solidFill>
                  <a:srgbClr val="595959"/>
                </a:solidFill>
                <a:latin typeface="Product Sans" pitchFamily="34" charset="0"/>
                <a:ea typeface="Product Sans" pitchFamily="34" charset="-122"/>
                <a:cs typeface="Product Sans" pitchFamily="34" charset="-120"/>
              </a:rPr>
              <a:t>github.com/matlab/simulink-agentic-toolkit → Releases → Assets</a:t>
            </a:r>
            <a:endParaRPr lang="en-US" sz="1250" dirty="0"/>
          </a:p>
        </p:txBody>
      </p:sp>
      <p:sp>
        <p:nvSpPr>
          <p:cNvPr id="8" name="Shape 4"/>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9" name="Text 5"/>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SETUP 1/7</a:t>
            </a:r>
            <a:endParaRPr lang="en-US" sz="950" dirty="0"/>
          </a:p>
        </p:txBody>
      </p:sp>
      <p:sp>
        <p:nvSpPr>
          <p:cNvPr id="10" name="Shape 6"/>
          <p:cNvSpPr/>
          <p:nvPr/>
        </p:nvSpPr>
        <p:spPr>
          <a:xfrm>
            <a:off x="548640" y="1325880"/>
            <a:ext cx="6903720" cy="4206240"/>
          </a:xfrm>
          <a:prstGeom prst="roundRect">
            <a:avLst>
              <a:gd name="adj" fmla="val 1304"/>
            </a:avLst>
          </a:prstGeom>
          <a:solidFill>
            <a:srgbClr val="F2F5FB"/>
          </a:solidFill>
          <a:ln w="9525">
            <a:solidFill>
              <a:srgbClr val="C9D6EE"/>
            </a:solidFill>
            <a:prstDash val="solid"/>
          </a:ln>
        </p:spPr>
        <p:txBody>
          <a:bodyPr/>
          <a:lstStyle/>
          <a:p>
            <a:endParaRPr lang="en-US"/>
          </a:p>
        </p:txBody>
      </p:sp>
      <p:pic>
        <p:nvPicPr>
          <p:cNvPr id="11" name="Image 2" descr="/private/tmp/claude-501/-Users-lohweihong-matlab-agentic-toolkit/898a4f9c-7170-4431-8019-af7b101ba079/scratchpad/shots/gh-releases.png"/>
          <p:cNvPicPr>
            <a:picLocks noChangeAspect="1"/>
          </p:cNvPicPr>
          <p:nvPr/>
        </p:nvPicPr>
        <p:blipFill>
          <a:blip r:embed="rId5"/>
          <a:stretch>
            <a:fillRect/>
          </a:stretch>
        </p:blipFill>
        <p:spPr>
          <a:xfrm>
            <a:off x="640080" y="1913963"/>
            <a:ext cx="6720840" cy="3030074"/>
          </a:xfrm>
          <a:prstGeom prst="rect">
            <a:avLst/>
          </a:prstGeom>
        </p:spPr>
      </p:pic>
      <p:sp>
        <p:nvSpPr>
          <p:cNvPr id="12" name="Text 7"/>
          <p:cNvSpPr/>
          <p:nvPr/>
        </p:nvSpPr>
        <p:spPr>
          <a:xfrm>
            <a:off x="548640" y="5577840"/>
            <a:ext cx="6903720" cy="237744"/>
          </a:xfrm>
          <a:prstGeom prst="rect">
            <a:avLst/>
          </a:prstGeom>
          <a:noFill/>
          <a:ln/>
        </p:spPr>
        <p:txBody>
          <a:bodyPr wrap="square" lIns="0" tIns="0" rIns="0" bIns="0" rtlCol="0" anchor="ctr"/>
          <a:lstStyle/>
          <a:p>
            <a:pPr marL="0" indent="0">
              <a:buNone/>
            </a:pPr>
            <a:r>
              <a:rPr lang="en-US" sz="900" b="0" i="1" dirty="0">
                <a:solidFill>
                  <a:srgbClr val="595959"/>
                </a:solidFill>
                <a:latin typeface="Product Sans" pitchFamily="34" charset="0"/>
                <a:ea typeface="Product Sans" pitchFamily="34" charset="-122"/>
                <a:cs typeface="Product Sans" pitchFamily="34" charset="-120"/>
              </a:rPr>
              <a:t>GitHub Releases page for the Simulink Agentic Toolkit (release 2026.08.12). One installer covers BOTH toolkits.</a:t>
            </a:r>
            <a:endParaRPr lang="en-US" sz="900" dirty="0"/>
          </a:p>
        </p:txBody>
      </p:sp>
      <p:sp>
        <p:nvSpPr>
          <p:cNvPr id="13" name="Shape 8"/>
          <p:cNvSpPr/>
          <p:nvPr/>
        </p:nvSpPr>
        <p:spPr>
          <a:xfrm>
            <a:off x="7726680" y="134416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4" name="Text 9"/>
          <p:cNvSpPr/>
          <p:nvPr/>
        </p:nvSpPr>
        <p:spPr>
          <a:xfrm>
            <a:off x="7726680" y="134416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1</a:t>
            </a:r>
            <a:endParaRPr lang="en-US" sz="1200" dirty="0"/>
          </a:p>
        </p:txBody>
      </p:sp>
      <p:sp>
        <p:nvSpPr>
          <p:cNvPr id="15" name="Text 10"/>
          <p:cNvSpPr/>
          <p:nvPr/>
        </p:nvSpPr>
        <p:spPr>
          <a:xfrm>
            <a:off x="8183880" y="1325880"/>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Open the Releases page</a:t>
            </a:r>
            <a:endParaRPr lang="en-US" sz="1150" dirty="0"/>
          </a:p>
        </p:txBody>
      </p:sp>
      <p:sp>
        <p:nvSpPr>
          <p:cNvPr id="16" name="Text 11"/>
          <p:cNvSpPr/>
          <p:nvPr/>
        </p:nvSpPr>
        <p:spPr>
          <a:xfrm>
            <a:off x="8183880" y="1591056"/>
            <a:ext cx="3456432" cy="438912"/>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github.com/matlab/simulink-agentic-toolkit/releases/latest — no GitHub account needed. Ignore the source-code zips.</a:t>
            </a:r>
            <a:endParaRPr lang="en-US" sz="950" dirty="0"/>
          </a:p>
        </p:txBody>
      </p:sp>
      <p:sp>
        <p:nvSpPr>
          <p:cNvPr id="17" name="Shape 12"/>
          <p:cNvSpPr/>
          <p:nvPr/>
        </p:nvSpPr>
        <p:spPr>
          <a:xfrm>
            <a:off x="7726680" y="2057400"/>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8" name="Text 13"/>
          <p:cNvSpPr/>
          <p:nvPr/>
        </p:nvSpPr>
        <p:spPr>
          <a:xfrm>
            <a:off x="7726680" y="2057400"/>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2</a:t>
            </a:r>
            <a:endParaRPr lang="en-US" sz="1200" dirty="0"/>
          </a:p>
        </p:txBody>
      </p:sp>
      <p:sp>
        <p:nvSpPr>
          <p:cNvPr id="19" name="Text 14"/>
          <p:cNvSpPr/>
          <p:nvPr/>
        </p:nvSpPr>
        <p:spPr>
          <a:xfrm>
            <a:off x="8183880" y="2039112"/>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Download agenticToolkitInstaller.mltbx</a:t>
            </a:r>
            <a:endParaRPr lang="en-US" sz="1150" dirty="0"/>
          </a:p>
        </p:txBody>
      </p:sp>
      <p:sp>
        <p:nvSpPr>
          <p:cNvPr id="20" name="Text 15"/>
          <p:cNvSpPr/>
          <p:nvPr/>
        </p:nvSpPr>
        <p:spPr>
          <a:xfrm>
            <a:off x="8183880" y="2304288"/>
            <a:ext cx="3456432" cy="438912"/>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Under Assets. It's the same installer for the MATLAB toolkit, so you only ever need this one file.</a:t>
            </a:r>
            <a:endParaRPr lang="en-US" sz="950" dirty="0"/>
          </a:p>
        </p:txBody>
      </p:sp>
      <p:sp>
        <p:nvSpPr>
          <p:cNvPr id="21" name="Shape 16"/>
          <p:cNvSpPr/>
          <p:nvPr/>
        </p:nvSpPr>
        <p:spPr>
          <a:xfrm>
            <a:off x="7726680" y="2770632"/>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22" name="Text 17"/>
          <p:cNvSpPr/>
          <p:nvPr/>
        </p:nvSpPr>
        <p:spPr>
          <a:xfrm>
            <a:off x="7726680" y="2770632"/>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3</a:t>
            </a:r>
            <a:endParaRPr lang="en-US" sz="1200" dirty="0"/>
          </a:p>
        </p:txBody>
      </p:sp>
      <p:sp>
        <p:nvSpPr>
          <p:cNvPr id="23" name="Text 18"/>
          <p:cNvSpPr/>
          <p:nvPr/>
        </p:nvSpPr>
        <p:spPr>
          <a:xfrm>
            <a:off x="8183880" y="2752344"/>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Open the .mltbx</a:t>
            </a:r>
            <a:endParaRPr lang="en-US" sz="1150" dirty="0"/>
          </a:p>
        </p:txBody>
      </p:sp>
      <p:sp>
        <p:nvSpPr>
          <p:cNvPr id="24" name="Text 19"/>
          <p:cNvSpPr/>
          <p:nvPr/>
        </p:nvSpPr>
        <p:spPr>
          <a:xfrm>
            <a:off x="8183880" y="3017520"/>
            <a:ext cx="3456432" cy="438912"/>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Double-click it (or drag into MATLAB). MATLAB's Add-On Manager installs "MathWorks Agentic Toolkit Setup" — click Install if asked. Nothing else is downloaded yet.</a:t>
            </a:r>
            <a:endParaRPr lang="en-US" sz="950" dirty="0"/>
          </a:p>
        </p:txBody>
      </p:sp>
      <p:sp>
        <p:nvSpPr>
          <p:cNvPr id="25" name="Shape 20"/>
          <p:cNvSpPr/>
          <p:nvPr/>
        </p:nvSpPr>
        <p:spPr>
          <a:xfrm>
            <a:off x="7726680" y="4873752"/>
            <a:ext cx="3913632" cy="658368"/>
          </a:xfrm>
          <a:prstGeom prst="roundRect">
            <a:avLst>
              <a:gd name="adj" fmla="val 8333"/>
            </a:avLst>
          </a:prstGeom>
          <a:solidFill>
            <a:srgbClr val="FDF4E3"/>
          </a:solidFill>
          <a:ln w="9525">
            <a:solidFill>
              <a:srgbClr val="EAD9B4"/>
            </a:solidFill>
            <a:prstDash val="solid"/>
          </a:ln>
        </p:spPr>
        <p:txBody>
          <a:bodyPr/>
          <a:lstStyle/>
          <a:p>
            <a:endParaRPr lang="en-US"/>
          </a:p>
        </p:txBody>
      </p:sp>
      <p:sp>
        <p:nvSpPr>
          <p:cNvPr id="26" name="Text 21"/>
          <p:cNvSpPr/>
          <p:nvPr/>
        </p:nvSpPr>
        <p:spPr>
          <a:xfrm>
            <a:off x="7854696" y="4873752"/>
            <a:ext cx="3657600" cy="658368"/>
          </a:xfrm>
          <a:prstGeom prst="rect">
            <a:avLst/>
          </a:prstGeom>
          <a:noFill/>
          <a:ln/>
        </p:spPr>
        <p:txBody>
          <a:bodyPr wrap="square" lIns="0" tIns="0" rIns="0" bIns="0" rtlCol="0" anchor="ctr"/>
          <a:lstStyle/>
          <a:p>
            <a:pPr marL="0" indent="0">
              <a:buNone/>
            </a:pPr>
            <a:r>
              <a:rPr lang="en-US" sz="950" b="0" dirty="0">
                <a:solidFill>
                  <a:srgbClr val="262626"/>
                </a:solidFill>
                <a:latin typeface="Product Sans" pitchFamily="34" charset="0"/>
                <a:ea typeface="Product Sans" pitchFamily="34" charset="-122"/>
                <a:cs typeface="Product Sans" pitchFamily="34" charset="-120"/>
              </a:rPr>
              <a:t>Behind a proxy or offline? setupAgenticToolkit supports Offline=true with local artifact paths — see Configuration_and_Troubleshooting.md in the toolkit repo.</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49</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Step 3 · Run the installer in MATLAB</a:t>
            </a:r>
            <a:endParaRPr lang="en-US" sz="2400" dirty="0"/>
          </a:p>
        </p:txBody>
      </p:sp>
      <p:sp>
        <p:nvSpPr>
          <p:cNvPr id="7" name="Text 3"/>
          <p:cNvSpPr/>
          <p:nvPr/>
        </p:nvSpPr>
        <p:spPr>
          <a:xfrm>
            <a:off x="548640" y="859536"/>
            <a:ext cx="8869680" cy="292608"/>
          </a:xfrm>
          <a:prstGeom prst="rect">
            <a:avLst/>
          </a:prstGeom>
          <a:noFill/>
          <a:ln/>
        </p:spPr>
        <p:txBody>
          <a:bodyPr wrap="square" lIns="0" tIns="0" rIns="0" bIns="0" rtlCol="0" anchor="ctr"/>
          <a:lstStyle/>
          <a:p>
            <a:pPr marL="0" indent="0">
              <a:buNone/>
            </a:pPr>
            <a:r>
              <a:rPr lang="en-US" sz="1250" b="0" i="1" dirty="0">
                <a:solidFill>
                  <a:srgbClr val="595959"/>
                </a:solidFill>
                <a:latin typeface="Product Sans" pitchFamily="34" charset="0"/>
                <a:ea typeface="Product Sans" pitchFamily="34" charset="-122"/>
                <a:cs typeface="Product Sans" pitchFamily="34" charset="-120"/>
              </a:rPr>
              <a:t>Command Window → setupAgenticToolkit("install") — the first prompt</a:t>
            </a:r>
            <a:endParaRPr lang="en-US" sz="1250" dirty="0"/>
          </a:p>
        </p:txBody>
      </p:sp>
      <p:sp>
        <p:nvSpPr>
          <p:cNvPr id="8" name="Shape 4"/>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9" name="Text 5"/>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SETUP 2/7</a:t>
            </a:r>
            <a:endParaRPr lang="en-US" sz="950" dirty="0"/>
          </a:p>
        </p:txBody>
      </p:sp>
      <p:sp>
        <p:nvSpPr>
          <p:cNvPr id="10" name="Shape 6"/>
          <p:cNvSpPr/>
          <p:nvPr/>
        </p:nvSpPr>
        <p:spPr>
          <a:xfrm>
            <a:off x="548640" y="1325880"/>
            <a:ext cx="6903720" cy="2926080"/>
          </a:xfrm>
          <a:prstGeom prst="roundRect">
            <a:avLst>
              <a:gd name="adj" fmla="val 1875"/>
            </a:avLst>
          </a:prstGeom>
          <a:solidFill>
            <a:srgbClr val="F2F5FB"/>
          </a:solidFill>
          <a:ln w="9525">
            <a:solidFill>
              <a:srgbClr val="C9D6EE"/>
            </a:solidFill>
            <a:prstDash val="solid"/>
          </a:ln>
        </p:spPr>
        <p:txBody>
          <a:bodyPr/>
          <a:lstStyle/>
          <a:p>
            <a:endParaRPr lang="en-US"/>
          </a:p>
        </p:txBody>
      </p:sp>
      <p:pic>
        <p:nvPicPr>
          <p:cNvPr id="11" name="Image 2" descr="/private/tmp/claude-501/-Users-lohweihong-matlab-agentic-toolkit/898a4f9c-7170-4431-8019-af7b101ba079/scratchpad/shots/matlab-setup-prompt1.png"/>
          <p:cNvPicPr>
            <a:picLocks noChangeAspect="1"/>
          </p:cNvPicPr>
          <p:nvPr/>
        </p:nvPicPr>
        <p:blipFill>
          <a:blip r:embed="rId5"/>
          <a:stretch>
            <a:fillRect/>
          </a:stretch>
        </p:blipFill>
        <p:spPr>
          <a:xfrm>
            <a:off x="640080" y="1499702"/>
            <a:ext cx="6720840" cy="2578435"/>
          </a:xfrm>
          <a:prstGeom prst="rect">
            <a:avLst/>
          </a:prstGeom>
        </p:spPr>
      </p:pic>
      <p:sp>
        <p:nvSpPr>
          <p:cNvPr id="12" name="Text 7"/>
          <p:cNvSpPr/>
          <p:nvPr/>
        </p:nvSpPr>
        <p:spPr>
          <a:xfrm>
            <a:off x="548640" y="4297680"/>
            <a:ext cx="6903720" cy="237744"/>
          </a:xfrm>
          <a:prstGeom prst="rect">
            <a:avLst/>
          </a:prstGeom>
          <a:noFill/>
          <a:ln/>
        </p:spPr>
        <p:txBody>
          <a:bodyPr wrap="square" lIns="0" tIns="0" rIns="0" bIns="0" rtlCol="0" anchor="ctr"/>
          <a:lstStyle/>
          <a:p>
            <a:pPr marL="0" indent="0">
              <a:buNone/>
            </a:pPr>
            <a:r>
              <a:rPr lang="en-US" sz="900" b="0" i="1" dirty="0">
                <a:solidFill>
                  <a:srgbClr val="595959"/>
                </a:solidFill>
                <a:latin typeface="Product Sans" pitchFamily="34" charset="0"/>
                <a:ea typeface="Product Sans" pitchFamily="34" charset="-122"/>
                <a:cs typeface="Product Sans" pitchFamily="34" charset="-120"/>
              </a:rPr>
              <a:t>Real MATLAB R2026a session — the installer detects your platform and MATLAB, then asks which toolkits to install.</a:t>
            </a:r>
            <a:endParaRPr lang="en-US" sz="900" dirty="0"/>
          </a:p>
        </p:txBody>
      </p:sp>
      <p:sp>
        <p:nvSpPr>
          <p:cNvPr id="13" name="Shape 8"/>
          <p:cNvSpPr/>
          <p:nvPr/>
        </p:nvSpPr>
        <p:spPr>
          <a:xfrm>
            <a:off x="7726680" y="134416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4" name="Text 9"/>
          <p:cNvSpPr/>
          <p:nvPr/>
        </p:nvSpPr>
        <p:spPr>
          <a:xfrm>
            <a:off x="7726680" y="134416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1</a:t>
            </a:r>
            <a:endParaRPr lang="en-US" sz="1200" dirty="0"/>
          </a:p>
        </p:txBody>
      </p:sp>
      <p:sp>
        <p:nvSpPr>
          <p:cNvPr id="15" name="Text 10"/>
          <p:cNvSpPr/>
          <p:nvPr/>
        </p:nvSpPr>
        <p:spPr>
          <a:xfrm>
            <a:off x="8183880" y="1325880"/>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Type the command</a:t>
            </a:r>
            <a:endParaRPr lang="en-US" sz="1150" dirty="0"/>
          </a:p>
        </p:txBody>
      </p:sp>
      <p:sp>
        <p:nvSpPr>
          <p:cNvPr id="16" name="Text 11"/>
          <p:cNvSpPr/>
          <p:nvPr/>
        </p:nvSpPr>
        <p:spPr>
          <a:xfrm>
            <a:off x="8183880" y="1591056"/>
            <a:ext cx="3456432" cy="59436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setupAgenticToolkit("install")  — the add-on put it on your path. If MATLAB says "Unrecognized function", the .mltbx did not install: reopen it.</a:t>
            </a:r>
            <a:endParaRPr lang="en-US" sz="950" dirty="0"/>
          </a:p>
        </p:txBody>
      </p:sp>
      <p:sp>
        <p:nvSpPr>
          <p:cNvPr id="17" name="Shape 12"/>
          <p:cNvSpPr/>
          <p:nvPr/>
        </p:nvSpPr>
        <p:spPr>
          <a:xfrm>
            <a:off x="7726680" y="221284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8" name="Text 13"/>
          <p:cNvSpPr/>
          <p:nvPr/>
        </p:nvSpPr>
        <p:spPr>
          <a:xfrm>
            <a:off x="7726680" y="221284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2</a:t>
            </a:r>
            <a:endParaRPr lang="en-US" sz="1200" dirty="0"/>
          </a:p>
        </p:txBody>
      </p:sp>
      <p:sp>
        <p:nvSpPr>
          <p:cNvPr id="19" name="Text 14"/>
          <p:cNvSpPr/>
          <p:nvPr/>
        </p:nvSpPr>
        <p:spPr>
          <a:xfrm>
            <a:off x="8183880" y="2194560"/>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Check the Detected block</a:t>
            </a:r>
            <a:endParaRPr lang="en-US" sz="1150" dirty="0"/>
          </a:p>
        </p:txBody>
      </p:sp>
      <p:sp>
        <p:nvSpPr>
          <p:cNvPr id="20" name="Text 15"/>
          <p:cNvSpPr/>
          <p:nvPr/>
        </p:nvSpPr>
        <p:spPr>
          <a:xfrm>
            <a:off x="8183880" y="2459736"/>
            <a:ext cx="3456432" cy="59436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It should name the MATLAB you want agents to use. Wrong one? Close the others and re-run, or pass Prompt=false with explicit options later.</a:t>
            </a:r>
            <a:endParaRPr lang="en-US" sz="950" dirty="0"/>
          </a:p>
        </p:txBody>
      </p:sp>
      <p:sp>
        <p:nvSpPr>
          <p:cNvPr id="21" name="Shape 16"/>
          <p:cNvSpPr/>
          <p:nvPr/>
        </p:nvSpPr>
        <p:spPr>
          <a:xfrm>
            <a:off x="7726680" y="308152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22" name="Text 17"/>
          <p:cNvSpPr/>
          <p:nvPr/>
        </p:nvSpPr>
        <p:spPr>
          <a:xfrm>
            <a:off x="7726680" y="308152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3</a:t>
            </a:r>
            <a:endParaRPr lang="en-US" sz="1200" dirty="0"/>
          </a:p>
        </p:txBody>
      </p:sp>
      <p:sp>
        <p:nvSpPr>
          <p:cNvPr id="23" name="Text 18"/>
          <p:cNvSpPr/>
          <p:nvPr/>
        </p:nvSpPr>
        <p:spPr>
          <a:xfrm>
            <a:off x="8183880" y="3063240"/>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Choose 3 — Both</a:t>
            </a:r>
            <a:endParaRPr lang="en-US" sz="1150" dirty="0"/>
          </a:p>
        </p:txBody>
      </p:sp>
      <p:sp>
        <p:nvSpPr>
          <p:cNvPr id="24" name="Text 19"/>
          <p:cNvSpPr/>
          <p:nvPr/>
        </p:nvSpPr>
        <p:spPr>
          <a:xfrm>
            <a:off x="8183880" y="3328416"/>
            <a:ext cx="3456432" cy="59436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Even if today is MATLAB-only. Simulink skills cost nothing until a model task triggers them, and you won't re-run this later.</a:t>
            </a:r>
            <a:endParaRPr lang="en-US" sz="950" dirty="0"/>
          </a:p>
        </p:txBody>
      </p:sp>
      <p:sp>
        <p:nvSpPr>
          <p:cNvPr id="25" name="Text 20"/>
          <p:cNvSpPr/>
          <p:nvPr/>
        </p:nvSpPr>
        <p:spPr>
          <a:xfrm>
            <a:off x="548640" y="5669280"/>
            <a:ext cx="11091672" cy="274320"/>
          </a:xfrm>
          <a:prstGeom prst="rect">
            <a:avLst/>
          </a:prstGeom>
          <a:noFill/>
          <a:ln/>
        </p:spPr>
        <p:txBody>
          <a:bodyPr wrap="square" lIns="0" tIns="0" rIns="0" bIns="0" rtlCol="0" anchor="ctr"/>
          <a:lstStyle/>
          <a:p>
            <a:pPr marL="0" indent="0" algn="ctr">
              <a:buNone/>
            </a:pPr>
            <a:r>
              <a:rPr lang="en-US" sz="1000" b="0" i="1" dirty="0">
                <a:solidFill>
                  <a:srgbClr val="595959"/>
                </a:solidFill>
                <a:latin typeface="Product Sans" pitchFamily="34" charset="0"/>
                <a:ea typeface="Product Sans" pitchFamily="34" charset="-122"/>
                <a:cs typeface="Product Sans" pitchFamily="34" charset="-120"/>
              </a:rPr>
              <a:t>Also available: setupAgenticToolkit("status") — read-only, shows what is installed and configured. Your first diagnostic when anything looks off.</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50</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Step 4 · Configure your agents — the prompts you'll see</a:t>
            </a:r>
            <a:endParaRPr lang="en-US" sz="2400" dirty="0"/>
          </a:p>
        </p:txBody>
      </p:sp>
      <p:sp>
        <p:nvSpPr>
          <p:cNvPr id="7" name="Text 3"/>
          <p:cNvSpPr/>
          <p:nvPr/>
        </p:nvSpPr>
        <p:spPr>
          <a:xfrm>
            <a:off x="548640" y="859536"/>
            <a:ext cx="8869680" cy="292608"/>
          </a:xfrm>
          <a:prstGeom prst="rect">
            <a:avLst/>
          </a:prstGeom>
          <a:noFill/>
          <a:ln/>
        </p:spPr>
        <p:txBody>
          <a:bodyPr wrap="square" lIns="0" tIns="0" rIns="0" bIns="0" rtlCol="0" anchor="ctr"/>
          <a:lstStyle/>
          <a:p>
            <a:pPr marL="0" indent="0">
              <a:buNone/>
            </a:pPr>
            <a:r>
              <a:rPr lang="en-US" sz="1250" b="0" i="1" dirty="0">
                <a:solidFill>
                  <a:srgbClr val="595959"/>
                </a:solidFill>
                <a:latin typeface="Product Sans" pitchFamily="34" charset="0"/>
                <a:ea typeface="Product Sans" pitchFamily="34" charset="-122"/>
                <a:cs typeface="Product Sans" pitchFamily="34" charset="-120"/>
              </a:rPr>
              <a:t>One pass writes the MCP config for every agent you pick</a:t>
            </a:r>
            <a:endParaRPr lang="en-US" sz="1250" dirty="0"/>
          </a:p>
        </p:txBody>
      </p:sp>
      <p:sp>
        <p:nvSpPr>
          <p:cNvPr id="8" name="Shape 4"/>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9" name="Text 5"/>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SETUP 3/7</a:t>
            </a:r>
            <a:endParaRPr lang="en-US" sz="950" dirty="0"/>
          </a:p>
        </p:txBody>
      </p:sp>
      <p:sp>
        <p:nvSpPr>
          <p:cNvPr id="10" name="Shape 6"/>
          <p:cNvSpPr/>
          <p:nvPr/>
        </p:nvSpPr>
        <p:spPr>
          <a:xfrm>
            <a:off x="548640" y="1325880"/>
            <a:ext cx="6903720" cy="4206240"/>
          </a:xfrm>
          <a:prstGeom prst="roundRect">
            <a:avLst>
              <a:gd name="adj" fmla="val 1304"/>
            </a:avLst>
          </a:prstGeom>
          <a:solidFill>
            <a:srgbClr val="F2F5FB"/>
          </a:solidFill>
          <a:ln w="9525">
            <a:solidFill>
              <a:srgbClr val="C9D6EE"/>
            </a:solidFill>
            <a:prstDash val="solid"/>
          </a:ln>
        </p:spPr>
        <p:txBody>
          <a:bodyPr/>
          <a:lstStyle/>
          <a:p>
            <a:endParaRPr lang="en-US"/>
          </a:p>
        </p:txBody>
      </p:sp>
      <p:pic>
        <p:nvPicPr>
          <p:cNvPr id="11" name="Image 2" descr="/private/tmp/claude-501/-Users-lohweihong-matlab-agentic-toolkit/898a4f9c-7170-4431-8019-af7b101ba079/scratchpad/shots/matlab-configure.png"/>
          <p:cNvPicPr>
            <a:picLocks noChangeAspect="1"/>
          </p:cNvPicPr>
          <p:nvPr/>
        </p:nvPicPr>
        <p:blipFill>
          <a:blip r:embed="rId5"/>
          <a:stretch>
            <a:fillRect/>
          </a:stretch>
        </p:blipFill>
        <p:spPr>
          <a:xfrm>
            <a:off x="689785" y="1417320"/>
            <a:ext cx="6621429" cy="4023360"/>
          </a:xfrm>
          <a:prstGeom prst="rect">
            <a:avLst/>
          </a:prstGeom>
        </p:spPr>
      </p:pic>
      <p:sp>
        <p:nvSpPr>
          <p:cNvPr id="12" name="Text 7"/>
          <p:cNvSpPr/>
          <p:nvPr/>
        </p:nvSpPr>
        <p:spPr>
          <a:xfrm>
            <a:off x="548640" y="5577840"/>
            <a:ext cx="6903720" cy="237744"/>
          </a:xfrm>
          <a:prstGeom prst="rect">
            <a:avLst/>
          </a:prstGeom>
          <a:noFill/>
          <a:ln/>
        </p:spPr>
        <p:txBody>
          <a:bodyPr wrap="square" lIns="0" tIns="0" rIns="0" bIns="0" rtlCol="0" anchor="ctr"/>
          <a:lstStyle/>
          <a:p>
            <a:pPr marL="0" indent="0">
              <a:buNone/>
            </a:pPr>
            <a:r>
              <a:rPr lang="en-US" sz="900" b="0" i="1" dirty="0">
                <a:solidFill>
                  <a:srgbClr val="595959"/>
                </a:solidFill>
                <a:latin typeface="Product Sans" pitchFamily="34" charset="0"/>
                <a:ea typeface="Product Sans" pitchFamily="34" charset="-122"/>
                <a:cs typeface="Product Sans" pitchFamily="34" charset="-120"/>
              </a:rPr>
              <a:t>Prompt sequence per the installer docs (interactive mode). Numbers match the callouts on the right.</a:t>
            </a:r>
            <a:endParaRPr lang="en-US" sz="900" dirty="0"/>
          </a:p>
        </p:txBody>
      </p:sp>
      <p:sp>
        <p:nvSpPr>
          <p:cNvPr id="13" name="Shape 8"/>
          <p:cNvSpPr/>
          <p:nvPr/>
        </p:nvSpPr>
        <p:spPr>
          <a:xfrm>
            <a:off x="7726680" y="134416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4" name="Text 9"/>
          <p:cNvSpPr/>
          <p:nvPr/>
        </p:nvSpPr>
        <p:spPr>
          <a:xfrm>
            <a:off x="7726680" y="134416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1</a:t>
            </a:r>
            <a:endParaRPr lang="en-US" sz="1200" dirty="0"/>
          </a:p>
        </p:txBody>
      </p:sp>
      <p:sp>
        <p:nvSpPr>
          <p:cNvPr id="15" name="Text 10"/>
          <p:cNvSpPr/>
          <p:nvPr/>
        </p:nvSpPr>
        <p:spPr>
          <a:xfrm>
            <a:off x="8183880" y="1325880"/>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Toolkits → downloads</a:t>
            </a:r>
            <a:endParaRPr lang="en-US" sz="1150" dirty="0"/>
          </a:p>
        </p:txBody>
      </p:sp>
      <p:sp>
        <p:nvSpPr>
          <p:cNvPr id="16" name="Text 11"/>
          <p:cNvSpPr/>
          <p:nvPr/>
        </p:nvSpPr>
        <p:spPr>
          <a:xfrm>
            <a:off x="8183880" y="1591056"/>
            <a:ext cx="3456432" cy="512064"/>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MCP Server binary + both toolkits land in ~/.matlab/agentic-toolkits/. Needs internet once.</a:t>
            </a:r>
            <a:endParaRPr lang="en-US" sz="950" dirty="0"/>
          </a:p>
        </p:txBody>
      </p:sp>
      <p:sp>
        <p:nvSpPr>
          <p:cNvPr id="17" name="Shape 12"/>
          <p:cNvSpPr/>
          <p:nvPr/>
        </p:nvSpPr>
        <p:spPr>
          <a:xfrm>
            <a:off x="7726680" y="2130552"/>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8" name="Text 13"/>
          <p:cNvSpPr/>
          <p:nvPr/>
        </p:nvSpPr>
        <p:spPr>
          <a:xfrm>
            <a:off x="7726680" y="2130552"/>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2</a:t>
            </a:r>
            <a:endParaRPr lang="en-US" sz="1200" dirty="0"/>
          </a:p>
        </p:txBody>
      </p:sp>
      <p:sp>
        <p:nvSpPr>
          <p:cNvPr id="19" name="Text 14"/>
          <p:cNvSpPr/>
          <p:nvPr/>
        </p:nvSpPr>
        <p:spPr>
          <a:xfrm>
            <a:off x="8183880" y="2112264"/>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Pick agents</a:t>
            </a:r>
            <a:endParaRPr lang="en-US" sz="1150" dirty="0"/>
          </a:p>
        </p:txBody>
      </p:sp>
      <p:sp>
        <p:nvSpPr>
          <p:cNvPr id="20" name="Text 15"/>
          <p:cNvSpPr/>
          <p:nvPr/>
        </p:nvSpPr>
        <p:spPr>
          <a:xfrm>
            <a:off x="8183880" y="2377440"/>
            <a:ext cx="3456432" cy="512064"/>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Comma-separated. Only agents installed on this machine will actually be reachable — Claude Code and Codex share nothing, so pick both if you use both.</a:t>
            </a:r>
            <a:endParaRPr lang="en-US" sz="950" dirty="0"/>
          </a:p>
        </p:txBody>
      </p:sp>
      <p:sp>
        <p:nvSpPr>
          <p:cNvPr id="21" name="Shape 16"/>
          <p:cNvSpPr/>
          <p:nvPr/>
        </p:nvSpPr>
        <p:spPr>
          <a:xfrm>
            <a:off x="7726680" y="2916936"/>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22" name="Text 17"/>
          <p:cNvSpPr/>
          <p:nvPr/>
        </p:nvSpPr>
        <p:spPr>
          <a:xfrm>
            <a:off x="7726680" y="2916936"/>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3</a:t>
            </a:r>
            <a:endParaRPr lang="en-US" sz="1200" dirty="0"/>
          </a:p>
        </p:txBody>
      </p:sp>
      <p:sp>
        <p:nvSpPr>
          <p:cNvPr id="23" name="Text 18"/>
          <p:cNvSpPr/>
          <p:nvPr/>
        </p:nvSpPr>
        <p:spPr>
          <a:xfrm>
            <a:off x="8183880" y="2898648"/>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Pick skill groups</a:t>
            </a:r>
            <a:endParaRPr lang="en-US" sz="1150" dirty="0"/>
          </a:p>
        </p:txBody>
      </p:sp>
      <p:sp>
        <p:nvSpPr>
          <p:cNvPr id="24" name="Text 19"/>
          <p:cNvSpPr/>
          <p:nvPr/>
        </p:nvSpPr>
        <p:spPr>
          <a:xfrm>
            <a:off x="8183880" y="3163824"/>
            <a:ext cx="3456432" cy="512064"/>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matlab-core is always on. Fewer groups = more reliable triggering. Add domains later with "configure".</a:t>
            </a:r>
            <a:endParaRPr lang="en-US" sz="950" dirty="0"/>
          </a:p>
        </p:txBody>
      </p:sp>
      <p:sp>
        <p:nvSpPr>
          <p:cNvPr id="25" name="Shape 20"/>
          <p:cNvSpPr/>
          <p:nvPr/>
        </p:nvSpPr>
        <p:spPr>
          <a:xfrm>
            <a:off x="7726680" y="3703320"/>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26" name="Text 21"/>
          <p:cNvSpPr/>
          <p:nvPr/>
        </p:nvSpPr>
        <p:spPr>
          <a:xfrm>
            <a:off x="7726680" y="3703320"/>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4</a:t>
            </a:r>
            <a:endParaRPr lang="en-US" sz="1200" dirty="0"/>
          </a:p>
        </p:txBody>
      </p:sp>
      <p:sp>
        <p:nvSpPr>
          <p:cNvPr id="27" name="Text 22"/>
          <p:cNvSpPr/>
          <p:nvPr/>
        </p:nvSpPr>
        <p:spPr>
          <a:xfrm>
            <a:off x="8183880" y="3685032"/>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Scope</a:t>
            </a:r>
            <a:endParaRPr lang="en-US" sz="1150" dirty="0"/>
          </a:p>
        </p:txBody>
      </p:sp>
      <p:sp>
        <p:nvSpPr>
          <p:cNvPr id="28" name="Text 23"/>
          <p:cNvSpPr/>
          <p:nvPr/>
        </p:nvSpPr>
        <p:spPr>
          <a:xfrm>
            <a:off x="8183880" y="3950208"/>
            <a:ext cx="3456432" cy="512064"/>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Global = every project (start here). Project = writes config into the current folder — good for teams.</a:t>
            </a:r>
            <a:endParaRPr lang="en-US" sz="950" dirty="0"/>
          </a:p>
        </p:txBody>
      </p:sp>
      <p:sp>
        <p:nvSpPr>
          <p:cNvPr id="29" name="Shape 24"/>
          <p:cNvSpPr/>
          <p:nvPr/>
        </p:nvSpPr>
        <p:spPr>
          <a:xfrm>
            <a:off x="7726680" y="4489704"/>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30" name="Text 25"/>
          <p:cNvSpPr/>
          <p:nvPr/>
        </p:nvSpPr>
        <p:spPr>
          <a:xfrm>
            <a:off x="7726680" y="4489704"/>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5</a:t>
            </a:r>
            <a:endParaRPr lang="en-US" sz="1200" dirty="0"/>
          </a:p>
        </p:txBody>
      </p:sp>
      <p:sp>
        <p:nvSpPr>
          <p:cNvPr id="31" name="Text 26"/>
          <p:cNvSpPr/>
          <p:nvPr/>
        </p:nvSpPr>
        <p:spPr>
          <a:xfrm>
            <a:off x="8183880" y="4471416"/>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Done → share the session</a:t>
            </a:r>
            <a:endParaRPr lang="en-US" sz="1150" dirty="0"/>
          </a:p>
        </p:txBody>
      </p:sp>
      <p:sp>
        <p:nvSpPr>
          <p:cNvPr id="32" name="Text 27"/>
          <p:cNvSpPr/>
          <p:nvPr/>
        </p:nvSpPr>
        <p:spPr>
          <a:xfrm>
            <a:off x="8183880" y="4736592"/>
            <a:ext cx="3456432" cy="512064"/>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Config files written per agent. Next slide: make the agent use YOUR MATLAB.</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51</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Step 5 · Point the agent at YOUR MATLAB session</a:t>
            </a:r>
            <a:endParaRPr lang="en-US" sz="2400" dirty="0"/>
          </a:p>
        </p:txBody>
      </p:sp>
      <p:sp>
        <p:nvSpPr>
          <p:cNvPr id="7" name="Text 3"/>
          <p:cNvSpPr/>
          <p:nvPr/>
        </p:nvSpPr>
        <p:spPr>
          <a:xfrm>
            <a:off x="548640" y="859536"/>
            <a:ext cx="8869680" cy="292608"/>
          </a:xfrm>
          <a:prstGeom prst="rect">
            <a:avLst/>
          </a:prstGeom>
          <a:noFill/>
          <a:ln/>
        </p:spPr>
        <p:txBody>
          <a:bodyPr wrap="square" lIns="0" tIns="0" rIns="0" bIns="0" rtlCol="0" anchor="ctr"/>
          <a:lstStyle/>
          <a:p>
            <a:pPr marL="0" indent="0">
              <a:buNone/>
            </a:pPr>
            <a:r>
              <a:rPr lang="en-US" sz="1250" b="0" i="1" dirty="0">
                <a:solidFill>
                  <a:srgbClr val="595959"/>
                </a:solidFill>
                <a:latin typeface="Product Sans" pitchFamily="34" charset="0"/>
                <a:ea typeface="Product Sans" pitchFamily="34" charset="-122"/>
                <a:cs typeface="Product Sans" pitchFamily="34" charset="-120"/>
              </a:rPr>
              <a:t>The step everyone skips — and the #1 cause of "failed to attach to MATLAB session"</a:t>
            </a:r>
            <a:endParaRPr lang="en-US" sz="1250" dirty="0"/>
          </a:p>
        </p:txBody>
      </p:sp>
      <p:sp>
        <p:nvSpPr>
          <p:cNvPr id="8" name="Shape 4"/>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9" name="Text 5"/>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SETUP 4/7</a:t>
            </a:r>
            <a:endParaRPr lang="en-US" sz="950" dirty="0"/>
          </a:p>
        </p:txBody>
      </p:sp>
      <p:sp>
        <p:nvSpPr>
          <p:cNvPr id="10" name="Shape 6"/>
          <p:cNvSpPr/>
          <p:nvPr/>
        </p:nvSpPr>
        <p:spPr>
          <a:xfrm>
            <a:off x="548640" y="1325880"/>
            <a:ext cx="6903720" cy="2148840"/>
          </a:xfrm>
          <a:prstGeom prst="roundRect">
            <a:avLst>
              <a:gd name="adj" fmla="val 2553"/>
            </a:avLst>
          </a:prstGeom>
          <a:solidFill>
            <a:srgbClr val="F2F5FB"/>
          </a:solidFill>
          <a:ln w="9525">
            <a:solidFill>
              <a:srgbClr val="C9D6EE"/>
            </a:solidFill>
            <a:prstDash val="solid"/>
          </a:ln>
        </p:spPr>
        <p:txBody>
          <a:bodyPr/>
          <a:lstStyle/>
          <a:p>
            <a:endParaRPr lang="en-US"/>
          </a:p>
        </p:txBody>
      </p:sp>
      <p:pic>
        <p:nvPicPr>
          <p:cNvPr id="11" name="Image 2" descr="/private/tmp/claude-501/-Users-lohweihong-matlab-agentic-toolkit/898a4f9c-7170-4431-8019-af7b101ba079/scratchpad/shots/fail-attach.png"/>
          <p:cNvPicPr>
            <a:picLocks noChangeAspect="1"/>
          </p:cNvPicPr>
          <p:nvPr/>
        </p:nvPicPr>
        <p:blipFill>
          <a:blip r:embed="rId5"/>
          <a:stretch>
            <a:fillRect/>
          </a:stretch>
        </p:blipFill>
        <p:spPr>
          <a:xfrm>
            <a:off x="640080" y="1434891"/>
            <a:ext cx="6720840" cy="1930818"/>
          </a:xfrm>
          <a:prstGeom prst="rect">
            <a:avLst/>
          </a:prstGeom>
        </p:spPr>
      </p:pic>
      <p:sp>
        <p:nvSpPr>
          <p:cNvPr id="12" name="Text 7"/>
          <p:cNvSpPr/>
          <p:nvPr/>
        </p:nvSpPr>
        <p:spPr>
          <a:xfrm>
            <a:off x="548640" y="3520440"/>
            <a:ext cx="6903720" cy="237744"/>
          </a:xfrm>
          <a:prstGeom prst="rect">
            <a:avLst/>
          </a:prstGeom>
          <a:noFill/>
          <a:ln/>
        </p:spPr>
        <p:txBody>
          <a:bodyPr wrap="square" lIns="0" tIns="0" rIns="0" bIns="0" rtlCol="0" anchor="ctr"/>
          <a:lstStyle/>
          <a:p>
            <a:pPr marL="0" indent="0">
              <a:buNone/>
            </a:pPr>
            <a:r>
              <a:rPr lang="en-US" sz="900" b="0" i="1" dirty="0">
                <a:solidFill>
                  <a:srgbClr val="595959"/>
                </a:solidFill>
                <a:latin typeface="Product Sans" pitchFamily="34" charset="0"/>
                <a:ea typeface="Product Sans" pitchFamily="34" charset="-122"/>
                <a:cs typeface="Product Sans" pitchFamily="34" charset="-120"/>
              </a:rPr>
              <a:t>Real error from this machine: agent configured, MATLAB open — but not shared.</a:t>
            </a:r>
            <a:endParaRPr lang="en-US" sz="900" dirty="0"/>
          </a:p>
        </p:txBody>
      </p:sp>
      <p:sp>
        <p:nvSpPr>
          <p:cNvPr id="13" name="Shape 8"/>
          <p:cNvSpPr/>
          <p:nvPr/>
        </p:nvSpPr>
        <p:spPr>
          <a:xfrm>
            <a:off x="7726680" y="134416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4" name="Text 9"/>
          <p:cNvSpPr/>
          <p:nvPr/>
        </p:nvSpPr>
        <p:spPr>
          <a:xfrm>
            <a:off x="7726680" y="134416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1</a:t>
            </a:r>
            <a:endParaRPr lang="en-US" sz="1200" dirty="0"/>
          </a:p>
        </p:txBody>
      </p:sp>
      <p:sp>
        <p:nvSpPr>
          <p:cNvPr id="15" name="Text 10"/>
          <p:cNvSpPr/>
          <p:nvPr/>
        </p:nvSpPr>
        <p:spPr>
          <a:xfrm>
            <a:off x="8183880" y="1325880"/>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Why it happens</a:t>
            </a:r>
            <a:endParaRPr lang="en-US" sz="1150" dirty="0"/>
          </a:p>
        </p:txBody>
      </p:sp>
      <p:sp>
        <p:nvSpPr>
          <p:cNvPr id="16" name="Text 11"/>
          <p:cNvSpPr/>
          <p:nvPr/>
        </p:nvSpPr>
        <p:spPr>
          <a:xfrm>
            <a:off x="8183880" y="1591056"/>
            <a:ext cx="3456432" cy="68580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The installer configures the server with --matlab-session-mode=existing (or auto). "Existing" means: attach to a MATLAB that has been SHARED. Open ≠ shared.</a:t>
            </a:r>
            <a:endParaRPr lang="en-US" sz="950" dirty="0"/>
          </a:p>
        </p:txBody>
      </p:sp>
      <p:sp>
        <p:nvSpPr>
          <p:cNvPr id="17" name="Shape 12"/>
          <p:cNvSpPr/>
          <p:nvPr/>
        </p:nvSpPr>
        <p:spPr>
          <a:xfrm>
            <a:off x="7726680" y="230428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8" name="Text 13"/>
          <p:cNvSpPr/>
          <p:nvPr/>
        </p:nvSpPr>
        <p:spPr>
          <a:xfrm>
            <a:off x="7726680" y="230428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2</a:t>
            </a:r>
            <a:endParaRPr lang="en-US" sz="1200" dirty="0"/>
          </a:p>
        </p:txBody>
      </p:sp>
      <p:sp>
        <p:nvSpPr>
          <p:cNvPr id="19" name="Text 14"/>
          <p:cNvSpPr/>
          <p:nvPr/>
        </p:nvSpPr>
        <p:spPr>
          <a:xfrm>
            <a:off x="8183880" y="2286000"/>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The fix — every session</a:t>
            </a:r>
            <a:endParaRPr lang="en-US" sz="1150" dirty="0"/>
          </a:p>
        </p:txBody>
      </p:sp>
      <p:sp>
        <p:nvSpPr>
          <p:cNvPr id="20" name="Text 15"/>
          <p:cNvSpPr/>
          <p:nvPr/>
        </p:nvSpPr>
        <p:spPr>
          <a:xfrm>
            <a:off x="8183880" y="2551176"/>
            <a:ext cx="3456432" cy="68580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addpath("~/.matlab/agentic-toolkits/simulink")  then  satk_initialize  — shares the session AND validates the install. Or plain shareMATLABSession().</a:t>
            </a:r>
            <a:endParaRPr lang="en-US" sz="950" dirty="0"/>
          </a:p>
        </p:txBody>
      </p:sp>
      <p:sp>
        <p:nvSpPr>
          <p:cNvPr id="21" name="Shape 16"/>
          <p:cNvSpPr/>
          <p:nvPr/>
        </p:nvSpPr>
        <p:spPr>
          <a:xfrm>
            <a:off x="7726680" y="326440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22" name="Text 17"/>
          <p:cNvSpPr/>
          <p:nvPr/>
        </p:nvSpPr>
        <p:spPr>
          <a:xfrm>
            <a:off x="7726680" y="326440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3</a:t>
            </a:r>
            <a:endParaRPr lang="en-US" sz="1200" dirty="0"/>
          </a:p>
        </p:txBody>
      </p:sp>
      <p:sp>
        <p:nvSpPr>
          <p:cNvPr id="23" name="Text 18"/>
          <p:cNvSpPr/>
          <p:nvPr/>
        </p:nvSpPr>
        <p:spPr>
          <a:xfrm>
            <a:off x="8183880" y="3246120"/>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Make it permanent</a:t>
            </a:r>
            <a:endParaRPr lang="en-US" sz="1150" dirty="0"/>
          </a:p>
        </p:txBody>
      </p:sp>
      <p:sp>
        <p:nvSpPr>
          <p:cNvPr id="24" name="Text 19"/>
          <p:cNvSpPr/>
          <p:nvPr/>
        </p:nvSpPr>
        <p:spPr>
          <a:xfrm>
            <a:off x="8183880" y="3511296"/>
            <a:ext cx="3456432" cy="68580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Put it in startup.m (type edit startup.m). Then every MATLAB you launch is agent-ready. Multiple MATLABs open? The most recently shared one wins.</a:t>
            </a:r>
            <a:endParaRPr lang="en-US" sz="950" dirty="0"/>
          </a:p>
        </p:txBody>
      </p:sp>
      <p:sp>
        <p:nvSpPr>
          <p:cNvPr id="25" name="Text 20"/>
          <p:cNvSpPr/>
          <p:nvPr/>
        </p:nvSpPr>
        <p:spPr>
          <a:xfrm>
            <a:off x="548640" y="3858768"/>
            <a:ext cx="6903720" cy="237744"/>
          </a:xfrm>
          <a:prstGeom prst="rect">
            <a:avLst/>
          </a:prstGeom>
          <a:noFill/>
          <a:ln/>
        </p:spPr>
        <p:txBody>
          <a:bodyPr wrap="square" lIns="0" tIns="0" rIns="0" bIns="0" rtlCol="0" anchor="ctr"/>
          <a:lstStyle/>
          <a:p>
            <a:pPr marL="0" indent="0">
              <a:buNone/>
            </a:pPr>
            <a:r>
              <a:rPr lang="en-US" sz="950" b="0" kern="0" spc="200" dirty="0">
                <a:solidFill>
                  <a:srgbClr val="4472C4"/>
                </a:solidFill>
                <a:latin typeface="Product Sans" pitchFamily="34" charset="0"/>
                <a:ea typeface="Product Sans" pitchFamily="34" charset="-122"/>
                <a:cs typeface="Product Sans" pitchFamily="34" charset="-120"/>
              </a:rPr>
              <a:t>STARTUP.M — PASTE ONCE</a:t>
            </a:r>
            <a:endParaRPr lang="en-US" sz="950" dirty="0"/>
          </a:p>
        </p:txBody>
      </p:sp>
      <p:sp>
        <p:nvSpPr>
          <p:cNvPr id="26" name="Shape 21"/>
          <p:cNvSpPr/>
          <p:nvPr/>
        </p:nvSpPr>
        <p:spPr>
          <a:xfrm>
            <a:off x="548640" y="4114800"/>
            <a:ext cx="6903720" cy="1188720"/>
          </a:xfrm>
          <a:prstGeom prst="roundRect">
            <a:avLst>
              <a:gd name="adj" fmla="val 5385"/>
            </a:avLst>
          </a:prstGeom>
          <a:solidFill>
            <a:srgbClr val="1F3864"/>
          </a:solidFill>
          <a:ln w="12700">
            <a:solidFill>
              <a:srgbClr val="1F3864"/>
            </a:solidFill>
            <a:prstDash val="solid"/>
          </a:ln>
        </p:spPr>
        <p:txBody>
          <a:bodyPr/>
          <a:lstStyle/>
          <a:p>
            <a:endParaRPr lang="en-US"/>
          </a:p>
        </p:txBody>
      </p:sp>
      <p:sp>
        <p:nvSpPr>
          <p:cNvPr id="27" name="Text 22"/>
          <p:cNvSpPr/>
          <p:nvPr/>
        </p:nvSpPr>
        <p:spPr>
          <a:xfrm>
            <a:off x="731520" y="4242816"/>
            <a:ext cx="6537960" cy="932688"/>
          </a:xfrm>
          <a:prstGeom prst="rect">
            <a:avLst/>
          </a:prstGeom>
          <a:noFill/>
          <a:ln/>
        </p:spPr>
        <p:txBody>
          <a:bodyPr wrap="square" lIns="0" tIns="0" rIns="0" bIns="0" rtlCol="0" anchor="t"/>
          <a:lstStyle/>
          <a:p>
            <a:pPr marL="0" indent="0">
              <a:lnSpc>
                <a:spcPct val="102000"/>
              </a:lnSpc>
              <a:spcAft>
                <a:spcPts val="300"/>
              </a:spcAft>
              <a:buNone/>
            </a:pPr>
            <a:r>
              <a:rPr lang="en-US" sz="1150" b="1" dirty="0">
                <a:solidFill>
                  <a:srgbClr val="FFFFFF"/>
                </a:solidFill>
                <a:latin typeface="Cascadia Mono" pitchFamily="34" charset="0"/>
                <a:ea typeface="Cascadia Mono" pitchFamily="34" charset="-122"/>
                <a:cs typeface="Cascadia Mono" pitchFamily="34" charset="-120"/>
              </a:rPr>
              <a:t>addpath("~/.matlab/agentic-toolkits/simulink")</a:t>
            </a:r>
            <a:endParaRPr lang="en-US" sz="1150" dirty="0"/>
          </a:p>
          <a:p>
            <a:pPr marL="0" indent="0">
              <a:lnSpc>
                <a:spcPct val="102000"/>
              </a:lnSpc>
              <a:spcAft>
                <a:spcPts val="300"/>
              </a:spcAft>
              <a:buNone/>
            </a:pPr>
            <a:r>
              <a:rPr lang="en-US" sz="1250" b="1" dirty="0">
                <a:solidFill>
                  <a:srgbClr val="FFFFFF"/>
                </a:solidFill>
                <a:latin typeface="Cascadia Mono" pitchFamily="34" charset="0"/>
                <a:ea typeface="Cascadia Mono" pitchFamily="34" charset="-122"/>
                <a:cs typeface="Cascadia Mono" pitchFamily="34" charset="-120"/>
              </a:rPr>
              <a:t>satk_initialize</a:t>
            </a:r>
            <a:endParaRPr lang="en-US" sz="1150" dirty="0"/>
          </a:p>
          <a:p>
            <a:pPr marL="0" indent="0">
              <a:lnSpc>
                <a:spcPct val="102000"/>
              </a:lnSpc>
              <a:spcAft>
                <a:spcPts val="300"/>
              </a:spcAft>
              <a:buNone/>
            </a:pPr>
            <a:r>
              <a:rPr lang="en-US" sz="1050" dirty="0">
                <a:solidFill>
                  <a:srgbClr val="E3EAF7"/>
                </a:solidFill>
                <a:latin typeface="Cascadia Mono" pitchFamily="34" charset="0"/>
                <a:ea typeface="Cascadia Mono" pitchFamily="34" charset="-122"/>
                <a:cs typeface="Cascadia Mono" pitchFamily="34" charset="-120"/>
              </a:rPr>
              <a:t>% shares this MATLAB with your agent + validates the toolkit</a:t>
            </a:r>
            <a:endParaRPr lang="en-US" sz="1150" dirty="0"/>
          </a:p>
        </p:txBody>
      </p:sp>
      <p:sp>
        <p:nvSpPr>
          <p:cNvPr id="28" name="Shape 23"/>
          <p:cNvSpPr/>
          <p:nvPr/>
        </p:nvSpPr>
        <p:spPr>
          <a:xfrm>
            <a:off x="548640" y="5532120"/>
            <a:ext cx="11091672" cy="365760"/>
          </a:xfrm>
          <a:prstGeom prst="roundRect">
            <a:avLst>
              <a:gd name="adj" fmla="val 15000"/>
            </a:avLst>
          </a:prstGeom>
          <a:solidFill>
            <a:srgbClr val="1F3864"/>
          </a:solidFill>
          <a:ln w="12700">
            <a:solidFill>
              <a:srgbClr val="1F3864"/>
            </a:solidFill>
            <a:prstDash val="solid"/>
          </a:ln>
        </p:spPr>
        <p:txBody>
          <a:bodyPr/>
          <a:lstStyle/>
          <a:p>
            <a:endParaRPr lang="en-US"/>
          </a:p>
        </p:txBody>
      </p:sp>
      <p:sp>
        <p:nvSpPr>
          <p:cNvPr id="29" name="Text 24"/>
          <p:cNvSpPr/>
          <p:nvPr/>
        </p:nvSpPr>
        <p:spPr>
          <a:xfrm>
            <a:off x="685800" y="5532120"/>
            <a:ext cx="10817352" cy="365760"/>
          </a:xfrm>
          <a:prstGeom prst="rect">
            <a:avLst/>
          </a:prstGeom>
          <a:noFill/>
          <a:ln/>
        </p:spPr>
        <p:txBody>
          <a:bodyPr wrap="square" lIns="0" tIns="0" rIns="0" bIns="0" rtlCol="0" anchor="ctr"/>
          <a:lstStyle/>
          <a:p>
            <a:pPr marL="0" indent="0" algn="ctr">
              <a:buNone/>
            </a:pPr>
            <a:r>
              <a:rPr lang="en-US" sz="1150" b="0" dirty="0">
                <a:solidFill>
                  <a:srgbClr val="FFFFFF"/>
                </a:solidFill>
                <a:latin typeface="Product Sans" pitchFamily="34" charset="0"/>
                <a:ea typeface="Product Sans" pitchFamily="34" charset="-122"/>
                <a:cs typeface="Product Sans" pitchFamily="34" charset="-120"/>
              </a:rPr>
              <a:t>No shared session → the server may launch a NEW hidden MATLAB (mode auto) — your workspace and open model won't be there. Share first.</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52</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Step 6a · Verify in Claude Code</a:t>
            </a:r>
            <a:endParaRPr lang="en-US" sz="2400" dirty="0"/>
          </a:p>
        </p:txBody>
      </p:sp>
      <p:sp>
        <p:nvSpPr>
          <p:cNvPr id="7" name="Text 3"/>
          <p:cNvSpPr/>
          <p:nvPr/>
        </p:nvSpPr>
        <p:spPr>
          <a:xfrm>
            <a:off x="548640" y="859536"/>
            <a:ext cx="8869680" cy="292608"/>
          </a:xfrm>
          <a:prstGeom prst="rect">
            <a:avLst/>
          </a:prstGeom>
          <a:noFill/>
          <a:ln/>
        </p:spPr>
        <p:txBody>
          <a:bodyPr wrap="square" lIns="0" tIns="0" rIns="0" bIns="0" rtlCol="0" anchor="ctr"/>
          <a:lstStyle/>
          <a:p>
            <a:pPr marL="0" indent="0">
              <a:buNone/>
            </a:pPr>
            <a:r>
              <a:rPr lang="en-US" sz="1250" b="0" i="1" dirty="0">
                <a:solidFill>
                  <a:srgbClr val="595959"/>
                </a:solidFill>
                <a:latin typeface="Product Sans" pitchFamily="34" charset="0"/>
                <a:ea typeface="Product Sans" pitchFamily="34" charset="-122"/>
                <a:cs typeface="Product Sans" pitchFamily="34" charset="-120"/>
              </a:rPr>
              <a:t>Three checks, 60 seconds — this is what "it worked" looks like</a:t>
            </a:r>
            <a:endParaRPr lang="en-US" sz="1250" dirty="0"/>
          </a:p>
        </p:txBody>
      </p:sp>
      <p:sp>
        <p:nvSpPr>
          <p:cNvPr id="8" name="Shape 4"/>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9" name="Text 5"/>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SETUP 5/7</a:t>
            </a:r>
            <a:endParaRPr lang="en-US" sz="950" dirty="0"/>
          </a:p>
        </p:txBody>
      </p:sp>
      <p:sp>
        <p:nvSpPr>
          <p:cNvPr id="10" name="Shape 6"/>
          <p:cNvSpPr/>
          <p:nvPr/>
        </p:nvSpPr>
        <p:spPr>
          <a:xfrm>
            <a:off x="548640" y="1325880"/>
            <a:ext cx="6903720" cy="4206240"/>
          </a:xfrm>
          <a:prstGeom prst="roundRect">
            <a:avLst>
              <a:gd name="adj" fmla="val 1304"/>
            </a:avLst>
          </a:prstGeom>
          <a:solidFill>
            <a:srgbClr val="F2F5FB"/>
          </a:solidFill>
          <a:ln w="9525">
            <a:solidFill>
              <a:srgbClr val="C9D6EE"/>
            </a:solidFill>
            <a:prstDash val="solid"/>
          </a:ln>
        </p:spPr>
        <p:txBody>
          <a:bodyPr/>
          <a:lstStyle/>
          <a:p>
            <a:endParaRPr lang="en-US"/>
          </a:p>
        </p:txBody>
      </p:sp>
      <p:pic>
        <p:nvPicPr>
          <p:cNvPr id="11" name="Image 2" descr="/private/tmp/claude-501/-Users-lohweihong-matlab-agentic-toolkit/898a4f9c-7170-4431-8019-af7b101ba079/scratchpad/shots/claude-verify.png"/>
          <p:cNvPicPr>
            <a:picLocks noChangeAspect="1"/>
          </p:cNvPicPr>
          <p:nvPr/>
        </p:nvPicPr>
        <p:blipFill>
          <a:blip r:embed="rId5"/>
          <a:stretch>
            <a:fillRect/>
          </a:stretch>
        </p:blipFill>
        <p:spPr>
          <a:xfrm>
            <a:off x="640080" y="1540900"/>
            <a:ext cx="6720840" cy="3776201"/>
          </a:xfrm>
          <a:prstGeom prst="rect">
            <a:avLst/>
          </a:prstGeom>
        </p:spPr>
      </p:pic>
      <p:sp>
        <p:nvSpPr>
          <p:cNvPr id="12" name="Text 7"/>
          <p:cNvSpPr/>
          <p:nvPr/>
        </p:nvSpPr>
        <p:spPr>
          <a:xfrm>
            <a:off x="548640" y="5577840"/>
            <a:ext cx="6903720" cy="237744"/>
          </a:xfrm>
          <a:prstGeom prst="rect">
            <a:avLst/>
          </a:prstGeom>
          <a:noFill/>
          <a:ln/>
        </p:spPr>
        <p:txBody>
          <a:bodyPr wrap="square" lIns="0" tIns="0" rIns="0" bIns="0" rtlCol="0" anchor="ctr"/>
          <a:lstStyle/>
          <a:p>
            <a:pPr marL="0" indent="0">
              <a:buNone/>
            </a:pPr>
            <a:r>
              <a:rPr lang="en-US" sz="900" b="0" i="1" dirty="0">
                <a:solidFill>
                  <a:srgbClr val="595959"/>
                </a:solidFill>
                <a:latin typeface="Product Sans" pitchFamily="34" charset="0"/>
                <a:ea typeface="Product Sans" pitchFamily="34" charset="-122"/>
                <a:cs typeface="Product Sans" pitchFamily="34" charset="-120"/>
              </a:rPr>
              <a:t>Real output from this machine (paths shortened). Config lives in ~/.claude.json, written by setupAgenticToolkit via claude mcp add.</a:t>
            </a:r>
            <a:endParaRPr lang="en-US" sz="900" dirty="0"/>
          </a:p>
        </p:txBody>
      </p:sp>
      <p:sp>
        <p:nvSpPr>
          <p:cNvPr id="13" name="Shape 8"/>
          <p:cNvSpPr/>
          <p:nvPr/>
        </p:nvSpPr>
        <p:spPr>
          <a:xfrm>
            <a:off x="7726680" y="134416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4" name="Text 9"/>
          <p:cNvSpPr/>
          <p:nvPr/>
        </p:nvSpPr>
        <p:spPr>
          <a:xfrm>
            <a:off x="7726680" y="134416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1</a:t>
            </a:r>
            <a:endParaRPr lang="en-US" sz="1200" dirty="0"/>
          </a:p>
        </p:txBody>
      </p:sp>
      <p:sp>
        <p:nvSpPr>
          <p:cNvPr id="15" name="Text 10"/>
          <p:cNvSpPr/>
          <p:nvPr/>
        </p:nvSpPr>
        <p:spPr>
          <a:xfrm>
            <a:off x="8183880" y="1325880"/>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claude mcp list → ✔ Connected</a:t>
            </a:r>
            <a:endParaRPr lang="en-US" sz="1150" dirty="0"/>
          </a:p>
        </p:txBody>
      </p:sp>
      <p:sp>
        <p:nvSpPr>
          <p:cNvPr id="16" name="Text 11"/>
          <p:cNvSpPr/>
          <p:nvPr/>
        </p:nvSpPr>
        <p:spPr>
          <a:xfrm>
            <a:off x="8183880" y="1591056"/>
            <a:ext cx="3456432" cy="64008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From any terminal, before launching Claude. Not listed? Config wasn't written — re-run setupAgenticToolkit("configure"). Listed but ✘? MATLAB path or Gatekeeper — see rescue.</a:t>
            </a:r>
            <a:endParaRPr lang="en-US" sz="950" dirty="0"/>
          </a:p>
        </p:txBody>
      </p:sp>
      <p:sp>
        <p:nvSpPr>
          <p:cNvPr id="17" name="Shape 12"/>
          <p:cNvSpPr/>
          <p:nvPr/>
        </p:nvSpPr>
        <p:spPr>
          <a:xfrm>
            <a:off x="7726680" y="225856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8" name="Text 13"/>
          <p:cNvSpPr/>
          <p:nvPr/>
        </p:nvSpPr>
        <p:spPr>
          <a:xfrm>
            <a:off x="7726680" y="225856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2</a:t>
            </a:r>
            <a:endParaRPr lang="en-US" sz="1200" dirty="0"/>
          </a:p>
        </p:txBody>
      </p:sp>
      <p:sp>
        <p:nvSpPr>
          <p:cNvPr id="19" name="Text 14"/>
          <p:cNvSpPr/>
          <p:nvPr/>
        </p:nvSpPr>
        <p:spPr>
          <a:xfrm>
            <a:off x="8183880" y="2240280"/>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/mcp inside Claude Code</a:t>
            </a:r>
            <a:endParaRPr lang="en-US" sz="1150" dirty="0"/>
          </a:p>
        </p:txBody>
      </p:sp>
      <p:sp>
        <p:nvSpPr>
          <p:cNvPr id="20" name="Text 15"/>
          <p:cNvSpPr/>
          <p:nvPr/>
        </p:nvSpPr>
        <p:spPr>
          <a:xfrm>
            <a:off x="8183880" y="2505456"/>
            <a:ext cx="3456432" cy="64008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Shows the matlab server and its tool count: 5 MATLAB tools (+8 model tools if Simulink toolkit installed). Restart Claude Code if you configured while it was open.</a:t>
            </a:r>
            <a:endParaRPr lang="en-US" sz="950" dirty="0"/>
          </a:p>
        </p:txBody>
      </p:sp>
      <p:sp>
        <p:nvSpPr>
          <p:cNvPr id="21" name="Shape 16"/>
          <p:cNvSpPr/>
          <p:nvPr/>
        </p:nvSpPr>
        <p:spPr>
          <a:xfrm>
            <a:off x="7726680" y="317296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22" name="Text 17"/>
          <p:cNvSpPr/>
          <p:nvPr/>
        </p:nvSpPr>
        <p:spPr>
          <a:xfrm>
            <a:off x="7726680" y="317296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3</a:t>
            </a:r>
            <a:endParaRPr lang="en-US" sz="1200" dirty="0"/>
          </a:p>
        </p:txBody>
      </p:sp>
      <p:sp>
        <p:nvSpPr>
          <p:cNvPr id="23" name="Text 18"/>
          <p:cNvSpPr/>
          <p:nvPr/>
        </p:nvSpPr>
        <p:spPr>
          <a:xfrm>
            <a:off x="8183880" y="3154680"/>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/skills lists MATLAB skills</a:t>
            </a:r>
            <a:endParaRPr lang="en-US" sz="1150" dirty="0"/>
          </a:p>
        </p:txBody>
      </p:sp>
      <p:sp>
        <p:nvSpPr>
          <p:cNvPr id="24" name="Text 19"/>
          <p:cNvSpPr/>
          <p:nvPr/>
        </p:nvSpPr>
        <p:spPr>
          <a:xfrm>
            <a:off x="8183880" y="3419856"/>
            <a:ext cx="3456432" cy="64008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matlab-core:… entries prove the plugin installed. Missing? claude plugin install matlab-core@matlab-agentic-toolkit</a:t>
            </a:r>
            <a:endParaRPr lang="en-US" sz="950" dirty="0"/>
          </a:p>
        </p:txBody>
      </p:sp>
      <p:sp>
        <p:nvSpPr>
          <p:cNvPr id="25" name="Shape 20"/>
          <p:cNvSpPr/>
          <p:nvPr/>
        </p:nvSpPr>
        <p:spPr>
          <a:xfrm>
            <a:off x="548640" y="5806440"/>
            <a:ext cx="11091672" cy="365760"/>
          </a:xfrm>
          <a:prstGeom prst="roundRect">
            <a:avLst>
              <a:gd name="adj" fmla="val 15000"/>
            </a:avLst>
          </a:prstGeom>
          <a:solidFill>
            <a:srgbClr val="1F3864"/>
          </a:solidFill>
          <a:ln w="12700">
            <a:solidFill>
              <a:srgbClr val="1F3864"/>
            </a:solidFill>
            <a:prstDash val="solid"/>
          </a:ln>
        </p:spPr>
        <p:txBody>
          <a:bodyPr/>
          <a:lstStyle/>
          <a:p>
            <a:endParaRPr lang="en-US"/>
          </a:p>
        </p:txBody>
      </p:sp>
      <p:sp>
        <p:nvSpPr>
          <p:cNvPr id="26" name="Text 21"/>
          <p:cNvSpPr/>
          <p:nvPr/>
        </p:nvSpPr>
        <p:spPr>
          <a:xfrm>
            <a:off x="685800" y="5806440"/>
            <a:ext cx="10817352" cy="365760"/>
          </a:xfrm>
          <a:prstGeom prst="rect">
            <a:avLst/>
          </a:prstGeom>
          <a:noFill/>
          <a:ln/>
        </p:spPr>
        <p:txBody>
          <a:bodyPr wrap="square" lIns="0" tIns="0" rIns="0" bIns="0" rtlCol="0" anchor="ctr"/>
          <a:lstStyle/>
          <a:p>
            <a:pPr marL="0" indent="0" algn="ctr">
              <a:buNone/>
            </a:pPr>
            <a:r>
              <a:rPr lang="en-US" sz="1150" b="0" dirty="0">
                <a:solidFill>
                  <a:srgbClr val="FFFFFF"/>
                </a:solidFill>
                <a:latin typeface="Product Sans" pitchFamily="34" charset="0"/>
                <a:ea typeface="Product Sans" pitchFamily="34" charset="-122"/>
                <a:cs typeface="Product Sans" pitchFamily="34" charset="-120"/>
              </a:rPr>
              <a:t>Prefer the Claude Desktop app? Next slide — same config, same checks. Then the verify prompt.</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53</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Step 6b · Verify in the Claude Desktop app</a:t>
            </a:r>
            <a:endParaRPr lang="en-US" sz="2400" dirty="0"/>
          </a:p>
        </p:txBody>
      </p:sp>
      <p:sp>
        <p:nvSpPr>
          <p:cNvPr id="7" name="Text 3"/>
          <p:cNvSpPr/>
          <p:nvPr/>
        </p:nvSpPr>
        <p:spPr>
          <a:xfrm>
            <a:off x="548640" y="859536"/>
            <a:ext cx="8869680" cy="292608"/>
          </a:xfrm>
          <a:prstGeom prst="rect">
            <a:avLst/>
          </a:prstGeom>
          <a:noFill/>
          <a:ln/>
        </p:spPr>
        <p:txBody>
          <a:bodyPr wrap="square" lIns="0" tIns="0" rIns="0" bIns="0" rtlCol="0" anchor="ctr"/>
          <a:lstStyle/>
          <a:p>
            <a:pPr marL="0" indent="0">
              <a:buNone/>
            </a:pPr>
            <a:r>
              <a:rPr lang="en-US" sz="1250" b="0" i="1" dirty="0">
                <a:solidFill>
                  <a:srgbClr val="595959"/>
                </a:solidFill>
                <a:latin typeface="Product Sans" pitchFamily="34" charset="0"/>
                <a:ea typeface="Product Sans" pitchFamily="34" charset="-122"/>
                <a:cs typeface="Product Sans" pitchFamily="34" charset="-120"/>
              </a:rPr>
              <a:t>Two tabs, two different worlds — the Code tab IS Claude Code; the Chat tab needs its own extension</a:t>
            </a:r>
            <a:endParaRPr lang="en-US" sz="1250" dirty="0"/>
          </a:p>
        </p:txBody>
      </p:sp>
      <p:sp>
        <p:nvSpPr>
          <p:cNvPr id="8" name="Shape 4"/>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9" name="Text 5"/>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SETUP 6/7</a:t>
            </a:r>
            <a:endParaRPr lang="en-US" sz="950" dirty="0"/>
          </a:p>
        </p:txBody>
      </p:sp>
      <p:sp>
        <p:nvSpPr>
          <p:cNvPr id="10" name="Shape 6"/>
          <p:cNvSpPr/>
          <p:nvPr/>
        </p:nvSpPr>
        <p:spPr>
          <a:xfrm>
            <a:off x="548640" y="1325880"/>
            <a:ext cx="6309360" cy="3017520"/>
          </a:xfrm>
          <a:prstGeom prst="roundRect">
            <a:avLst>
              <a:gd name="adj" fmla="val 1818"/>
            </a:avLst>
          </a:prstGeom>
          <a:solidFill>
            <a:srgbClr val="F2F5FB"/>
          </a:solidFill>
          <a:ln w="9525">
            <a:solidFill>
              <a:srgbClr val="C9D6EE"/>
            </a:solidFill>
            <a:prstDash val="solid"/>
          </a:ln>
        </p:spPr>
        <p:txBody>
          <a:bodyPr/>
          <a:lstStyle/>
          <a:p>
            <a:endParaRPr lang="en-US"/>
          </a:p>
        </p:txBody>
      </p:sp>
      <p:pic>
        <p:nvPicPr>
          <p:cNvPr id="11" name="Image 2" descr="/private/tmp/claude-501/-Users-lohweihong-matlab-agentic-toolkit/898a4f9c-7170-4431-8019-af7b101ba079/scratchpad/shots/claude-desktop.png"/>
          <p:cNvPicPr>
            <a:picLocks noChangeAspect="1"/>
          </p:cNvPicPr>
          <p:nvPr/>
        </p:nvPicPr>
        <p:blipFill>
          <a:blip r:embed="rId5"/>
          <a:stretch>
            <a:fillRect/>
          </a:stretch>
        </p:blipFill>
        <p:spPr>
          <a:xfrm>
            <a:off x="915924" y="1417320"/>
            <a:ext cx="5574792" cy="2834640"/>
          </a:xfrm>
          <a:prstGeom prst="rect">
            <a:avLst/>
          </a:prstGeom>
        </p:spPr>
      </p:pic>
      <p:sp>
        <p:nvSpPr>
          <p:cNvPr id="12" name="Shape 7"/>
          <p:cNvSpPr/>
          <p:nvPr/>
        </p:nvSpPr>
        <p:spPr>
          <a:xfrm>
            <a:off x="7132320" y="134416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3" name="Text 8"/>
          <p:cNvSpPr/>
          <p:nvPr/>
        </p:nvSpPr>
        <p:spPr>
          <a:xfrm>
            <a:off x="7132320" y="134416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1</a:t>
            </a:r>
            <a:endParaRPr lang="en-US" sz="1200" dirty="0"/>
          </a:p>
        </p:txBody>
      </p:sp>
      <p:sp>
        <p:nvSpPr>
          <p:cNvPr id="14" name="Text 9"/>
          <p:cNvSpPr/>
          <p:nvPr/>
        </p:nvSpPr>
        <p:spPr>
          <a:xfrm>
            <a:off x="7589520" y="1325880"/>
            <a:ext cx="405079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Code tab → /mcp shows matlab</a:t>
            </a:r>
            <a:endParaRPr lang="en-US" sz="1150" dirty="0"/>
          </a:p>
        </p:txBody>
      </p:sp>
      <p:sp>
        <p:nvSpPr>
          <p:cNvPr id="15" name="Text 10"/>
          <p:cNvSpPr/>
          <p:nvPr/>
        </p:nvSpPr>
        <p:spPr>
          <a:xfrm>
            <a:off x="7589520" y="1591056"/>
            <a:ext cx="4050792" cy="45720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Claude Code Desktop runs the same engine and reads the same ~/.claude.json as the terminal CLI — so setupAgenticToolkit already configured it. Nothing extra to install.</a:t>
            </a:r>
            <a:endParaRPr lang="en-US" sz="950" dirty="0"/>
          </a:p>
        </p:txBody>
      </p:sp>
      <p:sp>
        <p:nvSpPr>
          <p:cNvPr id="16" name="Shape 11"/>
          <p:cNvSpPr/>
          <p:nvPr/>
        </p:nvSpPr>
        <p:spPr>
          <a:xfrm>
            <a:off x="7132320" y="207568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7" name="Text 12"/>
          <p:cNvSpPr/>
          <p:nvPr/>
        </p:nvSpPr>
        <p:spPr>
          <a:xfrm>
            <a:off x="7132320" y="207568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2</a:t>
            </a:r>
            <a:endParaRPr lang="en-US" sz="1200" dirty="0"/>
          </a:p>
        </p:txBody>
      </p:sp>
      <p:sp>
        <p:nvSpPr>
          <p:cNvPr id="18" name="Text 13"/>
          <p:cNvSpPr/>
          <p:nvPr/>
        </p:nvSpPr>
        <p:spPr>
          <a:xfrm>
            <a:off x="7589520" y="2057400"/>
            <a:ext cx="405079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 button → Plugins</a:t>
            </a:r>
            <a:endParaRPr lang="en-US" sz="1150" dirty="0"/>
          </a:p>
        </p:txBody>
      </p:sp>
      <p:sp>
        <p:nvSpPr>
          <p:cNvPr id="19" name="Text 14"/>
          <p:cNvSpPr/>
          <p:nvPr/>
        </p:nvSpPr>
        <p:spPr>
          <a:xfrm>
            <a:off x="7589520" y="2322576"/>
            <a:ext cx="4050792" cy="45720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Lists installed plugins and their skills (matlab-core, model-based-design-core, …). Missing? Add plugin → matlab-agentic-toolkit marketplace, or run the CLI: claude plugin install matlab-core@matlab-agentic-toolkit</a:t>
            </a:r>
            <a:endParaRPr lang="en-US" sz="950" dirty="0"/>
          </a:p>
        </p:txBody>
      </p:sp>
      <p:sp>
        <p:nvSpPr>
          <p:cNvPr id="20" name="Shape 15"/>
          <p:cNvSpPr/>
          <p:nvPr/>
        </p:nvSpPr>
        <p:spPr>
          <a:xfrm>
            <a:off x="7132320" y="280720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21" name="Text 16"/>
          <p:cNvSpPr/>
          <p:nvPr/>
        </p:nvSpPr>
        <p:spPr>
          <a:xfrm>
            <a:off x="7132320" y="280720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3</a:t>
            </a:r>
            <a:endParaRPr lang="en-US" sz="1200" dirty="0"/>
          </a:p>
        </p:txBody>
      </p:sp>
      <p:sp>
        <p:nvSpPr>
          <p:cNvPr id="22" name="Text 17"/>
          <p:cNvSpPr/>
          <p:nvPr/>
        </p:nvSpPr>
        <p:spPr>
          <a:xfrm>
            <a:off x="7589520" y="2788920"/>
            <a:ext cx="405079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Same skills, same slash commands</a:t>
            </a:r>
            <a:endParaRPr lang="en-US" sz="1150" dirty="0"/>
          </a:p>
        </p:txBody>
      </p:sp>
      <p:sp>
        <p:nvSpPr>
          <p:cNvPr id="23" name="Text 18"/>
          <p:cNvSpPr/>
          <p:nvPr/>
        </p:nvSpPr>
        <p:spPr>
          <a:xfrm>
            <a:off x="7589520" y="3054096"/>
            <a:ext cx="4050792" cy="45720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Type / in the prompt box: /matlab-testing, /matlab-debugging… appear exactly as in the terminal. Personal skills come from ~/.claude/skills/.</a:t>
            </a:r>
            <a:endParaRPr lang="en-US" sz="950" dirty="0"/>
          </a:p>
        </p:txBody>
      </p:sp>
      <p:sp>
        <p:nvSpPr>
          <p:cNvPr id="24" name="Shape 19"/>
          <p:cNvSpPr/>
          <p:nvPr/>
        </p:nvSpPr>
        <p:spPr>
          <a:xfrm>
            <a:off x="7132320" y="353872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25" name="Text 20"/>
          <p:cNvSpPr/>
          <p:nvPr/>
        </p:nvSpPr>
        <p:spPr>
          <a:xfrm>
            <a:off x="7132320" y="353872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4</a:t>
            </a:r>
            <a:endParaRPr lang="en-US" sz="1200" dirty="0"/>
          </a:p>
        </p:txBody>
      </p:sp>
      <p:sp>
        <p:nvSpPr>
          <p:cNvPr id="26" name="Text 21"/>
          <p:cNvSpPr/>
          <p:nvPr/>
        </p:nvSpPr>
        <p:spPr>
          <a:xfrm>
            <a:off x="7589520" y="3520440"/>
            <a:ext cx="405079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Verify prompt — look for the tool call</a:t>
            </a:r>
            <a:endParaRPr lang="en-US" sz="1150" dirty="0"/>
          </a:p>
        </p:txBody>
      </p:sp>
      <p:sp>
        <p:nvSpPr>
          <p:cNvPr id="27" name="Text 22"/>
          <p:cNvSpPr/>
          <p:nvPr/>
        </p:nvSpPr>
        <p:spPr>
          <a:xfrm>
            <a:off x="7589520" y="3785616"/>
            <a:ext cx="4050792" cy="45720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Same pass criterion: a matlab · detect_matlab_toolboxes line, then your MATLAB's answer. Configured while the app was open? Quit + reopen.</a:t>
            </a:r>
            <a:endParaRPr lang="en-US" sz="950" dirty="0"/>
          </a:p>
        </p:txBody>
      </p:sp>
      <p:sp>
        <p:nvSpPr>
          <p:cNvPr id="28" name="Text 23"/>
          <p:cNvSpPr/>
          <p:nvPr/>
        </p:nvSpPr>
        <p:spPr>
          <a:xfrm>
            <a:off x="548640" y="4434840"/>
            <a:ext cx="6309360" cy="219456"/>
          </a:xfrm>
          <a:prstGeom prst="rect">
            <a:avLst/>
          </a:prstGeom>
          <a:noFill/>
          <a:ln/>
        </p:spPr>
        <p:txBody>
          <a:bodyPr wrap="square" lIns="0" tIns="0" rIns="0" bIns="0" rtlCol="0" anchor="ctr"/>
          <a:lstStyle/>
          <a:p>
            <a:pPr marL="0" indent="0">
              <a:buNone/>
            </a:pPr>
            <a:r>
              <a:rPr lang="en-US" sz="950" b="0" kern="0" spc="200" dirty="0">
                <a:solidFill>
                  <a:srgbClr val="C07A0A"/>
                </a:solidFill>
                <a:latin typeface="Product Sans" pitchFamily="34" charset="0"/>
                <a:ea typeface="Product Sans" pitchFamily="34" charset="-122"/>
                <a:cs typeface="Product Sans" pitchFamily="34" charset="-120"/>
              </a:rPr>
              <a:t>CHAT TAB (CLAUDE DESKTOP, NOT CLAUDE CODE) — DIFFERENT PATH</a:t>
            </a:r>
            <a:endParaRPr lang="en-US" sz="950" dirty="0"/>
          </a:p>
        </p:txBody>
      </p:sp>
      <p:pic>
        <p:nvPicPr>
          <p:cNvPr id="29" name="Image 3" descr="/private/tmp/claude-501/-Users-lohweihong-matlab-agentic-toolkit/898a4f9c-7170-4431-8019-af7b101ba079/scratchpad/shots/claude-desktop-ext.png"/>
          <p:cNvPicPr>
            <a:picLocks noChangeAspect="1"/>
          </p:cNvPicPr>
          <p:nvPr/>
        </p:nvPicPr>
        <p:blipFill>
          <a:blip r:embed="rId6"/>
          <a:stretch>
            <a:fillRect/>
          </a:stretch>
        </p:blipFill>
        <p:spPr>
          <a:xfrm>
            <a:off x="548640" y="4663440"/>
            <a:ext cx="3017520" cy="1074033"/>
          </a:xfrm>
          <a:prstGeom prst="rect">
            <a:avLst/>
          </a:prstGeom>
        </p:spPr>
      </p:pic>
      <p:sp>
        <p:nvSpPr>
          <p:cNvPr id="30" name="Text 24"/>
          <p:cNvSpPr/>
          <p:nvPr/>
        </p:nvSpPr>
        <p:spPr>
          <a:xfrm>
            <a:off x="3703320" y="4663440"/>
            <a:ext cx="3154680" cy="1188720"/>
          </a:xfrm>
          <a:prstGeom prst="rect">
            <a:avLst/>
          </a:prstGeom>
          <a:noFill/>
          <a:ln/>
        </p:spPr>
        <p:txBody>
          <a:bodyPr wrap="square" lIns="0" tIns="0" rIns="0" bIns="0" rtlCol="0" anchor="t"/>
          <a:lstStyle/>
          <a:p>
            <a:pPr marL="0" indent="0">
              <a:buNone/>
            </a:pPr>
            <a:r>
              <a:rPr lang="en-US" sz="850" b="0" dirty="0">
                <a:solidFill>
                  <a:srgbClr val="262626"/>
                </a:solidFill>
                <a:latin typeface="Product Sans" pitchFamily="34" charset="0"/>
                <a:ea typeface="Product Sans" pitchFamily="34" charset="-122"/>
                <a:cs typeface="Product Sans" pitchFamily="34" charset="-120"/>
              </a:rPr>
              <a:t>The Chat tab does not read ~/.claude.json. To use MATLAB from a plain Claude chat: Settings → Extensions → install Anthropic's Filesystem extension first, then download matlab-mcp-server.mcpb from github.com/matlab/matlab-mcp-server/releases and double-click it → Install. Configure arguments (e.g. --matlab-session-mode=existing) under Settings → Extensions → Configure. Skills do not apply in Chat — this is MCP tools only.</a:t>
            </a:r>
            <a:endParaRPr lang="en-US" sz="850" dirty="0"/>
          </a:p>
        </p:txBody>
      </p:sp>
      <p:sp>
        <p:nvSpPr>
          <p:cNvPr id="31" name="Shape 25"/>
          <p:cNvSpPr/>
          <p:nvPr/>
        </p:nvSpPr>
        <p:spPr>
          <a:xfrm>
            <a:off x="7132320" y="4434840"/>
            <a:ext cx="4507992" cy="1417320"/>
          </a:xfrm>
          <a:prstGeom prst="roundRect">
            <a:avLst>
              <a:gd name="adj" fmla="val 4516"/>
            </a:avLst>
          </a:prstGeom>
          <a:solidFill>
            <a:srgbClr val="EEF2FA"/>
          </a:solidFill>
          <a:ln w="9525">
            <a:solidFill>
              <a:srgbClr val="C9D6EE"/>
            </a:solidFill>
            <a:prstDash val="solid"/>
          </a:ln>
        </p:spPr>
        <p:txBody>
          <a:bodyPr/>
          <a:lstStyle/>
          <a:p>
            <a:endParaRPr lang="en-US"/>
          </a:p>
        </p:txBody>
      </p:sp>
      <p:sp>
        <p:nvSpPr>
          <p:cNvPr id="32" name="Text 26"/>
          <p:cNvSpPr/>
          <p:nvPr/>
        </p:nvSpPr>
        <p:spPr>
          <a:xfrm>
            <a:off x="7296912" y="4544568"/>
            <a:ext cx="4178808" cy="292608"/>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Which one am I in?</a:t>
            </a:r>
            <a:endParaRPr lang="en-US" sz="1150" dirty="0"/>
          </a:p>
        </p:txBody>
      </p:sp>
      <p:sp>
        <p:nvSpPr>
          <p:cNvPr id="33" name="Text 27"/>
          <p:cNvSpPr/>
          <p:nvPr/>
        </p:nvSpPr>
        <p:spPr>
          <a:xfrm>
            <a:off x="7296912" y="4873752"/>
            <a:ext cx="4178808" cy="886968"/>
          </a:xfrm>
          <a:prstGeom prst="rect">
            <a:avLst/>
          </a:prstGeom>
          <a:noFill/>
          <a:ln/>
        </p:spPr>
        <p:txBody>
          <a:bodyPr wrap="square" lIns="0" tIns="0" rIns="0" bIns="0" rtlCol="0" anchor="t"/>
          <a:lstStyle/>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Code tab (or the claude terminal command) → agentic coding, skills, /mcp — this is what the workshop uses</a:t>
            </a:r>
            <a:endParaRPr lang="en-US" sz="950" dirty="0"/>
          </a:p>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Chat tab → conversational Claude with desktop extensions; MATLAB via .mcpb, no skills</a:t>
            </a:r>
            <a:endParaRPr lang="en-US" sz="950" dirty="0"/>
          </a:p>
          <a:p>
            <a:pPr marL="0" indent="0">
              <a:lnSpc>
                <a:spcPct val="100000"/>
              </a:lnSpc>
              <a:spcAft>
                <a:spcPts val="400"/>
              </a:spcAft>
              <a:buNone/>
            </a:pPr>
            <a:r>
              <a:rPr lang="en-US" sz="950" b="0" dirty="0">
                <a:solidFill>
                  <a:srgbClr val="1F3864"/>
                </a:solidFill>
                <a:latin typeface="Product Sans" pitchFamily="34" charset="0"/>
                <a:ea typeface="Product Sans" pitchFamily="34" charset="-122"/>
                <a:cs typeface="Product Sans" pitchFamily="34" charset="-120"/>
              </a:rPr>
              <a:t>Rule of thumb: if you can type /mcp, you're in Claude Code.</a:t>
            </a:r>
            <a:endParaRPr lang="en-US" sz="950" dirty="0"/>
          </a:p>
        </p:txBody>
      </p:sp>
      <p:sp>
        <p:nvSpPr>
          <p:cNvPr id="34" name="Shape 28"/>
          <p:cNvSpPr/>
          <p:nvPr/>
        </p:nvSpPr>
        <p:spPr>
          <a:xfrm>
            <a:off x="548640" y="5989320"/>
            <a:ext cx="11091672" cy="365760"/>
          </a:xfrm>
          <a:prstGeom prst="roundRect">
            <a:avLst>
              <a:gd name="adj" fmla="val 15000"/>
            </a:avLst>
          </a:prstGeom>
          <a:solidFill>
            <a:srgbClr val="1F3864"/>
          </a:solidFill>
          <a:ln w="12700">
            <a:solidFill>
              <a:srgbClr val="1F3864"/>
            </a:solidFill>
            <a:prstDash val="solid"/>
          </a:ln>
        </p:spPr>
        <p:txBody>
          <a:bodyPr/>
          <a:lstStyle/>
          <a:p>
            <a:endParaRPr lang="en-US"/>
          </a:p>
        </p:txBody>
      </p:sp>
      <p:sp>
        <p:nvSpPr>
          <p:cNvPr id="35" name="Text 29"/>
          <p:cNvSpPr/>
          <p:nvPr/>
        </p:nvSpPr>
        <p:spPr>
          <a:xfrm>
            <a:off x="685800" y="5989320"/>
            <a:ext cx="10817352" cy="365760"/>
          </a:xfrm>
          <a:prstGeom prst="rect">
            <a:avLst/>
          </a:prstGeom>
          <a:noFill/>
          <a:ln/>
        </p:spPr>
        <p:txBody>
          <a:bodyPr wrap="square" lIns="0" tIns="0" rIns="0" bIns="0" rtlCol="0" anchor="ctr"/>
          <a:lstStyle/>
          <a:p>
            <a:pPr marL="0" indent="0" algn="ctr">
              <a:buNone/>
            </a:pPr>
            <a:r>
              <a:rPr lang="en-US" sz="1150" b="0" dirty="0">
                <a:solidFill>
                  <a:srgbClr val="FFFFFF"/>
                </a:solidFill>
                <a:latin typeface="Product Sans" pitchFamily="34" charset="0"/>
                <a:ea typeface="Product Sans" pitchFamily="34" charset="-122"/>
                <a:cs typeface="Product Sans" pitchFamily="34" charset="-120"/>
              </a:rPr>
              <a:t>For the workshop, use the Code tab (or the terminal) — the setup you just did already covers it.</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54</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Step 6c · Verify in Codex — CLI and Desktop app</a:t>
            </a:r>
            <a:endParaRPr lang="en-US" sz="2400" dirty="0"/>
          </a:p>
        </p:txBody>
      </p:sp>
      <p:sp>
        <p:nvSpPr>
          <p:cNvPr id="7" name="Text 3"/>
          <p:cNvSpPr/>
          <p:nvPr/>
        </p:nvSpPr>
        <p:spPr>
          <a:xfrm>
            <a:off x="548640" y="859536"/>
            <a:ext cx="8869680" cy="292608"/>
          </a:xfrm>
          <a:prstGeom prst="rect">
            <a:avLst/>
          </a:prstGeom>
          <a:noFill/>
          <a:ln/>
        </p:spPr>
        <p:txBody>
          <a:bodyPr wrap="square" lIns="0" tIns="0" rIns="0" bIns="0" rtlCol="0" anchor="ctr"/>
          <a:lstStyle/>
          <a:p>
            <a:pPr marL="0" indent="0">
              <a:buNone/>
            </a:pPr>
            <a:r>
              <a:rPr lang="en-US" sz="1250" b="0" i="1" dirty="0">
                <a:solidFill>
                  <a:srgbClr val="595959"/>
                </a:solidFill>
                <a:latin typeface="Product Sans" pitchFamily="34" charset="0"/>
                <a:ea typeface="Product Sans" pitchFamily="34" charset="-122"/>
                <a:cs typeface="Product Sans" pitchFamily="34" charset="-120"/>
              </a:rPr>
              <a:t>One config file (~/.codex/config.toml) serves both the terminal CLI and the Codex desktop app</a:t>
            </a:r>
            <a:endParaRPr lang="en-US" sz="1250" dirty="0"/>
          </a:p>
        </p:txBody>
      </p:sp>
      <p:sp>
        <p:nvSpPr>
          <p:cNvPr id="8" name="Shape 4"/>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9" name="Text 5"/>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SETUP 7/7</a:t>
            </a:r>
            <a:endParaRPr lang="en-US" sz="950" dirty="0"/>
          </a:p>
        </p:txBody>
      </p:sp>
      <p:sp>
        <p:nvSpPr>
          <p:cNvPr id="10" name="Shape 6"/>
          <p:cNvSpPr/>
          <p:nvPr/>
        </p:nvSpPr>
        <p:spPr>
          <a:xfrm>
            <a:off x="548640" y="1325880"/>
            <a:ext cx="5669280" cy="2880360"/>
          </a:xfrm>
          <a:prstGeom prst="roundRect">
            <a:avLst>
              <a:gd name="adj" fmla="val 1905"/>
            </a:avLst>
          </a:prstGeom>
          <a:solidFill>
            <a:srgbClr val="F2F5FB"/>
          </a:solidFill>
          <a:ln w="9525">
            <a:solidFill>
              <a:srgbClr val="C9D6EE"/>
            </a:solidFill>
            <a:prstDash val="solid"/>
          </a:ln>
        </p:spPr>
        <p:txBody>
          <a:bodyPr/>
          <a:lstStyle/>
          <a:p>
            <a:endParaRPr lang="en-US"/>
          </a:p>
        </p:txBody>
      </p:sp>
      <p:pic>
        <p:nvPicPr>
          <p:cNvPr id="11" name="Image 2" descr="/private/tmp/claude-501/-Users-lohweihong-matlab-agentic-toolkit/898a4f9c-7170-4431-8019-af7b101ba079/scratchpad/shots/codex-verify.png"/>
          <p:cNvPicPr>
            <a:picLocks noChangeAspect="1"/>
          </p:cNvPicPr>
          <p:nvPr/>
        </p:nvPicPr>
        <p:blipFill>
          <a:blip r:embed="rId5"/>
          <a:stretch>
            <a:fillRect/>
          </a:stretch>
        </p:blipFill>
        <p:spPr>
          <a:xfrm>
            <a:off x="648721" y="1417320"/>
            <a:ext cx="5469118" cy="2697480"/>
          </a:xfrm>
          <a:prstGeom prst="rect">
            <a:avLst/>
          </a:prstGeom>
        </p:spPr>
      </p:pic>
      <p:sp>
        <p:nvSpPr>
          <p:cNvPr id="12" name="Shape 7"/>
          <p:cNvSpPr/>
          <p:nvPr/>
        </p:nvSpPr>
        <p:spPr>
          <a:xfrm>
            <a:off x="6492240" y="134416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3" name="Text 8"/>
          <p:cNvSpPr/>
          <p:nvPr/>
        </p:nvSpPr>
        <p:spPr>
          <a:xfrm>
            <a:off x="6492240" y="134416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1</a:t>
            </a:r>
            <a:endParaRPr lang="en-US" sz="1200" dirty="0"/>
          </a:p>
        </p:txBody>
      </p:sp>
      <p:sp>
        <p:nvSpPr>
          <p:cNvPr id="14" name="Text 9"/>
          <p:cNvSpPr/>
          <p:nvPr/>
        </p:nvSpPr>
        <p:spPr>
          <a:xfrm>
            <a:off x="6949440" y="1325880"/>
            <a:ext cx="469087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codex mcp list → matlab enabled</a:t>
            </a:r>
            <a:endParaRPr lang="en-US" sz="1150" dirty="0"/>
          </a:p>
        </p:txBody>
      </p:sp>
      <p:sp>
        <p:nvSpPr>
          <p:cNvPr id="15" name="Text 10"/>
          <p:cNvSpPr/>
          <p:nvPr/>
        </p:nvSpPr>
        <p:spPr>
          <a:xfrm>
            <a:off x="6949440" y="1591056"/>
            <a:ext cx="4690872" cy="438912"/>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Terminal check. Missing? Re-run configure with Agents="codex", or paste the [mcp_servers.matlab] block from templates/codex-mcp.json.</a:t>
            </a:r>
            <a:endParaRPr lang="en-US" sz="950" dirty="0"/>
          </a:p>
        </p:txBody>
      </p:sp>
      <p:sp>
        <p:nvSpPr>
          <p:cNvPr id="16" name="Shape 11"/>
          <p:cNvSpPr/>
          <p:nvPr/>
        </p:nvSpPr>
        <p:spPr>
          <a:xfrm>
            <a:off x="6492240" y="2057400"/>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7" name="Text 12"/>
          <p:cNvSpPr/>
          <p:nvPr/>
        </p:nvSpPr>
        <p:spPr>
          <a:xfrm>
            <a:off x="6492240" y="2057400"/>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2</a:t>
            </a:r>
            <a:endParaRPr lang="en-US" sz="1200" dirty="0"/>
          </a:p>
        </p:txBody>
      </p:sp>
      <p:sp>
        <p:nvSpPr>
          <p:cNvPr id="18" name="Text 13"/>
          <p:cNvSpPr/>
          <p:nvPr/>
        </p:nvSpPr>
        <p:spPr>
          <a:xfrm>
            <a:off x="6949440" y="2039112"/>
            <a:ext cx="469087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tool_timeout_sec = 600</a:t>
            </a:r>
            <a:endParaRPr lang="en-US" sz="1150" dirty="0"/>
          </a:p>
        </p:txBody>
      </p:sp>
      <p:sp>
        <p:nvSpPr>
          <p:cNvPr id="19" name="Text 14"/>
          <p:cNvSpPr/>
          <p:nvPr/>
        </p:nvSpPr>
        <p:spPr>
          <a:xfrm>
            <a:off x="6949440" y="2304288"/>
            <a:ext cx="4690872" cy="438912"/>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Codex's default timeout is too short for test suites and simulations — the installer sets 600. If long tasks time out, raise it. Windows + Simulink: add env_vars = ['WINDIR'].</a:t>
            </a:r>
            <a:endParaRPr lang="en-US" sz="950" dirty="0"/>
          </a:p>
        </p:txBody>
      </p:sp>
      <p:sp>
        <p:nvSpPr>
          <p:cNvPr id="20" name="Shape 15"/>
          <p:cNvSpPr/>
          <p:nvPr/>
        </p:nvSpPr>
        <p:spPr>
          <a:xfrm>
            <a:off x="6492240" y="2770632"/>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21" name="Text 16"/>
          <p:cNvSpPr/>
          <p:nvPr/>
        </p:nvSpPr>
        <p:spPr>
          <a:xfrm>
            <a:off x="6492240" y="2770632"/>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3</a:t>
            </a:r>
            <a:endParaRPr lang="en-US" sz="1200" dirty="0"/>
          </a:p>
        </p:txBody>
      </p:sp>
      <p:sp>
        <p:nvSpPr>
          <p:cNvPr id="22" name="Text 17"/>
          <p:cNvSpPr/>
          <p:nvPr/>
        </p:nvSpPr>
        <p:spPr>
          <a:xfrm>
            <a:off x="6949440" y="2752344"/>
            <a:ext cx="469087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approval_mode = "approve"</a:t>
            </a:r>
            <a:endParaRPr lang="en-US" sz="1150" dirty="0"/>
          </a:p>
        </p:txBody>
      </p:sp>
      <p:sp>
        <p:nvSpPr>
          <p:cNvPr id="23" name="Text 18"/>
          <p:cNvSpPr/>
          <p:nvPr/>
        </p:nvSpPr>
        <p:spPr>
          <a:xfrm>
            <a:off x="6949440" y="3017520"/>
            <a:ext cx="4690872" cy="438912"/>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Codex asks before running MATLAB code — human-in-the-loop by default. Keep it for the workshop.</a:t>
            </a:r>
            <a:endParaRPr lang="en-US" sz="950" dirty="0"/>
          </a:p>
        </p:txBody>
      </p:sp>
      <p:sp>
        <p:nvSpPr>
          <p:cNvPr id="24" name="Shape 19"/>
          <p:cNvSpPr/>
          <p:nvPr/>
        </p:nvSpPr>
        <p:spPr>
          <a:xfrm>
            <a:off x="6492240" y="3483864"/>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25" name="Text 20"/>
          <p:cNvSpPr/>
          <p:nvPr/>
        </p:nvSpPr>
        <p:spPr>
          <a:xfrm>
            <a:off x="6492240" y="3483864"/>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4</a:t>
            </a:r>
            <a:endParaRPr lang="en-US" sz="1200" dirty="0"/>
          </a:p>
        </p:txBody>
      </p:sp>
      <p:sp>
        <p:nvSpPr>
          <p:cNvPr id="26" name="Text 21"/>
          <p:cNvSpPr/>
          <p:nvPr/>
        </p:nvSpPr>
        <p:spPr>
          <a:xfrm>
            <a:off x="6949440" y="3465576"/>
            <a:ext cx="469087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/mcp — and the skills</a:t>
            </a:r>
            <a:endParaRPr lang="en-US" sz="1150" dirty="0"/>
          </a:p>
        </p:txBody>
      </p:sp>
      <p:sp>
        <p:nvSpPr>
          <p:cNvPr id="27" name="Text 22"/>
          <p:cNvSpPr/>
          <p:nvPr/>
        </p:nvSpPr>
        <p:spPr>
          <a:xfrm>
            <a:off x="6949440" y="3730752"/>
            <a:ext cx="4690872" cy="438912"/>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/mcp confirms server + tools. Skills: CLI and the Codex app both read ~/.agents/skills/ symlinks — ls ~/.agents/skills | grep matlab. In the app: Settings → Skills lists them. Missing? Re-run configure with Agents="codex".</a:t>
            </a:r>
            <a:endParaRPr lang="en-US" sz="950" dirty="0"/>
          </a:p>
        </p:txBody>
      </p:sp>
      <p:sp>
        <p:nvSpPr>
          <p:cNvPr id="28" name="Text 23"/>
          <p:cNvSpPr/>
          <p:nvPr/>
        </p:nvSpPr>
        <p:spPr>
          <a:xfrm>
            <a:off x="548640" y="4297680"/>
            <a:ext cx="5669280" cy="219456"/>
          </a:xfrm>
          <a:prstGeom prst="rect">
            <a:avLst/>
          </a:prstGeom>
          <a:noFill/>
          <a:ln/>
        </p:spPr>
        <p:txBody>
          <a:bodyPr wrap="square" lIns="0" tIns="0" rIns="0" bIns="0" rtlCol="0" anchor="ctr"/>
          <a:lstStyle/>
          <a:p>
            <a:pPr marL="0" indent="0">
              <a:buNone/>
            </a:pPr>
            <a:r>
              <a:rPr lang="en-US" sz="950" b="0" kern="0" spc="200" dirty="0">
                <a:solidFill>
                  <a:srgbClr val="4472C4"/>
                </a:solidFill>
                <a:latin typeface="Product Sans" pitchFamily="34" charset="0"/>
                <a:ea typeface="Product Sans" pitchFamily="34" charset="-122"/>
                <a:cs typeface="Product Sans" pitchFamily="34" charset="-120"/>
              </a:rPr>
              <a:t>CODEX DESKTOP APP — SAME CONFIG, NO EXTRA SETUP</a:t>
            </a:r>
            <a:endParaRPr lang="en-US" sz="950" dirty="0"/>
          </a:p>
        </p:txBody>
      </p:sp>
      <p:sp>
        <p:nvSpPr>
          <p:cNvPr id="29" name="Shape 24"/>
          <p:cNvSpPr/>
          <p:nvPr/>
        </p:nvSpPr>
        <p:spPr>
          <a:xfrm>
            <a:off x="548640" y="4553712"/>
            <a:ext cx="5669280" cy="1481328"/>
          </a:xfrm>
          <a:prstGeom prst="roundRect">
            <a:avLst>
              <a:gd name="adj" fmla="val 4321"/>
            </a:avLst>
          </a:prstGeom>
          <a:solidFill>
            <a:srgbClr val="EEF2FA"/>
          </a:solidFill>
          <a:ln w="9525">
            <a:solidFill>
              <a:srgbClr val="C9D6EE"/>
            </a:solidFill>
            <a:prstDash val="solid"/>
          </a:ln>
        </p:spPr>
        <p:txBody>
          <a:bodyPr/>
          <a:lstStyle/>
          <a:p>
            <a:endParaRPr lang="en-US"/>
          </a:p>
        </p:txBody>
      </p:sp>
      <p:sp>
        <p:nvSpPr>
          <p:cNvPr id="30" name="Text 25"/>
          <p:cNvSpPr/>
          <p:nvPr/>
        </p:nvSpPr>
        <p:spPr>
          <a:xfrm>
            <a:off x="713232" y="4663440"/>
            <a:ext cx="5340096" cy="1280160"/>
          </a:xfrm>
          <a:prstGeom prst="rect">
            <a:avLst/>
          </a:prstGeom>
          <a:noFill/>
          <a:ln/>
        </p:spPr>
        <p:txBody>
          <a:bodyPr wrap="square" lIns="0" tIns="0" rIns="0" bIns="0" rtlCol="0" anchor="t"/>
          <a:lstStyle/>
          <a:p>
            <a:pPr marL="0" indent="0">
              <a:lnSpc>
                <a:spcPct val="100000"/>
              </a:lnSpc>
              <a:spcAft>
                <a:spcPts val="300"/>
              </a:spcAft>
              <a:buNone/>
            </a:pPr>
            <a:r>
              <a:rPr lang="en-US" sz="1000" b="0" dirty="0">
                <a:solidFill>
                  <a:srgbClr val="262626"/>
                </a:solidFill>
                <a:latin typeface="Product Sans" pitchFamily="34" charset="0"/>
                <a:ea typeface="Product Sans" pitchFamily="34" charset="-122"/>
                <a:cs typeface="Product Sans" pitchFamily="34" charset="-120"/>
              </a:rPr>
              <a:t>1  Settings → MCP servers — the same matlab entry appears (the app reads ~/.codex/config.toml)</a:t>
            </a:r>
            <a:endParaRPr lang="en-US" sz="1000" dirty="0"/>
          </a:p>
          <a:p>
            <a:pPr marL="0" indent="0">
              <a:lnSpc>
                <a:spcPct val="100000"/>
              </a:lnSpc>
              <a:spcAft>
                <a:spcPts val="300"/>
              </a:spcAft>
              <a:buNone/>
            </a:pPr>
            <a:r>
              <a:rPr lang="en-US" sz="1000" b="0" dirty="0">
                <a:solidFill>
                  <a:srgbClr val="262626"/>
                </a:solidFill>
                <a:latin typeface="Product Sans" pitchFamily="34" charset="0"/>
                <a:ea typeface="Product Sans" pitchFamily="34" charset="-122"/>
                <a:cs typeface="Product Sans" pitchFamily="34" charset="-120"/>
              </a:rPr>
              <a:t>2  Toggle it ON — green means the server launches on demand</a:t>
            </a:r>
            <a:endParaRPr lang="en-US" sz="1000" dirty="0"/>
          </a:p>
          <a:p>
            <a:pPr marL="0" indent="0">
              <a:lnSpc>
                <a:spcPct val="100000"/>
              </a:lnSpc>
              <a:spcAft>
                <a:spcPts val="300"/>
              </a:spcAft>
              <a:buNone/>
            </a:pPr>
            <a:r>
              <a:rPr lang="en-US" sz="1000" b="0" dirty="0">
                <a:solidFill>
                  <a:srgbClr val="262626"/>
                </a:solidFill>
                <a:latin typeface="Product Sans" pitchFamily="34" charset="0"/>
                <a:ea typeface="Product Sans" pitchFamily="34" charset="-122"/>
                <a:cs typeface="Product Sans" pitchFamily="34" charset="-120"/>
              </a:rPr>
              <a:t>3  “+ Add MCP server” is only needed if you skipped the installer’s Codex step</a:t>
            </a:r>
            <a:endParaRPr lang="en-US" sz="1000" dirty="0"/>
          </a:p>
          <a:p>
            <a:pPr marL="0" indent="0">
              <a:lnSpc>
                <a:spcPct val="100000"/>
              </a:lnSpc>
              <a:spcAft>
                <a:spcPts val="300"/>
              </a:spcAft>
              <a:buNone/>
            </a:pPr>
            <a:r>
              <a:rPr lang="en-US" sz="1000" b="0" dirty="0">
                <a:solidFill>
                  <a:srgbClr val="262626"/>
                </a:solidFill>
                <a:latin typeface="Product Sans" pitchFamily="34" charset="0"/>
                <a:ea typeface="Product Sans" pitchFamily="34" charset="-122"/>
                <a:cs typeface="Product Sans" pitchFamily="34" charset="-120"/>
              </a:rPr>
              <a:t>4  Settings → Skills shows the MATLAB skills (from ~/.agents/skills/) — no skills there = Fix C</a:t>
            </a:r>
            <a:endParaRPr lang="en-US" sz="1000" dirty="0"/>
          </a:p>
          <a:p>
            <a:pPr marL="0" indent="0">
              <a:lnSpc>
                <a:spcPct val="100000"/>
              </a:lnSpc>
              <a:spcAft>
                <a:spcPts val="300"/>
              </a:spcAft>
              <a:buNone/>
            </a:pPr>
            <a:r>
              <a:rPr lang="en-US" sz="1000" b="0" dirty="0">
                <a:solidFill>
                  <a:srgbClr val="262626"/>
                </a:solidFill>
                <a:latin typeface="Product Sans" pitchFamily="34" charset="0"/>
                <a:ea typeface="Product Sans" pitchFamily="34" charset="-122"/>
                <a:cs typeface="Product Sans" pitchFamily="34" charset="-120"/>
              </a:rPr>
              <a:t>5  Open a new thread and paste the verify prompt — the tool call appears inline</a:t>
            </a:r>
            <a:endParaRPr lang="en-US" sz="1000" dirty="0"/>
          </a:p>
          <a:p>
            <a:pPr marL="0" indent="0">
              <a:lnSpc>
                <a:spcPct val="100000"/>
              </a:lnSpc>
              <a:spcAft>
                <a:spcPts val="400"/>
              </a:spcAft>
              <a:buNone/>
            </a:pPr>
            <a:r>
              <a:rPr lang="en-US" sz="1000" b="0" dirty="0">
                <a:solidFill>
                  <a:srgbClr val="1F3864"/>
                </a:solidFill>
                <a:latin typeface="Product Sans" pitchFamily="34" charset="0"/>
                <a:ea typeface="Product Sans" pitchFamily="34" charset="-122"/>
                <a:cs typeface="Product Sans" pitchFamily="34" charset="-120"/>
              </a:rPr>
              <a:t>Quit + reopen the app after configuring. CLI and app never disagree — one file.</a:t>
            </a:r>
            <a:endParaRPr lang="en-US" sz="1000" dirty="0"/>
          </a:p>
        </p:txBody>
      </p:sp>
      <p:pic>
        <p:nvPicPr>
          <p:cNvPr id="31" name="Image 3" descr="/private/tmp/claude-501/-Users-lohweihong-matlab-agentic-toolkit/898a4f9c-7170-4431-8019-af7b101ba079/scratchpad/shots/codex-desktop.png"/>
          <p:cNvPicPr>
            <a:picLocks noChangeAspect="1"/>
          </p:cNvPicPr>
          <p:nvPr/>
        </p:nvPicPr>
        <p:blipFill>
          <a:blip r:embed="rId6"/>
          <a:stretch>
            <a:fillRect/>
          </a:stretch>
        </p:blipFill>
        <p:spPr>
          <a:xfrm>
            <a:off x="6355080" y="4224528"/>
            <a:ext cx="5285232" cy="1805937"/>
          </a:xfrm>
          <a:prstGeom prst="rect">
            <a:avLst/>
          </a:prstGeom>
        </p:spPr>
      </p:pic>
      <p:sp>
        <p:nvSpPr>
          <p:cNvPr id="32" name="Shape 26"/>
          <p:cNvSpPr/>
          <p:nvPr/>
        </p:nvSpPr>
        <p:spPr>
          <a:xfrm>
            <a:off x="548640" y="6144768"/>
            <a:ext cx="11091672" cy="365760"/>
          </a:xfrm>
          <a:prstGeom prst="roundRect">
            <a:avLst>
              <a:gd name="adj" fmla="val 15000"/>
            </a:avLst>
          </a:prstGeom>
          <a:solidFill>
            <a:srgbClr val="1F3864"/>
          </a:solidFill>
          <a:ln w="12700">
            <a:solidFill>
              <a:srgbClr val="1F3864"/>
            </a:solidFill>
            <a:prstDash val="solid"/>
          </a:ln>
        </p:spPr>
        <p:txBody>
          <a:bodyPr/>
          <a:lstStyle/>
          <a:p>
            <a:endParaRPr lang="en-US"/>
          </a:p>
        </p:txBody>
      </p:sp>
      <p:sp>
        <p:nvSpPr>
          <p:cNvPr id="33" name="Text 27"/>
          <p:cNvSpPr/>
          <p:nvPr/>
        </p:nvSpPr>
        <p:spPr>
          <a:xfrm>
            <a:off x="685800" y="6144768"/>
            <a:ext cx="10817352" cy="365760"/>
          </a:xfrm>
          <a:prstGeom prst="rect">
            <a:avLst/>
          </a:prstGeom>
          <a:noFill/>
          <a:ln/>
        </p:spPr>
        <p:txBody>
          <a:bodyPr wrap="square" lIns="0" tIns="0" rIns="0" bIns="0" rtlCol="0" anchor="ctr"/>
          <a:lstStyle/>
          <a:p>
            <a:pPr marL="0" indent="0" algn="ctr">
              <a:buNone/>
            </a:pPr>
            <a:r>
              <a:rPr lang="en-US" sz="1150" b="0" dirty="0">
                <a:solidFill>
                  <a:srgbClr val="FFFFFF"/>
                </a:solidFill>
                <a:latin typeface="Product Sans" pitchFamily="34" charset="0"/>
                <a:ea typeface="Product Sans" pitchFamily="34" charset="-122"/>
                <a:cs typeface="Product Sans" pitchFamily="34" charset="-120"/>
              </a:rPr>
              <a:t>Same server, same skills, same verify prompt — CLI or Desktop.</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55</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The pass criterion: the agent calls a tool</a:t>
            </a:r>
            <a:endParaRPr lang="en-US" sz="2400" dirty="0"/>
          </a:p>
        </p:txBody>
      </p:sp>
      <p:sp>
        <p:nvSpPr>
          <p:cNvPr id="7" name="Text 3"/>
          <p:cNvSpPr/>
          <p:nvPr/>
        </p:nvSpPr>
        <p:spPr>
          <a:xfrm>
            <a:off x="548640" y="859536"/>
            <a:ext cx="8869680" cy="292608"/>
          </a:xfrm>
          <a:prstGeom prst="rect">
            <a:avLst/>
          </a:prstGeom>
          <a:noFill/>
          <a:ln/>
        </p:spPr>
        <p:txBody>
          <a:bodyPr wrap="square" lIns="0" tIns="0" rIns="0" bIns="0" rtlCol="0" anchor="ctr"/>
          <a:lstStyle/>
          <a:p>
            <a:pPr marL="0" indent="0">
              <a:buNone/>
            </a:pPr>
            <a:r>
              <a:rPr lang="en-US" sz="1250" b="0" i="1" dirty="0">
                <a:solidFill>
                  <a:srgbClr val="595959"/>
                </a:solidFill>
                <a:latin typeface="Product Sans" pitchFamily="34" charset="0"/>
                <a:ea typeface="Product Sans" pitchFamily="34" charset="-122"/>
                <a:cs typeface="Product Sans" pitchFamily="34" charset="-120"/>
              </a:rPr>
              <a:t>One prompt tells you the whole chain works — agent → MCP → MATLAB → back</a:t>
            </a:r>
            <a:endParaRPr lang="en-US" sz="1250" dirty="0"/>
          </a:p>
        </p:txBody>
      </p:sp>
      <p:sp>
        <p:nvSpPr>
          <p:cNvPr id="8" name="Shape 4"/>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9" name="Text 5"/>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VERIFY</a:t>
            </a:r>
            <a:endParaRPr lang="en-US" sz="950" dirty="0"/>
          </a:p>
        </p:txBody>
      </p:sp>
      <p:sp>
        <p:nvSpPr>
          <p:cNvPr id="10" name="Shape 6"/>
          <p:cNvSpPr/>
          <p:nvPr/>
        </p:nvSpPr>
        <p:spPr>
          <a:xfrm>
            <a:off x="548640" y="1325880"/>
            <a:ext cx="6903720" cy="2514600"/>
          </a:xfrm>
          <a:prstGeom prst="roundRect">
            <a:avLst>
              <a:gd name="adj" fmla="val 2182"/>
            </a:avLst>
          </a:prstGeom>
          <a:solidFill>
            <a:srgbClr val="F2F5FB"/>
          </a:solidFill>
          <a:ln w="9525">
            <a:solidFill>
              <a:srgbClr val="C9D6EE"/>
            </a:solidFill>
            <a:prstDash val="solid"/>
          </a:ln>
        </p:spPr>
        <p:txBody>
          <a:bodyPr/>
          <a:lstStyle/>
          <a:p>
            <a:endParaRPr lang="en-US"/>
          </a:p>
        </p:txBody>
      </p:sp>
      <p:pic>
        <p:nvPicPr>
          <p:cNvPr id="11" name="Image 2" descr="/private/tmp/claude-501/-Users-lohweihong-matlab-agentic-toolkit/898a4f9c-7170-4431-8019-af7b101ba079/scratchpad/shots/verify-prompt.png"/>
          <p:cNvPicPr>
            <a:picLocks noChangeAspect="1"/>
          </p:cNvPicPr>
          <p:nvPr/>
        </p:nvPicPr>
        <p:blipFill>
          <a:blip r:embed="rId5"/>
          <a:stretch>
            <a:fillRect/>
          </a:stretch>
        </p:blipFill>
        <p:spPr>
          <a:xfrm>
            <a:off x="724989" y="1417320"/>
            <a:ext cx="6551023" cy="2331720"/>
          </a:xfrm>
          <a:prstGeom prst="rect">
            <a:avLst/>
          </a:prstGeom>
        </p:spPr>
      </p:pic>
      <p:sp>
        <p:nvSpPr>
          <p:cNvPr id="12" name="Shape 7"/>
          <p:cNvSpPr/>
          <p:nvPr/>
        </p:nvSpPr>
        <p:spPr>
          <a:xfrm>
            <a:off x="7726680" y="134416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3" name="Text 8"/>
          <p:cNvSpPr/>
          <p:nvPr/>
        </p:nvSpPr>
        <p:spPr>
          <a:xfrm>
            <a:off x="7726680" y="134416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1</a:t>
            </a:r>
            <a:endParaRPr lang="en-US" sz="1200" dirty="0"/>
          </a:p>
        </p:txBody>
      </p:sp>
      <p:sp>
        <p:nvSpPr>
          <p:cNvPr id="14" name="Text 9"/>
          <p:cNvSpPr/>
          <p:nvPr/>
        </p:nvSpPr>
        <p:spPr>
          <a:xfrm>
            <a:off x="8183880" y="1325880"/>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Look for the tool call line</a:t>
            </a:r>
            <a:endParaRPr lang="en-US" sz="1150" dirty="0"/>
          </a:p>
        </p:txBody>
      </p:sp>
      <p:sp>
        <p:nvSpPr>
          <p:cNvPr id="15" name="Text 10"/>
          <p:cNvSpPr/>
          <p:nvPr/>
        </p:nvSpPr>
        <p:spPr>
          <a:xfrm>
            <a:off x="8183880" y="1591056"/>
            <a:ext cx="3456432" cy="68580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 matlab - detect_matlab_toolboxes (MCP). If the agent answers with a version but no tool call, it guessed — the MCP link is NOT working.</a:t>
            </a:r>
            <a:endParaRPr lang="en-US" sz="950" dirty="0"/>
          </a:p>
        </p:txBody>
      </p:sp>
      <p:sp>
        <p:nvSpPr>
          <p:cNvPr id="16" name="Shape 11"/>
          <p:cNvSpPr/>
          <p:nvPr/>
        </p:nvSpPr>
        <p:spPr>
          <a:xfrm>
            <a:off x="7726680" y="2304288"/>
            <a:ext cx="329184" cy="329184"/>
          </a:xfrm>
          <a:prstGeom prst="roundRect">
            <a:avLst>
              <a:gd name="adj" fmla="val 25000"/>
            </a:avLst>
          </a:prstGeom>
          <a:solidFill>
            <a:srgbClr val="C07A0A"/>
          </a:solidFill>
          <a:ln w="12700">
            <a:solidFill>
              <a:srgbClr val="C07A0A"/>
            </a:solidFill>
            <a:prstDash val="solid"/>
          </a:ln>
        </p:spPr>
        <p:txBody>
          <a:bodyPr/>
          <a:lstStyle/>
          <a:p>
            <a:endParaRPr lang="en-US"/>
          </a:p>
        </p:txBody>
      </p:sp>
      <p:sp>
        <p:nvSpPr>
          <p:cNvPr id="17" name="Text 12"/>
          <p:cNvSpPr/>
          <p:nvPr/>
        </p:nvSpPr>
        <p:spPr>
          <a:xfrm>
            <a:off x="7726680" y="2304288"/>
            <a:ext cx="329184" cy="329184"/>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2</a:t>
            </a:r>
            <a:endParaRPr lang="en-US" sz="1200" dirty="0"/>
          </a:p>
        </p:txBody>
      </p:sp>
      <p:sp>
        <p:nvSpPr>
          <p:cNvPr id="18" name="Text 13"/>
          <p:cNvSpPr/>
          <p:nvPr/>
        </p:nvSpPr>
        <p:spPr>
          <a:xfrm>
            <a:off x="8183880" y="2286000"/>
            <a:ext cx="3456432" cy="274320"/>
          </a:xfrm>
          <a:prstGeom prst="rect">
            <a:avLst/>
          </a:prstGeom>
          <a:noFill/>
          <a:ln/>
        </p:spPr>
        <p:txBody>
          <a:bodyPr wrap="square" lIns="0" tIns="0" rIns="0" bIns="0" rtlCol="0" anchor="ctr"/>
          <a:lstStyle/>
          <a:p>
            <a:pPr marL="0" indent="0">
              <a:buNone/>
            </a:pPr>
            <a:r>
              <a:rPr lang="en-US" sz="1150" b="0" dirty="0">
                <a:solidFill>
                  <a:srgbClr val="1F3864"/>
                </a:solidFill>
                <a:latin typeface="Product Sans" pitchFamily="34" charset="0"/>
                <a:ea typeface="Product Sans" pitchFamily="34" charset="-122"/>
                <a:cs typeface="Product Sans" pitchFamily="34" charset="-120"/>
              </a:rPr>
              <a:t>The answer matches your MATLAB</a:t>
            </a:r>
            <a:endParaRPr lang="en-US" sz="1150" dirty="0"/>
          </a:p>
        </p:txBody>
      </p:sp>
      <p:sp>
        <p:nvSpPr>
          <p:cNvPr id="19" name="Text 14"/>
          <p:cNvSpPr/>
          <p:nvPr/>
        </p:nvSpPr>
        <p:spPr>
          <a:xfrm>
            <a:off x="8183880" y="2551176"/>
            <a:ext cx="3456432" cy="685800"/>
          </a:xfrm>
          <a:prstGeom prst="rect">
            <a:avLst/>
          </a:prstGeom>
          <a:noFill/>
          <a:ln/>
        </p:spPr>
        <p:txBody>
          <a:bodyPr wrap="square" lIns="0" tIns="0" rIns="0" bIns="0" rtlCol="0" anchor="t"/>
          <a:lstStyle/>
          <a:p>
            <a:pPr marL="0" indent="0">
              <a:buNone/>
            </a:pPr>
            <a:r>
              <a:rPr lang="en-US" sz="950" b="0" dirty="0">
                <a:solidFill>
                  <a:srgbClr val="262626"/>
                </a:solidFill>
                <a:latin typeface="Product Sans" pitchFamily="34" charset="0"/>
                <a:ea typeface="Product Sans" pitchFamily="34" charset="-122"/>
                <a:cs typeface="Product Sans" pitchFamily="34" charset="-120"/>
              </a:rPr>
              <a:t>Release and toolbox list should be yours. If it names a different release, the server attached to a different MATLAB — check setupAgenticToolkit("status") and which session is shared.</a:t>
            </a:r>
            <a:endParaRPr lang="en-US" sz="950" dirty="0"/>
          </a:p>
        </p:txBody>
      </p:sp>
      <p:sp>
        <p:nvSpPr>
          <p:cNvPr id="20" name="Text 15"/>
          <p:cNvSpPr/>
          <p:nvPr/>
        </p:nvSpPr>
        <p:spPr>
          <a:xfrm>
            <a:off x="548640" y="4087368"/>
            <a:ext cx="11091672" cy="237744"/>
          </a:xfrm>
          <a:prstGeom prst="rect">
            <a:avLst/>
          </a:prstGeom>
          <a:noFill/>
          <a:ln/>
        </p:spPr>
        <p:txBody>
          <a:bodyPr wrap="square" lIns="0" tIns="0" rIns="0" bIns="0" rtlCol="0" anchor="ctr"/>
          <a:lstStyle/>
          <a:p>
            <a:pPr marL="0" indent="0">
              <a:buNone/>
            </a:pPr>
            <a:r>
              <a:rPr lang="en-US" sz="950" b="0" kern="0" spc="200" dirty="0">
                <a:solidFill>
                  <a:srgbClr val="4472C4"/>
                </a:solidFill>
                <a:latin typeface="Product Sans" pitchFamily="34" charset="0"/>
                <a:ea typeface="Product Sans" pitchFamily="34" charset="-122"/>
                <a:cs typeface="Product Sans" pitchFamily="34" charset="-120"/>
              </a:rPr>
              <a:t>PASTE THIS — WORKS IN EVERY AGENT  ·  (Claude Code shown above; identical in Codex)</a:t>
            </a:r>
            <a:endParaRPr lang="en-US" sz="950" dirty="0"/>
          </a:p>
        </p:txBody>
      </p:sp>
      <p:sp>
        <p:nvSpPr>
          <p:cNvPr id="21" name="Shape 16"/>
          <p:cNvSpPr/>
          <p:nvPr/>
        </p:nvSpPr>
        <p:spPr>
          <a:xfrm>
            <a:off x="548640" y="4343400"/>
            <a:ext cx="11091672" cy="1051560"/>
          </a:xfrm>
          <a:prstGeom prst="roundRect">
            <a:avLst>
              <a:gd name="adj" fmla="val 6087"/>
            </a:avLst>
          </a:prstGeom>
          <a:solidFill>
            <a:srgbClr val="EEF2FA"/>
          </a:solidFill>
          <a:ln w="9525">
            <a:solidFill>
              <a:srgbClr val="C9D6EE"/>
            </a:solidFill>
            <a:prstDash val="solid"/>
          </a:ln>
        </p:spPr>
        <p:txBody>
          <a:bodyPr/>
          <a:lstStyle/>
          <a:p>
            <a:endParaRPr lang="en-US"/>
          </a:p>
        </p:txBody>
      </p:sp>
      <p:sp>
        <p:nvSpPr>
          <p:cNvPr id="22" name="Text 17"/>
          <p:cNvSpPr/>
          <p:nvPr/>
        </p:nvSpPr>
        <p:spPr>
          <a:xfrm>
            <a:off x="731520" y="4471416"/>
            <a:ext cx="10725912" cy="795528"/>
          </a:xfrm>
          <a:prstGeom prst="rect">
            <a:avLst/>
          </a:prstGeom>
          <a:noFill/>
          <a:ln/>
        </p:spPr>
        <p:txBody>
          <a:bodyPr wrap="square" lIns="0" tIns="0" rIns="0" bIns="0" rtlCol="0" anchor="t"/>
          <a:lstStyle/>
          <a:p>
            <a:pPr marL="0" indent="0">
              <a:lnSpc>
                <a:spcPct val="102000"/>
              </a:lnSpc>
              <a:spcAft>
                <a:spcPts val="300"/>
              </a:spcAft>
              <a:buNone/>
            </a:pPr>
            <a:r>
              <a:rPr lang="en-US" sz="1300" b="1" dirty="0">
                <a:solidFill>
                  <a:srgbClr val="1F3864"/>
                </a:solidFill>
                <a:latin typeface="Cascadia Mono" pitchFamily="34" charset="0"/>
                <a:ea typeface="Cascadia Mono" pitchFamily="34" charset="-122"/>
                <a:cs typeface="Cascadia Mono" pitchFamily="34" charset="-120"/>
              </a:rPr>
              <a:t>What version of MATLAB is running? List the installed toolboxes.</a:t>
            </a:r>
            <a:endParaRPr lang="en-US" sz="1300" dirty="0"/>
          </a:p>
          <a:p>
            <a:pPr marL="0" indent="0">
              <a:lnSpc>
                <a:spcPct val="102000"/>
              </a:lnSpc>
              <a:spcAft>
                <a:spcPts val="300"/>
              </a:spcAft>
              <a:buNone/>
            </a:pPr>
            <a:r>
              <a:rPr lang="en-US" sz="1050" dirty="0">
                <a:solidFill>
                  <a:srgbClr val="595959"/>
                </a:solidFill>
                <a:latin typeface="Cascadia Mono" pitchFamily="34" charset="0"/>
                <a:ea typeface="Cascadia Mono" pitchFamily="34" charset="-122"/>
                <a:cs typeface="Cascadia Mono" pitchFamily="34" charset="-120"/>
              </a:rPr>
              <a:t>Then: “Give me an overview of the slrgex_fuelsys model.” (ships with MATLAB) → the agent must call model_overview, not describe it from memory.</a:t>
            </a:r>
            <a:endParaRPr lang="en-US" sz="1300" dirty="0"/>
          </a:p>
        </p:txBody>
      </p:sp>
      <p:sp>
        <p:nvSpPr>
          <p:cNvPr id="23" name="Shape 18"/>
          <p:cNvSpPr/>
          <p:nvPr/>
        </p:nvSpPr>
        <p:spPr>
          <a:xfrm>
            <a:off x="548640" y="5669280"/>
            <a:ext cx="11091672" cy="365760"/>
          </a:xfrm>
          <a:prstGeom prst="roundRect">
            <a:avLst>
              <a:gd name="adj" fmla="val 15000"/>
            </a:avLst>
          </a:prstGeom>
          <a:solidFill>
            <a:srgbClr val="1F3864"/>
          </a:solidFill>
          <a:ln w="12700">
            <a:solidFill>
              <a:srgbClr val="1F3864"/>
            </a:solidFill>
            <a:prstDash val="solid"/>
          </a:ln>
        </p:spPr>
        <p:txBody>
          <a:bodyPr/>
          <a:lstStyle/>
          <a:p>
            <a:endParaRPr lang="en-US"/>
          </a:p>
        </p:txBody>
      </p:sp>
      <p:sp>
        <p:nvSpPr>
          <p:cNvPr id="24" name="Text 19"/>
          <p:cNvSpPr/>
          <p:nvPr/>
        </p:nvSpPr>
        <p:spPr>
          <a:xfrm>
            <a:off x="685800" y="5669280"/>
            <a:ext cx="10817352" cy="365760"/>
          </a:xfrm>
          <a:prstGeom prst="rect">
            <a:avLst/>
          </a:prstGeom>
          <a:noFill/>
          <a:ln/>
        </p:spPr>
        <p:txBody>
          <a:bodyPr wrap="square" lIns="0" tIns="0" rIns="0" bIns="0" rtlCol="0" anchor="ctr"/>
          <a:lstStyle/>
          <a:p>
            <a:pPr marL="0" indent="0" algn="ctr">
              <a:buNone/>
            </a:pPr>
            <a:r>
              <a:rPr lang="en-US" sz="1150" b="0" dirty="0">
                <a:solidFill>
                  <a:srgbClr val="FFFFFF"/>
                </a:solidFill>
                <a:latin typeface="Product Sans" pitchFamily="34" charset="0"/>
                <a:ea typeface="Product Sans" pitchFamily="34" charset="-122"/>
                <a:cs typeface="Product Sans" pitchFamily="34" charset="-120"/>
              </a:rPr>
              <a:t>Green = tool called + your MATLAB's answer. Anything else → rescue slides.</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56</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Register on YOUR platform — same server, same skills</a:t>
            </a:r>
            <a:endParaRPr lang="en-US" sz="2400" dirty="0"/>
          </a:p>
        </p:txBody>
      </p:sp>
      <p:sp>
        <p:nvSpPr>
          <p:cNvPr id="7" name="Text 3"/>
          <p:cNvSpPr/>
          <p:nvPr/>
        </p:nvSpPr>
        <p:spPr>
          <a:xfrm>
            <a:off x="548640" y="859536"/>
            <a:ext cx="8869680" cy="292608"/>
          </a:xfrm>
          <a:prstGeom prst="rect">
            <a:avLst/>
          </a:prstGeom>
          <a:noFill/>
          <a:ln/>
        </p:spPr>
        <p:txBody>
          <a:bodyPr wrap="square" lIns="0" tIns="0" rIns="0" bIns="0" rtlCol="0" anchor="ctr"/>
          <a:lstStyle/>
          <a:p>
            <a:pPr marL="0" indent="0">
              <a:buNone/>
            </a:pPr>
            <a:r>
              <a:rPr lang="en-US" sz="1250" b="0" i="1" dirty="0">
                <a:solidFill>
                  <a:srgbClr val="595959"/>
                </a:solidFill>
                <a:latin typeface="Product Sans" pitchFamily="34" charset="0"/>
                <a:ea typeface="Product Sans" pitchFamily="34" charset="-122"/>
                <a:cs typeface="Product Sans" pitchFamily="34" charset="-120"/>
              </a:rPr>
              <a:t>The toolkit is agent-agnostic: templates ship for every major MCP client</a:t>
            </a:r>
            <a:endParaRPr lang="en-US" sz="1250" dirty="0"/>
          </a:p>
        </p:txBody>
      </p:sp>
      <p:sp>
        <p:nvSpPr>
          <p:cNvPr id="8" name="Shape 4"/>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9" name="Text 5"/>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APPENDIX</a:t>
            </a:r>
            <a:endParaRPr lang="en-US" sz="950" dirty="0"/>
          </a:p>
        </p:txBody>
      </p:sp>
      <p:sp>
        <p:nvSpPr>
          <p:cNvPr id="10" name="Shape 6"/>
          <p:cNvSpPr/>
          <p:nvPr/>
        </p:nvSpPr>
        <p:spPr>
          <a:xfrm>
            <a:off x="548640" y="1572768"/>
            <a:ext cx="5404104" cy="1828800"/>
          </a:xfrm>
          <a:prstGeom prst="roundRect">
            <a:avLst>
              <a:gd name="adj" fmla="val 3500"/>
            </a:avLst>
          </a:prstGeom>
          <a:solidFill>
            <a:srgbClr val="EEF2FA"/>
          </a:solidFill>
          <a:ln w="9525">
            <a:solidFill>
              <a:srgbClr val="C9D6EE"/>
            </a:solidFill>
            <a:prstDash val="solid"/>
          </a:ln>
        </p:spPr>
        <p:txBody>
          <a:bodyPr/>
          <a:lstStyle/>
          <a:p>
            <a:endParaRPr lang="en-US"/>
          </a:p>
        </p:txBody>
      </p:sp>
      <p:sp>
        <p:nvSpPr>
          <p:cNvPr id="11" name="Text 7"/>
          <p:cNvSpPr/>
          <p:nvPr/>
        </p:nvSpPr>
        <p:spPr>
          <a:xfrm>
            <a:off x="713232" y="1682496"/>
            <a:ext cx="5074920" cy="292608"/>
          </a:xfrm>
          <a:prstGeom prst="rect">
            <a:avLst/>
          </a:prstGeom>
          <a:noFill/>
          <a:ln/>
        </p:spPr>
        <p:txBody>
          <a:bodyPr wrap="square" lIns="0" tIns="0" rIns="0" bIns="0" rtlCol="0" anchor="ctr"/>
          <a:lstStyle/>
          <a:p>
            <a:pPr marL="0" indent="0">
              <a:buNone/>
            </a:pPr>
            <a:r>
              <a:rPr lang="en-US" sz="1350" b="0" dirty="0">
                <a:solidFill>
                  <a:srgbClr val="1F3864"/>
                </a:solidFill>
                <a:latin typeface="Product Sans" pitchFamily="34" charset="0"/>
                <a:ea typeface="Product Sans" pitchFamily="34" charset="-122"/>
                <a:cs typeface="Product Sans" pitchFamily="34" charset="-120"/>
              </a:rPr>
              <a:t>Claude Code</a:t>
            </a:r>
            <a:endParaRPr lang="en-US" sz="1350" dirty="0"/>
          </a:p>
        </p:txBody>
      </p:sp>
      <p:sp>
        <p:nvSpPr>
          <p:cNvPr id="12" name="Text 8"/>
          <p:cNvSpPr/>
          <p:nvPr/>
        </p:nvSpPr>
        <p:spPr>
          <a:xfrm>
            <a:off x="713232" y="2011680"/>
            <a:ext cx="5074920" cy="1298448"/>
          </a:xfrm>
          <a:prstGeom prst="rect">
            <a:avLst/>
          </a:prstGeom>
          <a:noFill/>
          <a:ln/>
        </p:spPr>
        <p:txBody>
          <a:bodyPr wrap="square" lIns="0" tIns="0" rIns="0" bIns="0" rtlCol="0" anchor="t"/>
          <a:lstStyle/>
          <a:p>
            <a:pPr marL="0" indent="0">
              <a:lnSpc>
                <a:spcPct val="100000"/>
              </a:lnSpc>
              <a:spcAft>
                <a:spcPts val="600"/>
              </a:spcAft>
              <a:buNone/>
            </a:pPr>
            <a:r>
              <a:rPr lang="en-US" sz="1050" b="1" dirty="0">
                <a:solidFill>
                  <a:srgbClr val="4472C4"/>
                </a:solidFill>
                <a:latin typeface="Cascadia Mono" pitchFamily="34" charset="0"/>
                <a:ea typeface="Cascadia Mono" pitchFamily="34" charset="-122"/>
                <a:cs typeface="Cascadia Mono" pitchFamily="34" charset="-120"/>
              </a:rPr>
              <a:t>Automatic via the setup skill</a:t>
            </a:r>
            <a:endParaRPr lang="en-US" sz="1050" dirty="0"/>
          </a:p>
          <a:p>
            <a:pPr marL="0" indent="0">
              <a:lnSpc>
                <a:spcPct val="100000"/>
              </a:lnSpc>
              <a:spcAft>
                <a:spcPts val="400"/>
              </a:spcAft>
              <a:buNone/>
            </a:pPr>
            <a:r>
              <a:rPr lang="en-US" sz="1050" b="0" dirty="0">
                <a:solidFill>
                  <a:srgbClr val="262626"/>
                </a:solidFill>
                <a:latin typeface="Product Sans" pitchFamily="34" charset="0"/>
                <a:ea typeface="Product Sans" pitchFamily="34" charset="-122"/>
                <a:cs typeface="Product Sans" pitchFamily="34" charset="-120"/>
              </a:rPr>
              <a:t>.mcp.json + skills registered</a:t>
            </a:r>
            <a:endParaRPr lang="en-US" sz="1050" dirty="0"/>
          </a:p>
          <a:p>
            <a:pPr marL="0" indent="0">
              <a:lnSpc>
                <a:spcPct val="100000"/>
              </a:lnSpc>
              <a:spcAft>
                <a:spcPts val="400"/>
              </a:spcAft>
              <a:buNone/>
            </a:pPr>
            <a:r>
              <a:rPr lang="en-US" sz="1050" b="0" dirty="0">
                <a:solidFill>
                  <a:srgbClr val="262626"/>
                </a:solidFill>
                <a:latin typeface="Product Sans" pitchFamily="34" charset="0"/>
                <a:ea typeface="Product Sans" pitchFamily="34" charset="-122"/>
                <a:cs typeface="Product Sans" pitchFamily="34" charset="-120"/>
              </a:rPr>
              <a:t>Confirm with /skills</a:t>
            </a:r>
            <a:endParaRPr lang="en-US" sz="1050" dirty="0"/>
          </a:p>
        </p:txBody>
      </p:sp>
      <p:sp>
        <p:nvSpPr>
          <p:cNvPr id="13" name="Shape 9"/>
          <p:cNvSpPr/>
          <p:nvPr/>
        </p:nvSpPr>
        <p:spPr>
          <a:xfrm>
            <a:off x="6236208" y="1572768"/>
            <a:ext cx="5404104" cy="1828800"/>
          </a:xfrm>
          <a:prstGeom prst="roundRect">
            <a:avLst>
              <a:gd name="adj" fmla="val 3500"/>
            </a:avLst>
          </a:prstGeom>
          <a:solidFill>
            <a:srgbClr val="EEF2FA"/>
          </a:solidFill>
          <a:ln w="9525">
            <a:solidFill>
              <a:srgbClr val="C9D6EE"/>
            </a:solidFill>
            <a:prstDash val="solid"/>
          </a:ln>
        </p:spPr>
        <p:txBody>
          <a:bodyPr/>
          <a:lstStyle/>
          <a:p>
            <a:endParaRPr lang="en-US"/>
          </a:p>
        </p:txBody>
      </p:sp>
      <p:sp>
        <p:nvSpPr>
          <p:cNvPr id="14" name="Text 10"/>
          <p:cNvSpPr/>
          <p:nvPr/>
        </p:nvSpPr>
        <p:spPr>
          <a:xfrm>
            <a:off x="6400800" y="1682496"/>
            <a:ext cx="5074920" cy="292608"/>
          </a:xfrm>
          <a:prstGeom prst="rect">
            <a:avLst/>
          </a:prstGeom>
          <a:noFill/>
          <a:ln/>
        </p:spPr>
        <p:txBody>
          <a:bodyPr wrap="square" lIns="0" tIns="0" rIns="0" bIns="0" rtlCol="0" anchor="ctr"/>
          <a:lstStyle/>
          <a:p>
            <a:pPr marL="0" indent="0">
              <a:buNone/>
            </a:pPr>
            <a:r>
              <a:rPr lang="en-US" sz="1350" b="0" dirty="0">
                <a:solidFill>
                  <a:srgbClr val="1F3864"/>
                </a:solidFill>
                <a:latin typeface="Product Sans" pitchFamily="34" charset="0"/>
                <a:ea typeface="Product Sans" pitchFamily="34" charset="-122"/>
                <a:cs typeface="Product Sans" pitchFamily="34" charset="-120"/>
              </a:rPr>
              <a:t>VS Code · GitHub Copilot</a:t>
            </a:r>
            <a:endParaRPr lang="en-US" sz="1350" dirty="0"/>
          </a:p>
        </p:txBody>
      </p:sp>
      <p:sp>
        <p:nvSpPr>
          <p:cNvPr id="15" name="Text 11"/>
          <p:cNvSpPr/>
          <p:nvPr/>
        </p:nvSpPr>
        <p:spPr>
          <a:xfrm>
            <a:off x="6400800" y="2011680"/>
            <a:ext cx="5074920" cy="1298448"/>
          </a:xfrm>
          <a:prstGeom prst="rect">
            <a:avLst/>
          </a:prstGeom>
          <a:noFill/>
          <a:ln/>
        </p:spPr>
        <p:txBody>
          <a:bodyPr wrap="square" lIns="0" tIns="0" rIns="0" bIns="0" rtlCol="0" anchor="t"/>
          <a:lstStyle/>
          <a:p>
            <a:pPr marL="0" indent="0">
              <a:lnSpc>
                <a:spcPct val="100000"/>
              </a:lnSpc>
              <a:spcAft>
                <a:spcPts val="600"/>
              </a:spcAft>
              <a:buNone/>
            </a:pPr>
            <a:r>
              <a:rPr lang="en-US" sz="1050" b="1" dirty="0">
                <a:solidFill>
                  <a:srgbClr val="4472C4"/>
                </a:solidFill>
                <a:latin typeface="Cascadia Mono" pitchFamily="34" charset="0"/>
                <a:ea typeface="Cascadia Mono" pitchFamily="34" charset="-122"/>
                <a:cs typeface="Cascadia Mono" pitchFamily="34" charset="-120"/>
              </a:rPr>
              <a:t>templates/vscode-mcp.json</a:t>
            </a:r>
            <a:endParaRPr lang="en-US" sz="1050" dirty="0"/>
          </a:p>
          <a:p>
            <a:pPr marL="0" indent="0">
              <a:lnSpc>
                <a:spcPct val="100000"/>
              </a:lnSpc>
              <a:spcAft>
                <a:spcPts val="400"/>
              </a:spcAft>
              <a:buNone/>
            </a:pPr>
            <a:r>
              <a:rPr lang="en-US" sz="1050" b="0" dirty="0">
                <a:solidFill>
                  <a:srgbClr val="262626"/>
                </a:solidFill>
                <a:latin typeface="Product Sans" pitchFamily="34" charset="0"/>
                <a:ea typeface="Product Sans" pitchFamily="34" charset="-122"/>
                <a:cs typeface="Product Sans" pitchFamily="34" charset="-120"/>
              </a:rPr>
              <a:t>→ .vscode/mcp.json</a:t>
            </a:r>
            <a:endParaRPr lang="en-US" sz="1050" dirty="0"/>
          </a:p>
          <a:p>
            <a:pPr marL="0" indent="0">
              <a:lnSpc>
                <a:spcPct val="100000"/>
              </a:lnSpc>
              <a:spcAft>
                <a:spcPts val="400"/>
              </a:spcAft>
              <a:buNone/>
            </a:pPr>
            <a:r>
              <a:rPr lang="en-US" sz="1050" b="0" dirty="0">
                <a:solidFill>
                  <a:srgbClr val="262626"/>
                </a:solidFill>
                <a:latin typeface="Product Sans" pitchFamily="34" charset="0"/>
                <a:ea typeface="Product Sans" pitchFamily="34" charset="-122"/>
                <a:cs typeface="Product Sans" pitchFamily="34" charset="-120"/>
              </a:rPr>
              <a:t>Use agent mode; model tools appear in the picker</a:t>
            </a:r>
            <a:endParaRPr lang="en-US" sz="1050" dirty="0"/>
          </a:p>
        </p:txBody>
      </p:sp>
      <p:sp>
        <p:nvSpPr>
          <p:cNvPr id="16" name="Shape 12"/>
          <p:cNvSpPr/>
          <p:nvPr/>
        </p:nvSpPr>
        <p:spPr>
          <a:xfrm>
            <a:off x="548640" y="3538728"/>
            <a:ext cx="5404104" cy="1828800"/>
          </a:xfrm>
          <a:prstGeom prst="roundRect">
            <a:avLst>
              <a:gd name="adj" fmla="val 3500"/>
            </a:avLst>
          </a:prstGeom>
          <a:solidFill>
            <a:srgbClr val="EEF2FA"/>
          </a:solidFill>
          <a:ln w="9525">
            <a:solidFill>
              <a:srgbClr val="C9D6EE"/>
            </a:solidFill>
            <a:prstDash val="solid"/>
          </a:ln>
        </p:spPr>
        <p:txBody>
          <a:bodyPr/>
          <a:lstStyle/>
          <a:p>
            <a:endParaRPr lang="en-US"/>
          </a:p>
        </p:txBody>
      </p:sp>
      <p:sp>
        <p:nvSpPr>
          <p:cNvPr id="17" name="Text 13"/>
          <p:cNvSpPr/>
          <p:nvPr/>
        </p:nvSpPr>
        <p:spPr>
          <a:xfrm>
            <a:off x="713232" y="3648456"/>
            <a:ext cx="5074920" cy="292608"/>
          </a:xfrm>
          <a:prstGeom prst="rect">
            <a:avLst/>
          </a:prstGeom>
          <a:noFill/>
          <a:ln/>
        </p:spPr>
        <p:txBody>
          <a:bodyPr wrap="square" lIns="0" tIns="0" rIns="0" bIns="0" rtlCol="0" anchor="ctr"/>
          <a:lstStyle/>
          <a:p>
            <a:pPr marL="0" indent="0">
              <a:buNone/>
            </a:pPr>
            <a:r>
              <a:rPr lang="en-US" sz="1350" b="0" dirty="0">
                <a:solidFill>
                  <a:srgbClr val="1F3864"/>
                </a:solidFill>
                <a:latin typeface="Product Sans" pitchFamily="34" charset="0"/>
                <a:ea typeface="Product Sans" pitchFamily="34" charset="-122"/>
                <a:cs typeface="Product Sans" pitchFamily="34" charset="-120"/>
              </a:rPr>
              <a:t>OpenAI Codex CLI</a:t>
            </a:r>
            <a:endParaRPr lang="en-US" sz="1350" dirty="0"/>
          </a:p>
        </p:txBody>
      </p:sp>
      <p:sp>
        <p:nvSpPr>
          <p:cNvPr id="18" name="Text 14"/>
          <p:cNvSpPr/>
          <p:nvPr/>
        </p:nvSpPr>
        <p:spPr>
          <a:xfrm>
            <a:off x="713232" y="3977640"/>
            <a:ext cx="5074920" cy="1298448"/>
          </a:xfrm>
          <a:prstGeom prst="rect">
            <a:avLst/>
          </a:prstGeom>
          <a:noFill/>
          <a:ln/>
        </p:spPr>
        <p:txBody>
          <a:bodyPr wrap="square" lIns="0" tIns="0" rIns="0" bIns="0" rtlCol="0" anchor="t"/>
          <a:lstStyle/>
          <a:p>
            <a:pPr marL="0" indent="0">
              <a:lnSpc>
                <a:spcPct val="100000"/>
              </a:lnSpc>
              <a:spcAft>
                <a:spcPts val="600"/>
              </a:spcAft>
              <a:buNone/>
            </a:pPr>
            <a:r>
              <a:rPr lang="en-US" sz="1050" b="1" dirty="0">
                <a:solidFill>
                  <a:srgbClr val="4472C4"/>
                </a:solidFill>
                <a:latin typeface="Cascadia Mono" pitchFamily="34" charset="0"/>
                <a:ea typeface="Cascadia Mono" pitchFamily="34" charset="-122"/>
                <a:cs typeface="Cascadia Mono" pitchFamily="34" charset="-120"/>
              </a:rPr>
              <a:t>templates/codex-mcp.json</a:t>
            </a:r>
            <a:endParaRPr lang="en-US" sz="1050" dirty="0"/>
          </a:p>
          <a:p>
            <a:pPr marL="0" indent="0">
              <a:lnSpc>
                <a:spcPct val="100000"/>
              </a:lnSpc>
              <a:spcAft>
                <a:spcPts val="400"/>
              </a:spcAft>
              <a:buNone/>
            </a:pPr>
            <a:r>
              <a:rPr lang="en-US" sz="1050" b="0" dirty="0">
                <a:solidFill>
                  <a:srgbClr val="262626"/>
                </a:solidFill>
                <a:latin typeface="Product Sans" pitchFamily="34" charset="0"/>
                <a:ea typeface="Product Sans" pitchFamily="34" charset="-122"/>
                <a:cs typeface="Product Sans" pitchFamily="34" charset="-120"/>
              </a:rPr>
              <a:t>→ merge into ~/.codex/config.toml</a:t>
            </a:r>
            <a:endParaRPr lang="en-US" sz="1050" dirty="0"/>
          </a:p>
          <a:p>
            <a:pPr marL="0" indent="0">
              <a:lnSpc>
                <a:spcPct val="100000"/>
              </a:lnSpc>
              <a:spcAft>
                <a:spcPts val="400"/>
              </a:spcAft>
              <a:buNone/>
            </a:pPr>
            <a:r>
              <a:rPr lang="en-US" sz="1050" b="0" dirty="0">
                <a:solidFill>
                  <a:srgbClr val="262626"/>
                </a:solidFill>
                <a:latin typeface="Product Sans" pitchFamily="34" charset="0"/>
                <a:ea typeface="Product Sans" pitchFamily="34" charset="-122"/>
                <a:cs typeface="Product Sans" pitchFamily="34" charset="-120"/>
              </a:rPr>
              <a:t>AGENTS.md guides the session</a:t>
            </a:r>
            <a:endParaRPr lang="en-US" sz="1050" dirty="0"/>
          </a:p>
        </p:txBody>
      </p:sp>
      <p:sp>
        <p:nvSpPr>
          <p:cNvPr id="19" name="Shape 15"/>
          <p:cNvSpPr/>
          <p:nvPr/>
        </p:nvSpPr>
        <p:spPr>
          <a:xfrm>
            <a:off x="6236208" y="3538728"/>
            <a:ext cx="5404104" cy="1828800"/>
          </a:xfrm>
          <a:prstGeom prst="roundRect">
            <a:avLst>
              <a:gd name="adj" fmla="val 3500"/>
            </a:avLst>
          </a:prstGeom>
          <a:solidFill>
            <a:srgbClr val="EEF2FA"/>
          </a:solidFill>
          <a:ln w="9525">
            <a:solidFill>
              <a:srgbClr val="C9D6EE"/>
            </a:solidFill>
            <a:prstDash val="solid"/>
          </a:ln>
        </p:spPr>
        <p:txBody>
          <a:bodyPr/>
          <a:lstStyle/>
          <a:p>
            <a:endParaRPr lang="en-US"/>
          </a:p>
        </p:txBody>
      </p:sp>
      <p:sp>
        <p:nvSpPr>
          <p:cNvPr id="20" name="Text 16"/>
          <p:cNvSpPr/>
          <p:nvPr/>
        </p:nvSpPr>
        <p:spPr>
          <a:xfrm>
            <a:off x="6400800" y="3648456"/>
            <a:ext cx="5074920" cy="292608"/>
          </a:xfrm>
          <a:prstGeom prst="rect">
            <a:avLst/>
          </a:prstGeom>
          <a:noFill/>
          <a:ln/>
        </p:spPr>
        <p:txBody>
          <a:bodyPr wrap="square" lIns="0" tIns="0" rIns="0" bIns="0" rtlCol="0" anchor="ctr"/>
          <a:lstStyle/>
          <a:p>
            <a:pPr marL="0" indent="0">
              <a:buNone/>
            </a:pPr>
            <a:r>
              <a:rPr lang="en-US" sz="1350" b="0" dirty="0">
                <a:solidFill>
                  <a:srgbClr val="1F3864"/>
                </a:solidFill>
                <a:latin typeface="Product Sans" pitchFamily="34" charset="0"/>
                <a:ea typeface="Product Sans" pitchFamily="34" charset="-122"/>
                <a:cs typeface="Product Sans" pitchFamily="34" charset="-120"/>
              </a:rPr>
              <a:t>Gemini CLI</a:t>
            </a:r>
            <a:endParaRPr lang="en-US" sz="1350" dirty="0"/>
          </a:p>
        </p:txBody>
      </p:sp>
      <p:sp>
        <p:nvSpPr>
          <p:cNvPr id="21" name="Text 17"/>
          <p:cNvSpPr/>
          <p:nvPr/>
        </p:nvSpPr>
        <p:spPr>
          <a:xfrm>
            <a:off x="6400800" y="3977640"/>
            <a:ext cx="5074920" cy="1298448"/>
          </a:xfrm>
          <a:prstGeom prst="rect">
            <a:avLst/>
          </a:prstGeom>
          <a:noFill/>
          <a:ln/>
        </p:spPr>
        <p:txBody>
          <a:bodyPr wrap="square" lIns="0" tIns="0" rIns="0" bIns="0" rtlCol="0" anchor="t"/>
          <a:lstStyle/>
          <a:p>
            <a:pPr marL="0" indent="0">
              <a:lnSpc>
                <a:spcPct val="100000"/>
              </a:lnSpc>
              <a:spcAft>
                <a:spcPts val="600"/>
              </a:spcAft>
              <a:buNone/>
            </a:pPr>
            <a:r>
              <a:rPr lang="en-US" sz="1050" b="1" dirty="0">
                <a:solidFill>
                  <a:srgbClr val="4472C4"/>
                </a:solidFill>
                <a:latin typeface="Cascadia Mono" pitchFamily="34" charset="0"/>
                <a:ea typeface="Cascadia Mono" pitchFamily="34" charset="-122"/>
                <a:cs typeface="Cascadia Mono" pitchFamily="34" charset="-120"/>
              </a:rPr>
              <a:t>templates/gemini-extension.json</a:t>
            </a:r>
            <a:endParaRPr lang="en-US" sz="1050" dirty="0"/>
          </a:p>
          <a:p>
            <a:pPr marL="0" indent="0">
              <a:lnSpc>
                <a:spcPct val="100000"/>
              </a:lnSpc>
              <a:spcAft>
                <a:spcPts val="400"/>
              </a:spcAft>
              <a:buNone/>
            </a:pPr>
            <a:r>
              <a:rPr lang="en-US" sz="1050" b="0" dirty="0">
                <a:solidFill>
                  <a:srgbClr val="262626"/>
                </a:solidFill>
                <a:latin typeface="Product Sans" pitchFamily="34" charset="0"/>
                <a:ea typeface="Product Sans" pitchFamily="34" charset="-122"/>
                <a:cs typeface="Product Sans" pitchFamily="34" charset="-120"/>
              </a:rPr>
              <a:t>→ gemini extensions install .</a:t>
            </a:r>
            <a:endParaRPr lang="en-US" sz="1050" dirty="0"/>
          </a:p>
          <a:p>
            <a:pPr marL="0" indent="0">
              <a:lnSpc>
                <a:spcPct val="100000"/>
              </a:lnSpc>
              <a:spcAft>
                <a:spcPts val="400"/>
              </a:spcAft>
              <a:buNone/>
            </a:pPr>
            <a:r>
              <a:rPr lang="en-US" sz="1050" b="0" dirty="0">
                <a:solidFill>
                  <a:srgbClr val="262626"/>
                </a:solidFill>
                <a:latin typeface="Product Sans" pitchFamily="34" charset="0"/>
                <a:ea typeface="Product Sans" pitchFamily="34" charset="-122"/>
                <a:cs typeface="Product Sans" pitchFamily="34" charset="-120"/>
              </a:rPr>
              <a:t>Skills exposed via the extension</a:t>
            </a:r>
            <a:endParaRPr lang="en-US" sz="1050" dirty="0"/>
          </a:p>
        </p:txBody>
      </p:sp>
      <p:sp>
        <p:nvSpPr>
          <p:cNvPr id="22" name="Shape 18"/>
          <p:cNvSpPr/>
          <p:nvPr/>
        </p:nvSpPr>
        <p:spPr>
          <a:xfrm>
            <a:off x="548640" y="5623560"/>
            <a:ext cx="11091672" cy="365760"/>
          </a:xfrm>
          <a:prstGeom prst="roundRect">
            <a:avLst>
              <a:gd name="adj" fmla="val 15000"/>
            </a:avLst>
          </a:prstGeom>
          <a:solidFill>
            <a:srgbClr val="1F3864"/>
          </a:solidFill>
          <a:ln w="12700">
            <a:solidFill>
              <a:srgbClr val="1F3864"/>
            </a:solidFill>
            <a:prstDash val="solid"/>
          </a:ln>
        </p:spPr>
        <p:txBody>
          <a:bodyPr/>
          <a:lstStyle/>
          <a:p>
            <a:endParaRPr lang="en-US"/>
          </a:p>
        </p:txBody>
      </p:sp>
      <p:sp>
        <p:nvSpPr>
          <p:cNvPr id="23" name="Text 19"/>
          <p:cNvSpPr/>
          <p:nvPr/>
        </p:nvSpPr>
        <p:spPr>
          <a:xfrm>
            <a:off x="685800" y="5623560"/>
            <a:ext cx="10817352" cy="365760"/>
          </a:xfrm>
          <a:prstGeom prst="rect">
            <a:avLst/>
          </a:prstGeom>
          <a:noFill/>
          <a:ln/>
        </p:spPr>
        <p:txBody>
          <a:bodyPr wrap="square" lIns="0" tIns="0" rIns="0" bIns="0" rtlCol="0" anchor="ctr"/>
          <a:lstStyle/>
          <a:p>
            <a:pPr marL="0" indent="0" algn="ctr">
              <a:buNone/>
            </a:pPr>
            <a:r>
              <a:rPr lang="en-US" sz="1150" b="0" dirty="0">
                <a:solidFill>
                  <a:srgbClr val="FFFFFF"/>
                </a:solidFill>
                <a:latin typeface="Product Sans" pitchFamily="34" charset="0"/>
                <a:ea typeface="Product Sans" pitchFamily="34" charset="-122"/>
                <a:cs typeface="Product Sans" pitchFamily="34" charset="-120"/>
              </a:rPr>
              <a:t>One choice your organisation keeps: which LLM sits behind the agent — cloud frontier model or fully local.</a:t>
            </a:r>
            <a:endParaRPr lang="en-US" sz="11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57</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Rescue · the 60-second diagnostic</a:t>
            </a:r>
            <a:endParaRPr lang="en-US" sz="2400" dirty="0"/>
          </a:p>
        </p:txBody>
      </p:sp>
      <p:sp>
        <p:nvSpPr>
          <p:cNvPr id="7" name="Text 3"/>
          <p:cNvSpPr/>
          <p:nvPr/>
        </p:nvSpPr>
        <p:spPr>
          <a:xfrm>
            <a:off x="548640" y="859536"/>
            <a:ext cx="8869680" cy="292608"/>
          </a:xfrm>
          <a:prstGeom prst="rect">
            <a:avLst/>
          </a:prstGeom>
          <a:noFill/>
          <a:ln/>
        </p:spPr>
        <p:txBody>
          <a:bodyPr wrap="square" lIns="0" tIns="0" rIns="0" bIns="0" rtlCol="0" anchor="ctr"/>
          <a:lstStyle/>
          <a:p>
            <a:pPr marL="0" indent="0">
              <a:buNone/>
            </a:pPr>
            <a:r>
              <a:rPr lang="en-US" sz="1250" b="0" i="1" dirty="0">
                <a:solidFill>
                  <a:srgbClr val="595959"/>
                </a:solidFill>
                <a:latin typeface="Product Sans" pitchFamily="34" charset="0"/>
                <a:ea typeface="Product Sans" pitchFamily="34" charset="-122"/>
                <a:cs typeface="Product Sans" pitchFamily="34" charset="-120"/>
              </a:rPr>
              <a:t>Three questions locate the break — then jump to the matching fix</a:t>
            </a:r>
            <a:endParaRPr lang="en-US" sz="1250" dirty="0"/>
          </a:p>
        </p:txBody>
      </p:sp>
      <p:sp>
        <p:nvSpPr>
          <p:cNvPr id="8" name="Shape 4"/>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9" name="Text 5"/>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RESCUE 1/4</a:t>
            </a:r>
            <a:endParaRPr lang="en-US" sz="950" dirty="0"/>
          </a:p>
        </p:txBody>
      </p:sp>
      <p:sp>
        <p:nvSpPr>
          <p:cNvPr id="10" name="Shape 6"/>
          <p:cNvSpPr/>
          <p:nvPr/>
        </p:nvSpPr>
        <p:spPr>
          <a:xfrm>
            <a:off x="548640" y="1371600"/>
            <a:ext cx="548640" cy="548640"/>
          </a:xfrm>
          <a:prstGeom prst="roundRect">
            <a:avLst>
              <a:gd name="adj" fmla="val 15000"/>
            </a:avLst>
          </a:prstGeom>
          <a:solidFill>
            <a:srgbClr val="4472C4"/>
          </a:solidFill>
          <a:ln w="12700">
            <a:solidFill>
              <a:srgbClr val="4472C4"/>
            </a:solidFill>
            <a:prstDash val="solid"/>
          </a:ln>
        </p:spPr>
        <p:txBody>
          <a:bodyPr/>
          <a:lstStyle/>
          <a:p>
            <a:endParaRPr lang="en-US"/>
          </a:p>
        </p:txBody>
      </p:sp>
      <p:sp>
        <p:nvSpPr>
          <p:cNvPr id="11" name="Text 7"/>
          <p:cNvSpPr/>
          <p:nvPr/>
        </p:nvSpPr>
        <p:spPr>
          <a:xfrm>
            <a:off x="548640" y="1371600"/>
            <a:ext cx="548640" cy="548640"/>
          </a:xfrm>
          <a:prstGeom prst="rect">
            <a:avLst/>
          </a:prstGeom>
          <a:noFill/>
          <a:ln/>
        </p:spPr>
        <p:txBody>
          <a:bodyPr wrap="square" lIns="254" tIns="254" rIns="254" bIns="254" rtlCol="0" anchor="ctr"/>
          <a:lstStyle/>
          <a:p>
            <a:pPr marL="0" indent="0" algn="ctr">
              <a:buNone/>
            </a:pPr>
            <a:r>
              <a:rPr lang="en-US" sz="1400" b="0" dirty="0">
                <a:solidFill>
                  <a:srgbClr val="FFFFFF"/>
                </a:solidFill>
                <a:latin typeface="Product Sans" pitchFamily="34" charset="0"/>
                <a:ea typeface="Product Sans" pitchFamily="34" charset="-122"/>
                <a:cs typeface="Product Sans" pitchFamily="34" charset="-120"/>
              </a:rPr>
              <a:t>Q1</a:t>
            </a:r>
            <a:endParaRPr lang="en-US" sz="1400" dirty="0"/>
          </a:p>
        </p:txBody>
      </p:sp>
      <p:sp>
        <p:nvSpPr>
          <p:cNvPr id="12" name="Text 8"/>
          <p:cNvSpPr/>
          <p:nvPr/>
        </p:nvSpPr>
        <p:spPr>
          <a:xfrm>
            <a:off x="1234440" y="1353312"/>
            <a:ext cx="5120640" cy="292608"/>
          </a:xfrm>
          <a:prstGeom prst="rect">
            <a:avLst/>
          </a:prstGeom>
          <a:noFill/>
          <a:ln/>
        </p:spPr>
        <p:txBody>
          <a:bodyPr wrap="square" lIns="0" tIns="0" rIns="0" bIns="0" rtlCol="0" anchor="ctr"/>
          <a:lstStyle/>
          <a:p>
            <a:pPr marL="0" indent="0">
              <a:buNone/>
            </a:pPr>
            <a:r>
              <a:rPr lang="en-US" sz="1350" b="0" dirty="0">
                <a:solidFill>
                  <a:srgbClr val="1F3864"/>
                </a:solidFill>
                <a:latin typeface="Product Sans" pitchFamily="34" charset="0"/>
                <a:ea typeface="Product Sans" pitchFamily="34" charset="-122"/>
                <a:cs typeface="Product Sans" pitchFamily="34" charset="-120"/>
              </a:rPr>
              <a:t>Does the agent list a matlab MCP server?</a:t>
            </a:r>
            <a:endParaRPr lang="en-US" sz="1350" dirty="0"/>
          </a:p>
        </p:txBody>
      </p:sp>
      <p:sp>
        <p:nvSpPr>
          <p:cNvPr id="13" name="Text 9"/>
          <p:cNvSpPr/>
          <p:nvPr/>
        </p:nvSpPr>
        <p:spPr>
          <a:xfrm>
            <a:off x="1234440" y="1664208"/>
            <a:ext cx="5120640" cy="274320"/>
          </a:xfrm>
          <a:prstGeom prst="rect">
            <a:avLst/>
          </a:prstGeom>
          <a:noFill/>
          <a:ln/>
        </p:spPr>
        <p:txBody>
          <a:bodyPr wrap="square" lIns="0" tIns="0" rIns="0" bIns="0" rtlCol="0" anchor="ctr"/>
          <a:lstStyle/>
          <a:p>
            <a:pPr marL="0" indent="0">
              <a:buNone/>
            </a:pPr>
            <a:r>
              <a:rPr lang="en-US" sz="1000" dirty="0">
                <a:solidFill>
                  <a:srgbClr val="595959"/>
                </a:solidFill>
                <a:latin typeface="Cascadia Mono" pitchFamily="34" charset="0"/>
                <a:ea typeface="Cascadia Mono" pitchFamily="34" charset="-122"/>
                <a:cs typeface="Cascadia Mono" pitchFamily="34" charset="-120"/>
              </a:rPr>
              <a:t>claude mcp list  ·  codex mcp list  ·  /mcp</a:t>
            </a:r>
            <a:endParaRPr lang="en-US" sz="1000" dirty="0"/>
          </a:p>
        </p:txBody>
      </p:sp>
      <p:sp>
        <p:nvSpPr>
          <p:cNvPr id="14" name="Shape 10"/>
          <p:cNvSpPr/>
          <p:nvPr/>
        </p:nvSpPr>
        <p:spPr>
          <a:xfrm>
            <a:off x="6492240" y="1554480"/>
            <a:ext cx="310896" cy="182880"/>
          </a:xfrm>
          <a:prstGeom prst="rightArrow">
            <a:avLst/>
          </a:prstGeom>
          <a:solidFill>
            <a:srgbClr val="4472C4"/>
          </a:solidFill>
          <a:ln w="12700">
            <a:solidFill>
              <a:srgbClr val="4472C4"/>
            </a:solidFill>
            <a:prstDash val="solid"/>
          </a:ln>
        </p:spPr>
        <p:txBody>
          <a:bodyPr/>
          <a:lstStyle/>
          <a:p>
            <a:endParaRPr lang="en-US"/>
          </a:p>
        </p:txBody>
      </p:sp>
      <p:sp>
        <p:nvSpPr>
          <p:cNvPr id="15" name="Shape 11"/>
          <p:cNvSpPr/>
          <p:nvPr/>
        </p:nvSpPr>
        <p:spPr>
          <a:xfrm>
            <a:off x="6949440" y="1417320"/>
            <a:ext cx="3246120" cy="457200"/>
          </a:xfrm>
          <a:prstGeom prst="roundRect">
            <a:avLst>
              <a:gd name="adj" fmla="val 18000"/>
            </a:avLst>
          </a:prstGeom>
          <a:solidFill>
            <a:srgbClr val="FDF4E3"/>
          </a:solidFill>
          <a:ln w="12700">
            <a:solidFill>
              <a:srgbClr val="FDF4E3"/>
            </a:solidFill>
            <a:prstDash val="solid"/>
          </a:ln>
        </p:spPr>
        <p:txBody>
          <a:bodyPr/>
          <a:lstStyle/>
          <a:p>
            <a:endParaRPr lang="en-US"/>
          </a:p>
        </p:txBody>
      </p:sp>
      <p:sp>
        <p:nvSpPr>
          <p:cNvPr id="16" name="Text 12"/>
          <p:cNvSpPr/>
          <p:nvPr/>
        </p:nvSpPr>
        <p:spPr>
          <a:xfrm>
            <a:off x="6949440" y="1417320"/>
            <a:ext cx="3246120" cy="457200"/>
          </a:xfrm>
          <a:prstGeom prst="rect">
            <a:avLst/>
          </a:prstGeom>
          <a:noFill/>
          <a:ln/>
        </p:spPr>
        <p:txBody>
          <a:bodyPr wrap="square" lIns="254" tIns="254" rIns="254" bIns="254" rtlCol="0" anchor="ctr"/>
          <a:lstStyle/>
          <a:p>
            <a:pPr marL="0" indent="0" algn="ctr">
              <a:buNone/>
            </a:pPr>
            <a:r>
              <a:rPr lang="en-US" sz="1100" b="0" dirty="0">
                <a:solidFill>
                  <a:srgbClr val="C07A0A"/>
                </a:solidFill>
                <a:latin typeface="Product Sans" pitchFamily="34" charset="0"/>
                <a:ea typeface="Product Sans" pitchFamily="34" charset="-122"/>
                <a:cs typeface="Product Sans" pitchFamily="34" charset="-120"/>
              </a:rPr>
              <a:t>NO → agent–config problem</a:t>
            </a:r>
            <a:endParaRPr lang="en-US" sz="1100" dirty="0"/>
          </a:p>
        </p:txBody>
      </p:sp>
      <p:sp>
        <p:nvSpPr>
          <p:cNvPr id="17" name="Shape 13"/>
          <p:cNvSpPr/>
          <p:nvPr/>
        </p:nvSpPr>
        <p:spPr>
          <a:xfrm>
            <a:off x="10332720" y="1417320"/>
            <a:ext cx="1307592" cy="457200"/>
          </a:xfrm>
          <a:prstGeom prst="roundRect">
            <a:avLst>
              <a:gd name="adj" fmla="val 18000"/>
            </a:avLst>
          </a:prstGeom>
          <a:solidFill>
            <a:srgbClr val="1F3864"/>
          </a:solidFill>
          <a:ln w="12700">
            <a:solidFill>
              <a:srgbClr val="1F3864"/>
            </a:solidFill>
            <a:prstDash val="solid"/>
          </a:ln>
        </p:spPr>
        <p:txBody>
          <a:bodyPr/>
          <a:lstStyle/>
          <a:p>
            <a:endParaRPr lang="en-US"/>
          </a:p>
        </p:txBody>
      </p:sp>
      <p:sp>
        <p:nvSpPr>
          <p:cNvPr id="18" name="Text 14"/>
          <p:cNvSpPr/>
          <p:nvPr/>
        </p:nvSpPr>
        <p:spPr>
          <a:xfrm>
            <a:off x="10332720" y="1417320"/>
            <a:ext cx="1307592" cy="457200"/>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Fix A</a:t>
            </a:r>
            <a:endParaRPr lang="en-US" sz="1200" dirty="0"/>
          </a:p>
        </p:txBody>
      </p:sp>
      <p:sp>
        <p:nvSpPr>
          <p:cNvPr id="19" name="Shape 15"/>
          <p:cNvSpPr/>
          <p:nvPr/>
        </p:nvSpPr>
        <p:spPr>
          <a:xfrm>
            <a:off x="713232" y="1993392"/>
            <a:ext cx="219456" cy="457200"/>
          </a:xfrm>
          <a:prstGeom prst="downArrow">
            <a:avLst/>
          </a:prstGeom>
          <a:solidFill>
            <a:srgbClr val="C9D6EE"/>
          </a:solidFill>
          <a:ln w="12700">
            <a:solidFill>
              <a:srgbClr val="C9D6EE"/>
            </a:solidFill>
            <a:prstDash val="solid"/>
          </a:ln>
        </p:spPr>
        <p:txBody>
          <a:bodyPr/>
          <a:lstStyle/>
          <a:p>
            <a:endParaRPr lang="en-US"/>
          </a:p>
        </p:txBody>
      </p:sp>
      <p:sp>
        <p:nvSpPr>
          <p:cNvPr id="20" name="Text 16"/>
          <p:cNvSpPr/>
          <p:nvPr/>
        </p:nvSpPr>
        <p:spPr>
          <a:xfrm>
            <a:off x="1005840" y="2057400"/>
            <a:ext cx="1097280" cy="274320"/>
          </a:xfrm>
          <a:prstGeom prst="rect">
            <a:avLst/>
          </a:prstGeom>
          <a:noFill/>
          <a:ln/>
        </p:spPr>
        <p:txBody>
          <a:bodyPr wrap="square" lIns="0" tIns="0" rIns="0" bIns="0" rtlCol="0" anchor="ctr"/>
          <a:lstStyle/>
          <a:p>
            <a:pPr marL="0" indent="0">
              <a:buNone/>
            </a:pPr>
            <a:r>
              <a:rPr lang="en-US" sz="950" b="0" dirty="0">
                <a:solidFill>
                  <a:srgbClr val="2F7D3B"/>
                </a:solidFill>
                <a:latin typeface="Product Sans" pitchFamily="34" charset="0"/>
                <a:ea typeface="Product Sans" pitchFamily="34" charset="-122"/>
                <a:cs typeface="Product Sans" pitchFamily="34" charset="-120"/>
              </a:rPr>
              <a:t>YES ↓</a:t>
            </a:r>
            <a:endParaRPr lang="en-US" sz="950" dirty="0"/>
          </a:p>
        </p:txBody>
      </p:sp>
      <p:sp>
        <p:nvSpPr>
          <p:cNvPr id="21" name="Shape 17"/>
          <p:cNvSpPr/>
          <p:nvPr/>
        </p:nvSpPr>
        <p:spPr>
          <a:xfrm>
            <a:off x="548640" y="2560320"/>
            <a:ext cx="548640" cy="548640"/>
          </a:xfrm>
          <a:prstGeom prst="roundRect">
            <a:avLst>
              <a:gd name="adj" fmla="val 15000"/>
            </a:avLst>
          </a:prstGeom>
          <a:solidFill>
            <a:srgbClr val="4472C4"/>
          </a:solidFill>
          <a:ln w="12700">
            <a:solidFill>
              <a:srgbClr val="4472C4"/>
            </a:solidFill>
            <a:prstDash val="solid"/>
          </a:ln>
        </p:spPr>
        <p:txBody>
          <a:bodyPr/>
          <a:lstStyle/>
          <a:p>
            <a:endParaRPr lang="en-US"/>
          </a:p>
        </p:txBody>
      </p:sp>
      <p:sp>
        <p:nvSpPr>
          <p:cNvPr id="22" name="Text 18"/>
          <p:cNvSpPr/>
          <p:nvPr/>
        </p:nvSpPr>
        <p:spPr>
          <a:xfrm>
            <a:off x="548640" y="2560320"/>
            <a:ext cx="548640" cy="548640"/>
          </a:xfrm>
          <a:prstGeom prst="rect">
            <a:avLst/>
          </a:prstGeom>
          <a:noFill/>
          <a:ln/>
        </p:spPr>
        <p:txBody>
          <a:bodyPr wrap="square" lIns="254" tIns="254" rIns="254" bIns="254" rtlCol="0" anchor="ctr"/>
          <a:lstStyle/>
          <a:p>
            <a:pPr marL="0" indent="0" algn="ctr">
              <a:buNone/>
            </a:pPr>
            <a:r>
              <a:rPr lang="en-US" sz="1400" b="0" dirty="0">
                <a:solidFill>
                  <a:srgbClr val="FFFFFF"/>
                </a:solidFill>
                <a:latin typeface="Product Sans" pitchFamily="34" charset="0"/>
                <a:ea typeface="Product Sans" pitchFamily="34" charset="-122"/>
                <a:cs typeface="Product Sans" pitchFamily="34" charset="-120"/>
              </a:rPr>
              <a:t>Q2</a:t>
            </a:r>
            <a:endParaRPr lang="en-US" sz="1400" dirty="0"/>
          </a:p>
        </p:txBody>
      </p:sp>
      <p:sp>
        <p:nvSpPr>
          <p:cNvPr id="23" name="Text 19"/>
          <p:cNvSpPr/>
          <p:nvPr/>
        </p:nvSpPr>
        <p:spPr>
          <a:xfrm>
            <a:off x="1234440" y="2542032"/>
            <a:ext cx="5120640" cy="292608"/>
          </a:xfrm>
          <a:prstGeom prst="rect">
            <a:avLst/>
          </a:prstGeom>
          <a:noFill/>
          <a:ln/>
        </p:spPr>
        <p:txBody>
          <a:bodyPr wrap="square" lIns="0" tIns="0" rIns="0" bIns="0" rtlCol="0" anchor="ctr"/>
          <a:lstStyle/>
          <a:p>
            <a:pPr marL="0" indent="0">
              <a:buNone/>
            </a:pPr>
            <a:r>
              <a:rPr lang="en-US" sz="1350" b="0" dirty="0">
                <a:solidFill>
                  <a:srgbClr val="1F3864"/>
                </a:solidFill>
                <a:latin typeface="Product Sans" pitchFamily="34" charset="0"/>
                <a:ea typeface="Product Sans" pitchFamily="34" charset="-122"/>
                <a:cs typeface="Product Sans" pitchFamily="34" charset="-120"/>
              </a:rPr>
              <a:t>Tools listed — do calls succeed?</a:t>
            </a:r>
            <a:endParaRPr lang="en-US" sz="1350" dirty="0"/>
          </a:p>
        </p:txBody>
      </p:sp>
      <p:sp>
        <p:nvSpPr>
          <p:cNvPr id="24" name="Text 20"/>
          <p:cNvSpPr/>
          <p:nvPr/>
        </p:nvSpPr>
        <p:spPr>
          <a:xfrm>
            <a:off x="1234440" y="2852928"/>
            <a:ext cx="5120640" cy="274320"/>
          </a:xfrm>
          <a:prstGeom prst="rect">
            <a:avLst/>
          </a:prstGeom>
          <a:noFill/>
          <a:ln/>
        </p:spPr>
        <p:txBody>
          <a:bodyPr wrap="square" lIns="0" tIns="0" rIns="0" bIns="0" rtlCol="0" anchor="ctr"/>
          <a:lstStyle/>
          <a:p>
            <a:pPr marL="0" indent="0">
              <a:buNone/>
            </a:pPr>
            <a:r>
              <a:rPr lang="en-US" sz="1000" dirty="0">
                <a:solidFill>
                  <a:srgbClr val="595959"/>
                </a:solidFill>
                <a:latin typeface="Cascadia Mono" pitchFamily="34" charset="0"/>
                <a:ea typeface="Cascadia Mono" pitchFamily="34" charset="-122"/>
                <a:cs typeface="Cascadia Mono" pitchFamily="34" charset="-120"/>
              </a:rPr>
              <a:t>Ask: “Run 2+2 in MATLAB.”</a:t>
            </a:r>
            <a:endParaRPr lang="en-US" sz="1000" dirty="0"/>
          </a:p>
        </p:txBody>
      </p:sp>
      <p:sp>
        <p:nvSpPr>
          <p:cNvPr id="25" name="Shape 21"/>
          <p:cNvSpPr/>
          <p:nvPr/>
        </p:nvSpPr>
        <p:spPr>
          <a:xfrm>
            <a:off x="6492240" y="2743200"/>
            <a:ext cx="310896" cy="182880"/>
          </a:xfrm>
          <a:prstGeom prst="rightArrow">
            <a:avLst/>
          </a:prstGeom>
          <a:solidFill>
            <a:srgbClr val="4472C4"/>
          </a:solidFill>
          <a:ln w="12700">
            <a:solidFill>
              <a:srgbClr val="4472C4"/>
            </a:solidFill>
            <a:prstDash val="solid"/>
          </a:ln>
        </p:spPr>
        <p:txBody>
          <a:bodyPr/>
          <a:lstStyle/>
          <a:p>
            <a:endParaRPr lang="en-US"/>
          </a:p>
        </p:txBody>
      </p:sp>
      <p:sp>
        <p:nvSpPr>
          <p:cNvPr id="26" name="Shape 22"/>
          <p:cNvSpPr/>
          <p:nvPr/>
        </p:nvSpPr>
        <p:spPr>
          <a:xfrm>
            <a:off x="6949440" y="2606040"/>
            <a:ext cx="3246120" cy="457200"/>
          </a:xfrm>
          <a:prstGeom prst="roundRect">
            <a:avLst>
              <a:gd name="adj" fmla="val 18000"/>
            </a:avLst>
          </a:prstGeom>
          <a:solidFill>
            <a:srgbClr val="FDF4E3"/>
          </a:solidFill>
          <a:ln w="12700">
            <a:solidFill>
              <a:srgbClr val="FDF4E3"/>
            </a:solidFill>
            <a:prstDash val="solid"/>
          </a:ln>
        </p:spPr>
        <p:txBody>
          <a:bodyPr/>
          <a:lstStyle/>
          <a:p>
            <a:endParaRPr lang="en-US"/>
          </a:p>
        </p:txBody>
      </p:sp>
      <p:sp>
        <p:nvSpPr>
          <p:cNvPr id="27" name="Text 23"/>
          <p:cNvSpPr/>
          <p:nvPr/>
        </p:nvSpPr>
        <p:spPr>
          <a:xfrm>
            <a:off x="6949440" y="2606040"/>
            <a:ext cx="3246120" cy="457200"/>
          </a:xfrm>
          <a:prstGeom prst="rect">
            <a:avLst/>
          </a:prstGeom>
          <a:noFill/>
          <a:ln/>
        </p:spPr>
        <p:txBody>
          <a:bodyPr wrap="square" lIns="254" tIns="254" rIns="254" bIns="254" rtlCol="0" anchor="ctr"/>
          <a:lstStyle/>
          <a:p>
            <a:pPr marL="0" indent="0" algn="ctr">
              <a:buNone/>
            </a:pPr>
            <a:r>
              <a:rPr lang="en-US" sz="1100" b="0" dirty="0">
                <a:solidFill>
                  <a:srgbClr val="C07A0A"/>
                </a:solidFill>
                <a:latin typeface="Product Sans" pitchFamily="34" charset="0"/>
                <a:ea typeface="Product Sans" pitchFamily="34" charset="-122"/>
                <a:cs typeface="Product Sans" pitchFamily="34" charset="-120"/>
              </a:rPr>
              <a:t>NO → server–MATLAB problem</a:t>
            </a:r>
            <a:endParaRPr lang="en-US" sz="1100" dirty="0"/>
          </a:p>
        </p:txBody>
      </p:sp>
      <p:sp>
        <p:nvSpPr>
          <p:cNvPr id="28" name="Shape 24"/>
          <p:cNvSpPr/>
          <p:nvPr/>
        </p:nvSpPr>
        <p:spPr>
          <a:xfrm>
            <a:off x="10332720" y="2606040"/>
            <a:ext cx="1307592" cy="457200"/>
          </a:xfrm>
          <a:prstGeom prst="roundRect">
            <a:avLst>
              <a:gd name="adj" fmla="val 18000"/>
            </a:avLst>
          </a:prstGeom>
          <a:solidFill>
            <a:srgbClr val="1F3864"/>
          </a:solidFill>
          <a:ln w="12700">
            <a:solidFill>
              <a:srgbClr val="1F3864"/>
            </a:solidFill>
            <a:prstDash val="solid"/>
          </a:ln>
        </p:spPr>
        <p:txBody>
          <a:bodyPr/>
          <a:lstStyle/>
          <a:p>
            <a:endParaRPr lang="en-US"/>
          </a:p>
        </p:txBody>
      </p:sp>
      <p:sp>
        <p:nvSpPr>
          <p:cNvPr id="29" name="Text 25"/>
          <p:cNvSpPr/>
          <p:nvPr/>
        </p:nvSpPr>
        <p:spPr>
          <a:xfrm>
            <a:off x="10332720" y="2606040"/>
            <a:ext cx="1307592" cy="457200"/>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Fix B</a:t>
            </a:r>
            <a:endParaRPr lang="en-US" sz="1200" dirty="0"/>
          </a:p>
        </p:txBody>
      </p:sp>
      <p:sp>
        <p:nvSpPr>
          <p:cNvPr id="30" name="Shape 26"/>
          <p:cNvSpPr/>
          <p:nvPr/>
        </p:nvSpPr>
        <p:spPr>
          <a:xfrm>
            <a:off x="713232" y="3182112"/>
            <a:ext cx="219456" cy="457200"/>
          </a:xfrm>
          <a:prstGeom prst="downArrow">
            <a:avLst/>
          </a:prstGeom>
          <a:solidFill>
            <a:srgbClr val="C9D6EE"/>
          </a:solidFill>
          <a:ln w="12700">
            <a:solidFill>
              <a:srgbClr val="C9D6EE"/>
            </a:solidFill>
            <a:prstDash val="solid"/>
          </a:ln>
        </p:spPr>
        <p:txBody>
          <a:bodyPr/>
          <a:lstStyle/>
          <a:p>
            <a:endParaRPr lang="en-US"/>
          </a:p>
        </p:txBody>
      </p:sp>
      <p:sp>
        <p:nvSpPr>
          <p:cNvPr id="31" name="Text 27"/>
          <p:cNvSpPr/>
          <p:nvPr/>
        </p:nvSpPr>
        <p:spPr>
          <a:xfrm>
            <a:off x="1005840" y="3246120"/>
            <a:ext cx="1097280" cy="274320"/>
          </a:xfrm>
          <a:prstGeom prst="rect">
            <a:avLst/>
          </a:prstGeom>
          <a:noFill/>
          <a:ln/>
        </p:spPr>
        <p:txBody>
          <a:bodyPr wrap="square" lIns="0" tIns="0" rIns="0" bIns="0" rtlCol="0" anchor="ctr"/>
          <a:lstStyle/>
          <a:p>
            <a:pPr marL="0" indent="0">
              <a:buNone/>
            </a:pPr>
            <a:r>
              <a:rPr lang="en-US" sz="950" b="0" dirty="0">
                <a:solidFill>
                  <a:srgbClr val="2F7D3B"/>
                </a:solidFill>
                <a:latin typeface="Product Sans" pitchFamily="34" charset="0"/>
                <a:ea typeface="Product Sans" pitchFamily="34" charset="-122"/>
                <a:cs typeface="Product Sans" pitchFamily="34" charset="-120"/>
              </a:rPr>
              <a:t>YES ↓</a:t>
            </a:r>
            <a:endParaRPr lang="en-US" sz="950" dirty="0"/>
          </a:p>
        </p:txBody>
      </p:sp>
      <p:sp>
        <p:nvSpPr>
          <p:cNvPr id="32" name="Shape 28"/>
          <p:cNvSpPr/>
          <p:nvPr/>
        </p:nvSpPr>
        <p:spPr>
          <a:xfrm>
            <a:off x="548640" y="3749040"/>
            <a:ext cx="548640" cy="548640"/>
          </a:xfrm>
          <a:prstGeom prst="roundRect">
            <a:avLst>
              <a:gd name="adj" fmla="val 15000"/>
            </a:avLst>
          </a:prstGeom>
          <a:solidFill>
            <a:srgbClr val="4472C4"/>
          </a:solidFill>
          <a:ln w="12700">
            <a:solidFill>
              <a:srgbClr val="4472C4"/>
            </a:solidFill>
            <a:prstDash val="solid"/>
          </a:ln>
        </p:spPr>
        <p:txBody>
          <a:bodyPr/>
          <a:lstStyle/>
          <a:p>
            <a:endParaRPr lang="en-US"/>
          </a:p>
        </p:txBody>
      </p:sp>
      <p:sp>
        <p:nvSpPr>
          <p:cNvPr id="33" name="Text 29"/>
          <p:cNvSpPr/>
          <p:nvPr/>
        </p:nvSpPr>
        <p:spPr>
          <a:xfrm>
            <a:off x="548640" y="3749040"/>
            <a:ext cx="548640" cy="548640"/>
          </a:xfrm>
          <a:prstGeom prst="rect">
            <a:avLst/>
          </a:prstGeom>
          <a:noFill/>
          <a:ln/>
        </p:spPr>
        <p:txBody>
          <a:bodyPr wrap="square" lIns="254" tIns="254" rIns="254" bIns="254" rtlCol="0" anchor="ctr"/>
          <a:lstStyle/>
          <a:p>
            <a:pPr marL="0" indent="0" algn="ctr">
              <a:buNone/>
            </a:pPr>
            <a:r>
              <a:rPr lang="en-US" sz="1400" b="0" dirty="0">
                <a:solidFill>
                  <a:srgbClr val="FFFFFF"/>
                </a:solidFill>
                <a:latin typeface="Product Sans" pitchFamily="34" charset="0"/>
                <a:ea typeface="Product Sans" pitchFamily="34" charset="-122"/>
                <a:cs typeface="Product Sans" pitchFamily="34" charset="-120"/>
              </a:rPr>
              <a:t>Q3</a:t>
            </a:r>
            <a:endParaRPr lang="en-US" sz="1400" dirty="0"/>
          </a:p>
        </p:txBody>
      </p:sp>
      <p:sp>
        <p:nvSpPr>
          <p:cNvPr id="34" name="Text 30"/>
          <p:cNvSpPr/>
          <p:nvPr/>
        </p:nvSpPr>
        <p:spPr>
          <a:xfrm>
            <a:off x="1234440" y="3730752"/>
            <a:ext cx="5120640" cy="292608"/>
          </a:xfrm>
          <a:prstGeom prst="rect">
            <a:avLst/>
          </a:prstGeom>
          <a:noFill/>
          <a:ln/>
        </p:spPr>
        <p:txBody>
          <a:bodyPr wrap="square" lIns="0" tIns="0" rIns="0" bIns="0" rtlCol="0" anchor="ctr"/>
          <a:lstStyle/>
          <a:p>
            <a:pPr marL="0" indent="0">
              <a:buNone/>
            </a:pPr>
            <a:r>
              <a:rPr lang="en-US" sz="1350" b="0" dirty="0">
                <a:solidFill>
                  <a:srgbClr val="1F3864"/>
                </a:solidFill>
                <a:latin typeface="Product Sans" pitchFamily="34" charset="0"/>
                <a:ea typeface="Product Sans" pitchFamily="34" charset="-122"/>
                <a:cs typeface="Product Sans" pitchFamily="34" charset="-120"/>
              </a:rPr>
              <a:t>Calls work — do skills trigger?</a:t>
            </a:r>
            <a:endParaRPr lang="en-US" sz="1350" dirty="0"/>
          </a:p>
        </p:txBody>
      </p:sp>
      <p:sp>
        <p:nvSpPr>
          <p:cNvPr id="35" name="Text 31"/>
          <p:cNvSpPr/>
          <p:nvPr/>
        </p:nvSpPr>
        <p:spPr>
          <a:xfrm>
            <a:off x="1234440" y="4041648"/>
            <a:ext cx="5120640" cy="274320"/>
          </a:xfrm>
          <a:prstGeom prst="rect">
            <a:avLst/>
          </a:prstGeom>
          <a:noFill/>
          <a:ln/>
        </p:spPr>
        <p:txBody>
          <a:bodyPr wrap="square" lIns="0" tIns="0" rIns="0" bIns="0" rtlCol="0" anchor="ctr"/>
          <a:lstStyle/>
          <a:p>
            <a:pPr marL="0" indent="0">
              <a:buNone/>
            </a:pPr>
            <a:r>
              <a:rPr lang="en-US" sz="1000" dirty="0">
                <a:solidFill>
                  <a:srgbClr val="595959"/>
                </a:solidFill>
                <a:latin typeface="Cascadia Mono" pitchFamily="34" charset="0"/>
                <a:ea typeface="Cascadia Mono" pitchFamily="34" charset="-122"/>
                <a:cs typeface="Cascadia Mono" pitchFamily="34" charset="-120"/>
              </a:rPr>
              <a:t>/skills · ask a task and watch for the skill name</a:t>
            </a:r>
            <a:endParaRPr lang="en-US" sz="1000" dirty="0"/>
          </a:p>
        </p:txBody>
      </p:sp>
      <p:sp>
        <p:nvSpPr>
          <p:cNvPr id="36" name="Shape 32"/>
          <p:cNvSpPr/>
          <p:nvPr/>
        </p:nvSpPr>
        <p:spPr>
          <a:xfrm>
            <a:off x="6492240" y="3931920"/>
            <a:ext cx="310896" cy="182880"/>
          </a:xfrm>
          <a:prstGeom prst="rightArrow">
            <a:avLst/>
          </a:prstGeom>
          <a:solidFill>
            <a:srgbClr val="4472C4"/>
          </a:solidFill>
          <a:ln w="12700">
            <a:solidFill>
              <a:srgbClr val="4472C4"/>
            </a:solidFill>
            <a:prstDash val="solid"/>
          </a:ln>
        </p:spPr>
        <p:txBody>
          <a:bodyPr/>
          <a:lstStyle/>
          <a:p>
            <a:endParaRPr lang="en-US"/>
          </a:p>
        </p:txBody>
      </p:sp>
      <p:sp>
        <p:nvSpPr>
          <p:cNvPr id="37" name="Shape 33"/>
          <p:cNvSpPr/>
          <p:nvPr/>
        </p:nvSpPr>
        <p:spPr>
          <a:xfrm>
            <a:off x="6949440" y="3794760"/>
            <a:ext cx="3246120" cy="457200"/>
          </a:xfrm>
          <a:prstGeom prst="roundRect">
            <a:avLst>
              <a:gd name="adj" fmla="val 18000"/>
            </a:avLst>
          </a:prstGeom>
          <a:solidFill>
            <a:srgbClr val="FDF4E3"/>
          </a:solidFill>
          <a:ln w="12700">
            <a:solidFill>
              <a:srgbClr val="FDF4E3"/>
            </a:solidFill>
            <a:prstDash val="solid"/>
          </a:ln>
        </p:spPr>
        <p:txBody>
          <a:bodyPr/>
          <a:lstStyle/>
          <a:p>
            <a:endParaRPr lang="en-US"/>
          </a:p>
        </p:txBody>
      </p:sp>
      <p:sp>
        <p:nvSpPr>
          <p:cNvPr id="38" name="Text 34"/>
          <p:cNvSpPr/>
          <p:nvPr/>
        </p:nvSpPr>
        <p:spPr>
          <a:xfrm>
            <a:off x="6949440" y="3794760"/>
            <a:ext cx="3246120" cy="457200"/>
          </a:xfrm>
          <a:prstGeom prst="rect">
            <a:avLst/>
          </a:prstGeom>
          <a:noFill/>
          <a:ln/>
        </p:spPr>
        <p:txBody>
          <a:bodyPr wrap="square" lIns="254" tIns="254" rIns="254" bIns="254" rtlCol="0" anchor="ctr"/>
          <a:lstStyle/>
          <a:p>
            <a:pPr marL="0" indent="0" algn="ctr">
              <a:buNone/>
            </a:pPr>
            <a:r>
              <a:rPr lang="en-US" sz="1100" b="0" dirty="0">
                <a:solidFill>
                  <a:srgbClr val="C07A0A"/>
                </a:solidFill>
                <a:latin typeface="Product Sans" pitchFamily="34" charset="0"/>
                <a:ea typeface="Product Sans" pitchFamily="34" charset="-122"/>
                <a:cs typeface="Product Sans" pitchFamily="34" charset="-120"/>
              </a:rPr>
              <a:t>NO → skills problem</a:t>
            </a:r>
            <a:endParaRPr lang="en-US" sz="1100" dirty="0"/>
          </a:p>
        </p:txBody>
      </p:sp>
      <p:sp>
        <p:nvSpPr>
          <p:cNvPr id="39" name="Shape 35"/>
          <p:cNvSpPr/>
          <p:nvPr/>
        </p:nvSpPr>
        <p:spPr>
          <a:xfrm>
            <a:off x="10332720" y="3794760"/>
            <a:ext cx="1307592" cy="457200"/>
          </a:xfrm>
          <a:prstGeom prst="roundRect">
            <a:avLst>
              <a:gd name="adj" fmla="val 18000"/>
            </a:avLst>
          </a:prstGeom>
          <a:solidFill>
            <a:srgbClr val="1F3864"/>
          </a:solidFill>
          <a:ln w="12700">
            <a:solidFill>
              <a:srgbClr val="1F3864"/>
            </a:solidFill>
            <a:prstDash val="solid"/>
          </a:ln>
        </p:spPr>
        <p:txBody>
          <a:bodyPr/>
          <a:lstStyle/>
          <a:p>
            <a:endParaRPr lang="en-US"/>
          </a:p>
        </p:txBody>
      </p:sp>
      <p:sp>
        <p:nvSpPr>
          <p:cNvPr id="40" name="Text 36"/>
          <p:cNvSpPr/>
          <p:nvPr/>
        </p:nvSpPr>
        <p:spPr>
          <a:xfrm>
            <a:off x="10332720" y="3794760"/>
            <a:ext cx="1307592" cy="457200"/>
          </a:xfrm>
          <a:prstGeom prst="rect">
            <a:avLst/>
          </a:prstGeom>
          <a:noFill/>
          <a:ln/>
        </p:spPr>
        <p:txBody>
          <a:bodyPr wrap="square" lIns="254" tIns="254" rIns="254" bIns="254" rtlCol="0" anchor="ctr"/>
          <a:lstStyle/>
          <a:p>
            <a:pPr marL="0" indent="0" algn="ctr">
              <a:buNone/>
            </a:pPr>
            <a:r>
              <a:rPr lang="en-US" sz="1200" b="0" dirty="0">
                <a:solidFill>
                  <a:srgbClr val="FFFFFF"/>
                </a:solidFill>
                <a:latin typeface="Product Sans" pitchFamily="34" charset="0"/>
                <a:ea typeface="Product Sans" pitchFamily="34" charset="-122"/>
                <a:cs typeface="Product Sans" pitchFamily="34" charset="-120"/>
              </a:rPr>
              <a:t>Fix C</a:t>
            </a:r>
            <a:endParaRPr lang="en-US" sz="1200" dirty="0"/>
          </a:p>
        </p:txBody>
      </p:sp>
      <p:sp>
        <p:nvSpPr>
          <p:cNvPr id="41" name="Shape 37"/>
          <p:cNvSpPr/>
          <p:nvPr/>
        </p:nvSpPr>
        <p:spPr>
          <a:xfrm>
            <a:off x="548640" y="4983480"/>
            <a:ext cx="11091672" cy="777240"/>
          </a:xfrm>
          <a:prstGeom prst="roundRect">
            <a:avLst>
              <a:gd name="adj" fmla="val 8235"/>
            </a:avLst>
          </a:prstGeom>
          <a:solidFill>
            <a:srgbClr val="F2F5FB"/>
          </a:solidFill>
          <a:ln w="9525">
            <a:solidFill>
              <a:srgbClr val="C9D6EE"/>
            </a:solidFill>
            <a:prstDash val="solid"/>
          </a:ln>
        </p:spPr>
        <p:txBody>
          <a:bodyPr/>
          <a:lstStyle/>
          <a:p>
            <a:endParaRPr lang="en-US"/>
          </a:p>
        </p:txBody>
      </p:sp>
      <p:sp>
        <p:nvSpPr>
          <p:cNvPr id="42" name="Text 38"/>
          <p:cNvSpPr/>
          <p:nvPr/>
        </p:nvSpPr>
        <p:spPr>
          <a:xfrm>
            <a:off x="713232" y="5093208"/>
            <a:ext cx="10762488" cy="576072"/>
          </a:xfrm>
          <a:prstGeom prst="rect">
            <a:avLst/>
          </a:prstGeom>
          <a:noFill/>
          <a:ln/>
        </p:spPr>
        <p:txBody>
          <a:bodyPr wrap="square" lIns="0" tIns="0" rIns="0" bIns="0" rtlCol="0" anchor="t"/>
          <a:lstStyle/>
          <a:p>
            <a:pPr marL="0" indent="0">
              <a:lnSpc>
                <a:spcPct val="100000"/>
              </a:lnSpc>
              <a:spcAft>
                <a:spcPts val="400"/>
              </a:spcAft>
              <a:buNone/>
            </a:pPr>
            <a:r>
              <a:rPr lang="en-US" sz="1000" b="0" dirty="0">
                <a:solidFill>
                  <a:srgbClr val="262626"/>
                </a:solidFill>
                <a:latin typeface="Product Sans" pitchFamily="34" charset="0"/>
                <a:ea typeface="Product Sans" pitchFamily="34" charset="-122"/>
                <a:cs typeface="Product Sans" pitchFamily="34" charset="-120"/>
              </a:rPr>
              <a:t>Before any of that:  setupAgenticToolkit("status") in MATLAB — shows server version, MATLAB root, and which agents are configured. Nine times out of ten the answer is on that screen.</a:t>
            </a:r>
            <a:endParaRPr lang="en-US" sz="1000" dirty="0"/>
          </a:p>
        </p:txBody>
      </p:sp>
      <p:sp>
        <p:nvSpPr>
          <p:cNvPr id="43" name="Shape 39"/>
          <p:cNvSpPr/>
          <p:nvPr/>
        </p:nvSpPr>
        <p:spPr>
          <a:xfrm>
            <a:off x="548640" y="5897880"/>
            <a:ext cx="11091672" cy="365760"/>
          </a:xfrm>
          <a:prstGeom prst="roundRect">
            <a:avLst>
              <a:gd name="adj" fmla="val 15000"/>
            </a:avLst>
          </a:prstGeom>
          <a:solidFill>
            <a:srgbClr val="1F3864"/>
          </a:solidFill>
          <a:ln w="12700">
            <a:solidFill>
              <a:srgbClr val="1F3864"/>
            </a:solidFill>
            <a:prstDash val="solid"/>
          </a:ln>
        </p:spPr>
        <p:txBody>
          <a:bodyPr/>
          <a:lstStyle/>
          <a:p>
            <a:endParaRPr lang="en-US"/>
          </a:p>
        </p:txBody>
      </p:sp>
      <p:sp>
        <p:nvSpPr>
          <p:cNvPr id="44" name="Text 40"/>
          <p:cNvSpPr/>
          <p:nvPr/>
        </p:nvSpPr>
        <p:spPr>
          <a:xfrm>
            <a:off x="685800" y="5897880"/>
            <a:ext cx="10817352" cy="365760"/>
          </a:xfrm>
          <a:prstGeom prst="rect">
            <a:avLst/>
          </a:prstGeom>
          <a:noFill/>
          <a:ln/>
        </p:spPr>
        <p:txBody>
          <a:bodyPr wrap="square" lIns="0" tIns="0" rIns="0" bIns="0" rtlCol="0" anchor="ctr"/>
          <a:lstStyle/>
          <a:p>
            <a:pPr marL="0" indent="0" algn="ctr">
              <a:buNone/>
            </a:pPr>
            <a:r>
              <a:rPr lang="en-US" sz="1150" b="0" dirty="0">
                <a:solidFill>
                  <a:srgbClr val="FFFFFF"/>
                </a:solidFill>
                <a:latin typeface="Product Sans" pitchFamily="34" charset="0"/>
                <a:ea typeface="Product Sans" pitchFamily="34" charset="-122"/>
                <a:cs typeface="Product Sans" pitchFamily="34" charset="-120"/>
              </a:rPr>
              <a:t>Restart the agent after ANY config change. Codex Desktop / Claude Desktop: quit and reopen the app. Nothing works? Fix D — read the logs.</a:t>
            </a:r>
            <a:endParaRPr lang="en-US" sz="11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58</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Rescue · Fix A (no server) and Fix B (calls fail)</a:t>
            </a:r>
            <a:endParaRPr lang="en-US" sz="2400" dirty="0"/>
          </a:p>
        </p:txBody>
      </p:sp>
      <p:sp>
        <p:nvSpPr>
          <p:cNvPr id="7" name="Shape 3"/>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8" name="Text 4"/>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RESCUE 2/4</a:t>
            </a:r>
            <a:endParaRPr lang="en-US" sz="950" dirty="0"/>
          </a:p>
        </p:txBody>
      </p:sp>
      <p:sp>
        <p:nvSpPr>
          <p:cNvPr id="9" name="Shape 5"/>
          <p:cNvSpPr/>
          <p:nvPr/>
        </p:nvSpPr>
        <p:spPr>
          <a:xfrm>
            <a:off x="548640" y="1280160"/>
            <a:ext cx="5440680" cy="4160520"/>
          </a:xfrm>
          <a:prstGeom prst="roundRect">
            <a:avLst>
              <a:gd name="adj" fmla="val 1538"/>
            </a:avLst>
          </a:prstGeom>
          <a:solidFill>
            <a:srgbClr val="EEF2FA"/>
          </a:solidFill>
          <a:ln w="9525">
            <a:solidFill>
              <a:srgbClr val="C9D6EE"/>
            </a:solidFill>
            <a:prstDash val="solid"/>
          </a:ln>
        </p:spPr>
        <p:txBody>
          <a:bodyPr/>
          <a:lstStyle/>
          <a:p>
            <a:endParaRPr lang="en-US"/>
          </a:p>
        </p:txBody>
      </p:sp>
      <p:sp>
        <p:nvSpPr>
          <p:cNvPr id="10" name="Text 6"/>
          <p:cNvSpPr/>
          <p:nvPr/>
        </p:nvSpPr>
        <p:spPr>
          <a:xfrm>
            <a:off x="713232" y="1389888"/>
            <a:ext cx="5111496" cy="292608"/>
          </a:xfrm>
          <a:prstGeom prst="rect">
            <a:avLst/>
          </a:prstGeom>
          <a:noFill/>
          <a:ln/>
        </p:spPr>
        <p:txBody>
          <a:bodyPr wrap="square" lIns="0" tIns="0" rIns="0" bIns="0" rtlCol="0" anchor="ctr"/>
          <a:lstStyle/>
          <a:p>
            <a:pPr marL="0" indent="0">
              <a:buNone/>
            </a:pPr>
            <a:r>
              <a:rPr lang="en-US" sz="1300" b="0" dirty="0">
                <a:solidFill>
                  <a:srgbClr val="1F3864"/>
                </a:solidFill>
                <a:latin typeface="Product Sans" pitchFamily="34" charset="0"/>
                <a:ea typeface="Product Sans" pitchFamily="34" charset="-122"/>
                <a:cs typeface="Product Sans" pitchFamily="34" charset="-120"/>
              </a:rPr>
              <a:t>Fix A — the agent can't see the server</a:t>
            </a:r>
            <a:endParaRPr lang="en-US" sz="1300" dirty="0"/>
          </a:p>
        </p:txBody>
      </p:sp>
      <p:sp>
        <p:nvSpPr>
          <p:cNvPr id="11" name="Text 7"/>
          <p:cNvSpPr/>
          <p:nvPr/>
        </p:nvSpPr>
        <p:spPr>
          <a:xfrm>
            <a:off x="713232" y="1719072"/>
            <a:ext cx="5111496" cy="3630168"/>
          </a:xfrm>
          <a:prstGeom prst="rect">
            <a:avLst/>
          </a:prstGeom>
          <a:noFill/>
          <a:ln/>
        </p:spPr>
        <p:txBody>
          <a:bodyPr wrap="square" lIns="0" tIns="0" rIns="0" bIns="0" rtlCol="0" anchor="t"/>
          <a:lstStyle/>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Config not written / wrong agent picked</a:t>
            </a:r>
            <a:endParaRPr lang="en-US" sz="950" dirty="0"/>
          </a:p>
          <a:p>
            <a:pPr marL="0" indent="0">
              <a:lnSpc>
                <a:spcPct val="100000"/>
              </a:lnSpc>
              <a:spcAft>
                <a:spcPts val="600"/>
              </a:spcAft>
              <a:buNone/>
            </a:pPr>
            <a:r>
              <a:rPr lang="en-US" sz="950" dirty="0">
                <a:solidFill>
                  <a:srgbClr val="262626"/>
                </a:solidFill>
                <a:latin typeface="Cascadia Mono" pitchFamily="34" charset="0"/>
                <a:ea typeface="Cascadia Mono" pitchFamily="34" charset="-122"/>
                <a:cs typeface="Cascadia Mono" pitchFamily="34" charset="-120"/>
              </a:rPr>
              <a:t>setupAgenticToolkit("configure", Agents="claude-code")  or  Agents="codex"</a:t>
            </a:r>
            <a:endParaRPr lang="en-US" sz="950" dirty="0"/>
          </a:p>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Agent was open during configure</a:t>
            </a:r>
            <a:endParaRPr lang="en-US" sz="950" dirty="0"/>
          </a:p>
          <a:p>
            <a:pPr marL="0" indent="0">
              <a:lnSpc>
                <a:spcPct val="100000"/>
              </a:lnSpc>
              <a:spcAft>
                <a:spcPts val="600"/>
              </a:spcAft>
              <a:buNone/>
            </a:pPr>
            <a:r>
              <a:rPr lang="en-US" sz="950" b="0" dirty="0">
                <a:solidFill>
                  <a:srgbClr val="262626"/>
                </a:solidFill>
                <a:latin typeface="Product Sans" pitchFamily="34" charset="0"/>
                <a:ea typeface="Product Sans" pitchFamily="34" charset="-122"/>
                <a:cs typeface="Product Sans" pitchFamily="34" charset="-120"/>
              </a:rPr>
              <a:t>Restart it. Claude Code re-reads ~/.claude.json on launch; Claude Desktop and Codex Desktop need quit + reopen.</a:t>
            </a:r>
            <a:endParaRPr lang="en-US" sz="950" dirty="0"/>
          </a:p>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matlab listed twice / tools duplicated</a:t>
            </a:r>
            <a:endParaRPr lang="en-US" sz="950" dirty="0"/>
          </a:p>
          <a:p>
            <a:pPr marL="0" indent="0">
              <a:lnSpc>
                <a:spcPct val="100000"/>
              </a:lnSpc>
              <a:spcAft>
                <a:spcPts val="600"/>
              </a:spcAft>
              <a:buNone/>
            </a:pPr>
            <a:r>
              <a:rPr lang="en-US" sz="950" b="0" dirty="0">
                <a:solidFill>
                  <a:srgbClr val="262626"/>
                </a:solidFill>
                <a:latin typeface="Product Sans" pitchFamily="34" charset="0"/>
                <a:ea typeface="Product Sans" pitchFamily="34" charset="-122"/>
                <a:cs typeface="Product Sans" pitchFamily="34" charset="-120"/>
              </a:rPr>
              <a:t>Server registered at both project (.mcp.json) and user (~/.claude.json) scope. claude mcp list shows the scope — remove one: claude mcp remove matlab -s project.</a:t>
            </a:r>
            <a:endParaRPr lang="en-US" sz="950" dirty="0"/>
          </a:p>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Where each agent's config lives (check the file exists and names matlab-mcp-server):</a:t>
            </a:r>
            <a:endParaRPr lang="en-US" sz="950" dirty="0"/>
          </a:p>
          <a:p>
            <a:pPr marL="0" indent="0">
              <a:lnSpc>
                <a:spcPct val="100000"/>
              </a:lnSpc>
              <a:buNone/>
            </a:pPr>
            <a:r>
              <a:rPr lang="en-US" sz="950" dirty="0">
                <a:solidFill>
                  <a:srgbClr val="262626"/>
                </a:solidFill>
                <a:latin typeface="Cascadia Mono" pitchFamily="34" charset="0"/>
                <a:ea typeface="Cascadia Mono" pitchFamily="34" charset="-122"/>
                <a:cs typeface="Cascadia Mono" pitchFamily="34" charset="-120"/>
              </a:rPr>
              <a:t>Claude Code   ~/.claude.json  (claude mcp get matlab)</a:t>
            </a:r>
            <a:endParaRPr lang="en-US" sz="950" dirty="0"/>
          </a:p>
          <a:p>
            <a:pPr marL="0" indent="0">
              <a:lnSpc>
                <a:spcPct val="100000"/>
              </a:lnSpc>
              <a:buNone/>
            </a:pPr>
            <a:r>
              <a:rPr lang="en-US" sz="950" dirty="0">
                <a:solidFill>
                  <a:srgbClr val="262626"/>
                </a:solidFill>
                <a:latin typeface="Cascadia Mono" pitchFamily="34" charset="0"/>
                <a:ea typeface="Cascadia Mono" pitchFamily="34" charset="-122"/>
                <a:cs typeface="Cascadia Mono" pitchFamily="34" charset="-120"/>
              </a:rPr>
              <a:t>Codex CLI+App ~/.codex/config.toml  [mcp_servers.matlab]</a:t>
            </a:r>
            <a:endParaRPr lang="en-US" sz="950" dirty="0"/>
          </a:p>
          <a:p>
            <a:pPr marL="0" indent="0">
              <a:lnSpc>
                <a:spcPct val="100000"/>
              </a:lnSpc>
              <a:buNone/>
            </a:pPr>
            <a:r>
              <a:rPr lang="en-US" sz="950" dirty="0">
                <a:solidFill>
                  <a:srgbClr val="262626"/>
                </a:solidFill>
                <a:latin typeface="Cascadia Mono" pitchFamily="34" charset="0"/>
                <a:ea typeface="Cascadia Mono" pitchFamily="34" charset="-122"/>
                <a:cs typeface="Cascadia Mono" pitchFamily="34" charset="-120"/>
              </a:rPr>
              <a:t>Copilot       VS Code user mcp.json  →  reload window</a:t>
            </a:r>
            <a:endParaRPr lang="en-US" sz="950" dirty="0"/>
          </a:p>
          <a:p>
            <a:pPr marL="0" indent="0">
              <a:lnSpc>
                <a:spcPct val="100000"/>
              </a:lnSpc>
              <a:spcAft>
                <a:spcPts val="600"/>
              </a:spcAft>
              <a:buNone/>
            </a:pPr>
            <a:r>
              <a:rPr lang="en-US" sz="950" dirty="0">
                <a:solidFill>
                  <a:srgbClr val="262626"/>
                </a:solidFill>
                <a:latin typeface="Cascadia Mono" pitchFamily="34" charset="0"/>
                <a:ea typeface="Cascadia Mono" pitchFamily="34" charset="-122"/>
                <a:cs typeface="Cascadia Mono" pitchFamily="34" charset="-120"/>
              </a:rPr>
              <a:t>Gemini CLI    ~/.gemini/settings.json</a:t>
            </a:r>
            <a:endParaRPr lang="en-US" sz="950" dirty="0"/>
          </a:p>
          <a:p>
            <a:pPr marL="0" indent="0">
              <a:lnSpc>
                <a:spcPct val="100000"/>
              </a:lnSpc>
              <a:buNone/>
            </a:pPr>
            <a:r>
              <a:rPr lang="en-US" sz="950" b="0" dirty="0">
                <a:solidFill>
                  <a:srgbClr val="262626"/>
                </a:solidFill>
                <a:latin typeface="Product Sans" pitchFamily="34" charset="0"/>
                <a:ea typeface="Product Sans" pitchFamily="34" charset="-122"/>
                <a:cs typeface="Product Sans" pitchFamily="34" charset="-120"/>
              </a:rPr>
              <a:t>Manual fallback: copy templates/&lt;agent&gt;.json from the toolkit repo, fix the two paths, restart.</a:t>
            </a:r>
            <a:endParaRPr lang="en-US" sz="950" dirty="0"/>
          </a:p>
        </p:txBody>
      </p:sp>
      <p:sp>
        <p:nvSpPr>
          <p:cNvPr id="12" name="Shape 8"/>
          <p:cNvSpPr/>
          <p:nvPr/>
        </p:nvSpPr>
        <p:spPr>
          <a:xfrm>
            <a:off x="6199632" y="1280160"/>
            <a:ext cx="5440680" cy="4160520"/>
          </a:xfrm>
          <a:prstGeom prst="roundRect">
            <a:avLst>
              <a:gd name="adj" fmla="val 1538"/>
            </a:avLst>
          </a:prstGeom>
          <a:solidFill>
            <a:srgbClr val="FDF4E3"/>
          </a:solidFill>
          <a:ln w="9525">
            <a:solidFill>
              <a:srgbClr val="EAD9B4"/>
            </a:solidFill>
            <a:prstDash val="solid"/>
          </a:ln>
        </p:spPr>
        <p:txBody>
          <a:bodyPr/>
          <a:lstStyle/>
          <a:p>
            <a:endParaRPr lang="en-US"/>
          </a:p>
        </p:txBody>
      </p:sp>
      <p:sp>
        <p:nvSpPr>
          <p:cNvPr id="13" name="Text 9"/>
          <p:cNvSpPr/>
          <p:nvPr/>
        </p:nvSpPr>
        <p:spPr>
          <a:xfrm>
            <a:off x="6364224" y="1389888"/>
            <a:ext cx="5111496" cy="292608"/>
          </a:xfrm>
          <a:prstGeom prst="rect">
            <a:avLst/>
          </a:prstGeom>
          <a:noFill/>
          <a:ln/>
        </p:spPr>
        <p:txBody>
          <a:bodyPr wrap="square" lIns="0" tIns="0" rIns="0" bIns="0" rtlCol="0" anchor="ctr"/>
          <a:lstStyle/>
          <a:p>
            <a:pPr marL="0" indent="0">
              <a:buNone/>
            </a:pPr>
            <a:r>
              <a:rPr lang="en-US" sz="1300" b="0" dirty="0">
                <a:solidFill>
                  <a:srgbClr val="1F3864"/>
                </a:solidFill>
                <a:latin typeface="Product Sans" pitchFamily="34" charset="0"/>
                <a:ea typeface="Product Sans" pitchFamily="34" charset="-122"/>
                <a:cs typeface="Product Sans" pitchFamily="34" charset="-120"/>
              </a:rPr>
              <a:t>Fix B — server listed, but every call fails</a:t>
            </a:r>
            <a:endParaRPr lang="en-US" sz="1300" dirty="0"/>
          </a:p>
        </p:txBody>
      </p:sp>
      <p:sp>
        <p:nvSpPr>
          <p:cNvPr id="14" name="Text 10"/>
          <p:cNvSpPr/>
          <p:nvPr/>
        </p:nvSpPr>
        <p:spPr>
          <a:xfrm>
            <a:off x="6364224" y="1719072"/>
            <a:ext cx="5111496" cy="3630168"/>
          </a:xfrm>
          <a:prstGeom prst="rect">
            <a:avLst/>
          </a:prstGeom>
          <a:noFill/>
          <a:ln/>
        </p:spPr>
        <p:txBody>
          <a:bodyPr wrap="square" lIns="0" tIns="0" rIns="0" bIns="0" rtlCol="0" anchor="t"/>
          <a:lstStyle/>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“failed to attach to MATLAB session”  (most common)</a:t>
            </a:r>
            <a:endParaRPr lang="en-US" sz="950" dirty="0"/>
          </a:p>
          <a:p>
            <a:pPr marL="0" indent="0">
              <a:lnSpc>
                <a:spcPct val="100000"/>
              </a:lnSpc>
              <a:spcAft>
                <a:spcPts val="600"/>
              </a:spcAft>
              <a:buNone/>
            </a:pPr>
            <a:r>
              <a:rPr lang="en-US" sz="950" dirty="0">
                <a:solidFill>
                  <a:srgbClr val="262626"/>
                </a:solidFill>
                <a:latin typeface="Cascadia Mono" pitchFamily="34" charset="0"/>
                <a:ea typeface="Cascadia Mono" pitchFamily="34" charset="-122"/>
                <a:cs typeface="Cascadia Mono" pitchFamily="34" charset="-120"/>
              </a:rPr>
              <a:t>In MATLAB: addpath("~/.matlab/agentic-toolkits/simulink"); satk_initialize   — then retry.</a:t>
            </a:r>
            <a:endParaRPr lang="en-US" sz="950" dirty="0"/>
          </a:p>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macOS: “cannot be opened / not verified developer”</a:t>
            </a:r>
            <a:endParaRPr lang="en-US" sz="950" dirty="0"/>
          </a:p>
          <a:p>
            <a:pPr marL="0" indent="0">
              <a:lnSpc>
                <a:spcPct val="100000"/>
              </a:lnSpc>
              <a:buNone/>
            </a:pPr>
            <a:r>
              <a:rPr lang="en-US" sz="950" b="0" dirty="0">
                <a:solidFill>
                  <a:srgbClr val="262626"/>
                </a:solidFill>
                <a:latin typeface="Product Sans" pitchFamily="34" charset="0"/>
                <a:ea typeface="Product Sans" pitchFamily="34" charset="-122"/>
                <a:cs typeface="Product Sans" pitchFamily="34" charset="-120"/>
              </a:rPr>
              <a:t>Gatekeeper quarantined the binary. Installer normally clears it; if not:</a:t>
            </a:r>
            <a:endParaRPr lang="en-US" sz="950" dirty="0"/>
          </a:p>
          <a:p>
            <a:pPr marL="0" indent="0">
              <a:lnSpc>
                <a:spcPct val="100000"/>
              </a:lnSpc>
              <a:buNone/>
            </a:pPr>
            <a:r>
              <a:rPr lang="en-US" sz="950" dirty="0">
                <a:solidFill>
                  <a:srgbClr val="262626"/>
                </a:solidFill>
                <a:latin typeface="Cascadia Mono" pitchFamily="34" charset="0"/>
                <a:ea typeface="Cascadia Mono" pitchFamily="34" charset="-122"/>
                <a:cs typeface="Cascadia Mono" pitchFamily="34" charset="-120"/>
              </a:rPr>
              <a:t>xattr -d com.apple.quarantine ~/.matlab/agentic-toolkits/bin/matlab-mcp-server</a:t>
            </a:r>
            <a:endParaRPr lang="en-US" sz="950" dirty="0"/>
          </a:p>
          <a:p>
            <a:pPr marL="0" indent="0">
              <a:lnSpc>
                <a:spcPct val="100000"/>
              </a:lnSpc>
              <a:spcAft>
                <a:spcPts val="600"/>
              </a:spcAft>
              <a:buNone/>
            </a:pPr>
            <a:r>
              <a:rPr lang="en-US" sz="950" b="0" dirty="0">
                <a:solidFill>
                  <a:srgbClr val="262626"/>
                </a:solidFill>
                <a:latin typeface="Product Sans" pitchFamily="34" charset="0"/>
                <a:ea typeface="Product Sans" pitchFamily="34" charset="-122"/>
                <a:cs typeface="Product Sans" pitchFamily="34" charset="-120"/>
              </a:rPr>
              <a:t>or System Settings → Privacy &amp; Security → Allow Anyway.</a:t>
            </a:r>
            <a:endParaRPr lang="en-US" sz="950" dirty="0"/>
          </a:p>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Wrong MATLAB · a hidden second MATLAB · “my variables are missing”</a:t>
            </a:r>
            <a:endParaRPr lang="en-US" sz="950" dirty="0"/>
          </a:p>
          <a:p>
            <a:pPr marL="0" indent="0">
              <a:lnSpc>
                <a:spcPct val="100000"/>
              </a:lnSpc>
              <a:spcAft>
                <a:spcPts val="600"/>
              </a:spcAft>
              <a:buNone/>
            </a:pPr>
            <a:r>
              <a:rPr lang="en-US" sz="950" b="0" dirty="0">
                <a:solidFill>
                  <a:srgbClr val="262626"/>
                </a:solidFill>
                <a:latin typeface="Product Sans" pitchFamily="34" charset="0"/>
                <a:ea typeface="Product Sans" pitchFamily="34" charset="-122"/>
                <a:cs typeface="Product Sans" pitchFamily="34" charset="-120"/>
              </a:rPr>
              <a:t>auto mode starts a NEW headless MATLAB if none is shared — so you end up with two. Share yours first; setupAgenticToolkit("status") shows the root. Won't start? &lt;root&gt;/bin/matlab -nodesktop -r "disp(1),quit" — licence errors show here.</a:t>
            </a:r>
            <a:endParaRPr lang="en-US" sz="950" dirty="0"/>
          </a:p>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First call slow / times out</a:t>
            </a:r>
            <a:endParaRPr lang="en-US" sz="950" dirty="0"/>
          </a:p>
          <a:p>
            <a:pPr marL="0" indent="0">
              <a:lnSpc>
                <a:spcPct val="100000"/>
              </a:lnSpc>
              <a:spcAft>
                <a:spcPts val="600"/>
              </a:spcAft>
              <a:buNone/>
            </a:pPr>
            <a:r>
              <a:rPr lang="en-US" sz="950" b="0" dirty="0">
                <a:solidFill>
                  <a:srgbClr val="262626"/>
                </a:solidFill>
                <a:latin typeface="Product Sans" pitchFamily="34" charset="0"/>
                <a:ea typeface="Product Sans" pitchFamily="34" charset="-122"/>
                <a:cs typeface="Product Sans" pitchFamily="34" charset="-120"/>
              </a:rPr>
              <a:t>MATLAB launches on the FIRST tool call (30–60 s). Share a running MATLAB, or add --initialize-matlab-on-startup=true to the server args.</a:t>
            </a:r>
            <a:endParaRPr lang="en-US" sz="950" dirty="0"/>
          </a:p>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Codex: calls time out on long tasks</a:t>
            </a:r>
            <a:endParaRPr lang="en-US" sz="950" dirty="0"/>
          </a:p>
          <a:p>
            <a:pPr marL="0" indent="0">
              <a:lnSpc>
                <a:spcPct val="100000"/>
              </a:lnSpc>
              <a:buNone/>
            </a:pPr>
            <a:r>
              <a:rPr lang="en-US" sz="950" b="0" dirty="0">
                <a:solidFill>
                  <a:srgbClr val="262626"/>
                </a:solidFill>
                <a:latin typeface="Product Sans" pitchFamily="34" charset="0"/>
                <a:ea typeface="Product Sans" pitchFamily="34" charset="-122"/>
                <a:cs typeface="Product Sans" pitchFamily="34" charset="-120"/>
              </a:rPr>
              <a:t>tool_timeout_sec = 600 (or more) under [mcp_servers.matlab].</a:t>
            </a:r>
            <a:endParaRPr lang="en-US" sz="950" dirty="0"/>
          </a:p>
        </p:txBody>
      </p:sp>
      <p:sp>
        <p:nvSpPr>
          <p:cNvPr id="15" name="Shape 11"/>
          <p:cNvSpPr/>
          <p:nvPr/>
        </p:nvSpPr>
        <p:spPr>
          <a:xfrm>
            <a:off x="548640" y="5623560"/>
            <a:ext cx="11091672" cy="365760"/>
          </a:xfrm>
          <a:prstGeom prst="roundRect">
            <a:avLst>
              <a:gd name="adj" fmla="val 15000"/>
            </a:avLst>
          </a:prstGeom>
          <a:solidFill>
            <a:srgbClr val="1F3864"/>
          </a:solidFill>
          <a:ln w="12700">
            <a:solidFill>
              <a:srgbClr val="1F3864"/>
            </a:solidFill>
            <a:prstDash val="solid"/>
          </a:ln>
        </p:spPr>
        <p:txBody>
          <a:bodyPr/>
          <a:lstStyle/>
          <a:p>
            <a:endParaRPr lang="en-US"/>
          </a:p>
        </p:txBody>
      </p:sp>
      <p:sp>
        <p:nvSpPr>
          <p:cNvPr id="16" name="Text 12"/>
          <p:cNvSpPr/>
          <p:nvPr/>
        </p:nvSpPr>
        <p:spPr>
          <a:xfrm>
            <a:off x="685800" y="5623560"/>
            <a:ext cx="10817352" cy="365760"/>
          </a:xfrm>
          <a:prstGeom prst="rect">
            <a:avLst/>
          </a:prstGeom>
          <a:noFill/>
          <a:ln/>
        </p:spPr>
        <p:txBody>
          <a:bodyPr wrap="square" lIns="0" tIns="0" rIns="0" bIns="0" rtlCol="0" anchor="ctr"/>
          <a:lstStyle/>
          <a:p>
            <a:pPr marL="0" indent="0" algn="ctr">
              <a:buNone/>
            </a:pPr>
            <a:r>
              <a:rPr lang="en-US" sz="1150" b="0" dirty="0">
                <a:solidFill>
                  <a:srgbClr val="FFFFFF"/>
                </a:solidFill>
                <a:latin typeface="Product Sans" pitchFamily="34" charset="0"/>
                <a:ea typeface="Product Sans" pitchFamily="34" charset="-122"/>
                <a:cs typeface="Product Sans" pitchFamily="34" charset="-120"/>
              </a:rPr>
              <a:t>Binary sanity check from any terminal:  ~/.matlab/agentic-toolkits/bin/matlab-mcp-server --version   → prints v0.11.x</a:t>
            </a:r>
            <a:endParaRPr 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59</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Rescue · Fix C — skills don't trigger</a:t>
            </a:r>
            <a:endParaRPr lang="en-US" sz="2400" dirty="0"/>
          </a:p>
        </p:txBody>
      </p:sp>
      <p:sp>
        <p:nvSpPr>
          <p:cNvPr id="7" name="Shape 3"/>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8" name="Text 4"/>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RESCUE 3/4</a:t>
            </a:r>
            <a:endParaRPr lang="en-US" sz="950" dirty="0"/>
          </a:p>
        </p:txBody>
      </p:sp>
      <p:sp>
        <p:nvSpPr>
          <p:cNvPr id="9" name="Shape 5"/>
          <p:cNvSpPr/>
          <p:nvPr/>
        </p:nvSpPr>
        <p:spPr>
          <a:xfrm>
            <a:off x="548640" y="1280160"/>
            <a:ext cx="5440680" cy="2880360"/>
          </a:xfrm>
          <a:prstGeom prst="roundRect">
            <a:avLst>
              <a:gd name="adj" fmla="val 2222"/>
            </a:avLst>
          </a:prstGeom>
          <a:solidFill>
            <a:srgbClr val="EEF2FA"/>
          </a:solidFill>
          <a:ln w="9525">
            <a:solidFill>
              <a:srgbClr val="C9D6EE"/>
            </a:solidFill>
            <a:prstDash val="solid"/>
          </a:ln>
        </p:spPr>
        <p:txBody>
          <a:bodyPr/>
          <a:lstStyle/>
          <a:p>
            <a:endParaRPr lang="en-US"/>
          </a:p>
        </p:txBody>
      </p:sp>
      <p:sp>
        <p:nvSpPr>
          <p:cNvPr id="10" name="Text 6"/>
          <p:cNvSpPr/>
          <p:nvPr/>
        </p:nvSpPr>
        <p:spPr>
          <a:xfrm>
            <a:off x="713232" y="1389888"/>
            <a:ext cx="5111496" cy="292608"/>
          </a:xfrm>
          <a:prstGeom prst="rect">
            <a:avLst/>
          </a:prstGeom>
          <a:noFill/>
          <a:ln/>
        </p:spPr>
        <p:txBody>
          <a:bodyPr wrap="square" lIns="0" tIns="0" rIns="0" bIns="0" rtlCol="0" anchor="ctr"/>
          <a:lstStyle/>
          <a:p>
            <a:pPr marL="0" indent="0">
              <a:buNone/>
            </a:pPr>
            <a:r>
              <a:rPr lang="en-US" sz="1300" b="0" dirty="0">
                <a:solidFill>
                  <a:srgbClr val="1F3864"/>
                </a:solidFill>
                <a:latin typeface="Product Sans" pitchFamily="34" charset="0"/>
                <a:ea typeface="Product Sans" pitchFamily="34" charset="-122"/>
                <a:cs typeface="Product Sans" pitchFamily="34" charset="-120"/>
              </a:rPr>
              <a:t>Fix C — MCP works, but the agent ignores the skills</a:t>
            </a:r>
            <a:endParaRPr lang="en-US" sz="1300" dirty="0"/>
          </a:p>
        </p:txBody>
      </p:sp>
      <p:sp>
        <p:nvSpPr>
          <p:cNvPr id="11" name="Text 7"/>
          <p:cNvSpPr/>
          <p:nvPr/>
        </p:nvSpPr>
        <p:spPr>
          <a:xfrm>
            <a:off x="713232" y="1719072"/>
            <a:ext cx="5111496" cy="2350008"/>
          </a:xfrm>
          <a:prstGeom prst="rect">
            <a:avLst/>
          </a:prstGeom>
          <a:noFill/>
          <a:ln/>
        </p:spPr>
        <p:txBody>
          <a:bodyPr wrap="square" lIns="0" tIns="0" rIns="0" bIns="0" rtlCol="0" anchor="t"/>
          <a:lstStyle/>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Too many skills loaded → none trigger reliably</a:t>
            </a:r>
            <a:endParaRPr lang="en-US" sz="950" dirty="0"/>
          </a:p>
          <a:p>
            <a:pPr marL="0" indent="0">
              <a:lnSpc>
                <a:spcPct val="100000"/>
              </a:lnSpc>
              <a:spcAft>
                <a:spcPts val="600"/>
              </a:spcAft>
              <a:buNone/>
            </a:pPr>
            <a:r>
              <a:rPr lang="en-US" sz="950" b="0" dirty="0">
                <a:solidFill>
                  <a:srgbClr val="262626"/>
                </a:solidFill>
                <a:latin typeface="Product Sans" pitchFamily="34" charset="0"/>
                <a:ea typeface="Product Sans" pitchFamily="34" charset="-122"/>
                <a:cs typeface="Product Sans" pitchFamily="34" charset="-120"/>
              </a:rPr>
              <a:t>Keep only the groups you use: setupAgenticToolkit("configure") and deselect; or claude plugin remove &lt;group&gt;@matlab-agentic-toolkit.</a:t>
            </a:r>
            <a:endParaRPr lang="en-US" sz="950" dirty="0"/>
          </a:p>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Call the skill by name — always works</a:t>
            </a:r>
            <a:endParaRPr lang="en-US" sz="950" dirty="0"/>
          </a:p>
          <a:p>
            <a:pPr marL="0" indent="0">
              <a:lnSpc>
                <a:spcPct val="100000"/>
              </a:lnSpc>
              <a:spcAft>
                <a:spcPts val="600"/>
              </a:spcAft>
              <a:buNone/>
            </a:pPr>
            <a:r>
              <a:rPr lang="en-US" sz="950" dirty="0">
                <a:solidFill>
                  <a:srgbClr val="262626"/>
                </a:solidFill>
                <a:latin typeface="Cascadia Mono" pitchFamily="34" charset="0"/>
                <a:ea typeface="Cascadia Mono" pitchFamily="34" charset="-122"/>
                <a:cs typeface="Cascadia Mono" pitchFamily="34" charset="-120"/>
              </a:rPr>
              <a:t>Claude Code: /matlab-testing   ·   Codex &amp; others: “Use the matlab-testing skill to …”</a:t>
            </a:r>
            <a:endParaRPr lang="en-US" sz="950" dirty="0"/>
          </a:p>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Skills missing entirely</a:t>
            </a:r>
            <a:endParaRPr lang="en-US" sz="950" dirty="0"/>
          </a:p>
          <a:p>
            <a:pPr marL="0" indent="0">
              <a:lnSpc>
                <a:spcPct val="100000"/>
              </a:lnSpc>
              <a:buNone/>
            </a:pPr>
            <a:r>
              <a:rPr lang="en-US" sz="950" b="0" dirty="0">
                <a:solidFill>
                  <a:srgbClr val="262626"/>
                </a:solidFill>
                <a:latin typeface="Product Sans" pitchFamily="34" charset="0"/>
                <a:ea typeface="Product Sans" pitchFamily="34" charset="-122"/>
                <a:cs typeface="Product Sans" pitchFamily="34" charset="-120"/>
              </a:rPr>
              <a:t>Where skills live per surface — Claude Code CLI + Desktop: /skills or + → Plugins (plugin cache) · Codex CLI + Desktop: ~/.agents/skills/ symlinks (app: Settings → Skills) · Copilot/Gemini: ~/.agents/skills/. Reinstall: claude plugin install matlab-core@matlab-agentic-toolkit, or setupAgenticToolkit("configure").</a:t>
            </a:r>
            <a:endParaRPr lang="en-US" sz="950" dirty="0"/>
          </a:p>
        </p:txBody>
      </p:sp>
      <p:sp>
        <p:nvSpPr>
          <p:cNvPr id="12" name="Shape 8"/>
          <p:cNvSpPr/>
          <p:nvPr/>
        </p:nvSpPr>
        <p:spPr>
          <a:xfrm>
            <a:off x="6199632" y="1280160"/>
            <a:ext cx="5440680" cy="2880360"/>
          </a:xfrm>
          <a:prstGeom prst="roundRect">
            <a:avLst>
              <a:gd name="adj" fmla="val 2222"/>
            </a:avLst>
          </a:prstGeom>
          <a:solidFill>
            <a:srgbClr val="F2F5FB"/>
          </a:solidFill>
          <a:ln w="9525">
            <a:solidFill>
              <a:srgbClr val="C9D6EE"/>
            </a:solidFill>
            <a:prstDash val="solid"/>
          </a:ln>
        </p:spPr>
        <p:txBody>
          <a:bodyPr/>
          <a:lstStyle/>
          <a:p>
            <a:endParaRPr lang="en-US"/>
          </a:p>
        </p:txBody>
      </p:sp>
      <p:sp>
        <p:nvSpPr>
          <p:cNvPr id="13" name="Text 9"/>
          <p:cNvSpPr/>
          <p:nvPr/>
        </p:nvSpPr>
        <p:spPr>
          <a:xfrm>
            <a:off x="6364224" y="1389888"/>
            <a:ext cx="5111496" cy="292608"/>
          </a:xfrm>
          <a:prstGeom prst="rect">
            <a:avLst/>
          </a:prstGeom>
          <a:noFill/>
          <a:ln/>
        </p:spPr>
        <p:txBody>
          <a:bodyPr wrap="square" lIns="0" tIns="0" rIns="0" bIns="0" rtlCol="0" anchor="ctr"/>
          <a:lstStyle/>
          <a:p>
            <a:pPr marL="0" indent="0">
              <a:buNone/>
            </a:pPr>
            <a:r>
              <a:rPr lang="en-US" sz="1300" b="0" dirty="0">
                <a:solidFill>
                  <a:srgbClr val="1F3864"/>
                </a:solidFill>
                <a:latin typeface="Product Sans" pitchFamily="34" charset="0"/>
                <a:ea typeface="Product Sans" pitchFamily="34" charset="-122"/>
                <a:cs typeface="Product Sans" pitchFamily="34" charset="-120"/>
              </a:rPr>
              <a:t>Prevention — do these once</a:t>
            </a:r>
            <a:endParaRPr lang="en-US" sz="1300" dirty="0"/>
          </a:p>
        </p:txBody>
      </p:sp>
      <p:sp>
        <p:nvSpPr>
          <p:cNvPr id="14" name="Text 10"/>
          <p:cNvSpPr/>
          <p:nvPr/>
        </p:nvSpPr>
        <p:spPr>
          <a:xfrm>
            <a:off x="6364224" y="1719072"/>
            <a:ext cx="5111496" cy="2350008"/>
          </a:xfrm>
          <a:prstGeom prst="rect">
            <a:avLst/>
          </a:prstGeom>
          <a:noFill/>
          <a:ln/>
        </p:spPr>
        <p:txBody>
          <a:bodyPr wrap="square" lIns="0" tIns="0" rIns="0" bIns="0" rtlCol="0" anchor="t"/>
          <a:lstStyle/>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startup.m: addpath + satk_initialize — no more attach errors</a:t>
            </a:r>
            <a:endParaRPr lang="en-US" sz="950" dirty="0"/>
          </a:p>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Install BOTH toolkits, but only the skill groups you need</a:t>
            </a:r>
            <a:endParaRPr lang="en-US" sz="950" dirty="0"/>
          </a:p>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Restart the agent after configure — make it a habit</a:t>
            </a:r>
            <a:endParaRPr lang="en-US" sz="950" dirty="0"/>
          </a:p>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Bookmark setupAgenticToolkit("status") and "update" (weekly releases)</a:t>
            </a:r>
            <a:endParaRPr lang="en-US" sz="950" dirty="0"/>
          </a:p>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Verify prompt after every update: does it CALL a tool?</a:t>
            </a:r>
            <a:endParaRPr lang="en-US" sz="950" dirty="0"/>
          </a:p>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Compliance: setupAgenticToolkit("configure", DisableTelemetry=true) opts out of anonymized usage data</a:t>
            </a:r>
            <a:endParaRPr lang="en-US" sz="950" dirty="0"/>
          </a:p>
        </p:txBody>
      </p:sp>
      <p:sp>
        <p:nvSpPr>
          <p:cNvPr id="15" name="Shape 11"/>
          <p:cNvSpPr/>
          <p:nvPr/>
        </p:nvSpPr>
        <p:spPr>
          <a:xfrm>
            <a:off x="548640" y="4297680"/>
            <a:ext cx="11091672" cy="1097280"/>
          </a:xfrm>
          <a:prstGeom prst="roundRect">
            <a:avLst>
              <a:gd name="adj" fmla="val 5833"/>
            </a:avLst>
          </a:prstGeom>
          <a:solidFill>
            <a:srgbClr val="EEF2FA"/>
          </a:solidFill>
          <a:ln w="9525">
            <a:solidFill>
              <a:srgbClr val="C9D6EE"/>
            </a:solidFill>
            <a:prstDash val="solid"/>
          </a:ln>
        </p:spPr>
        <p:txBody>
          <a:bodyPr/>
          <a:lstStyle/>
          <a:p>
            <a:endParaRPr lang="en-US"/>
          </a:p>
        </p:txBody>
      </p:sp>
      <p:sp>
        <p:nvSpPr>
          <p:cNvPr id="16" name="Text 12"/>
          <p:cNvSpPr/>
          <p:nvPr/>
        </p:nvSpPr>
        <p:spPr>
          <a:xfrm>
            <a:off x="713232" y="4407408"/>
            <a:ext cx="10762488" cy="292608"/>
          </a:xfrm>
          <a:prstGeom prst="rect">
            <a:avLst/>
          </a:prstGeom>
          <a:noFill/>
          <a:ln/>
        </p:spPr>
        <p:txBody>
          <a:bodyPr wrap="square" lIns="0" tIns="0" rIns="0" bIns="0" rtlCol="0" anchor="ctr"/>
          <a:lstStyle/>
          <a:p>
            <a:pPr marL="0" indent="0">
              <a:buNone/>
            </a:pPr>
            <a:r>
              <a:rPr lang="en-US" sz="1200" b="0" dirty="0">
                <a:solidFill>
                  <a:srgbClr val="1F3864"/>
                </a:solidFill>
                <a:latin typeface="Product Sans" pitchFamily="34" charset="0"/>
                <a:ea typeface="Product Sans" pitchFamily="34" charset="-122"/>
                <a:cs typeface="Product Sans" pitchFamily="34" charset="-120"/>
              </a:rPr>
              <a:t>Still stuck? Ask the agent itself — it can read its own config</a:t>
            </a:r>
            <a:endParaRPr lang="en-US" sz="1200" dirty="0"/>
          </a:p>
        </p:txBody>
      </p:sp>
      <p:sp>
        <p:nvSpPr>
          <p:cNvPr id="17" name="Text 13"/>
          <p:cNvSpPr/>
          <p:nvPr/>
        </p:nvSpPr>
        <p:spPr>
          <a:xfrm>
            <a:off x="713232" y="4736592"/>
            <a:ext cx="10762488" cy="566928"/>
          </a:xfrm>
          <a:prstGeom prst="rect">
            <a:avLst/>
          </a:prstGeom>
          <a:noFill/>
          <a:ln/>
        </p:spPr>
        <p:txBody>
          <a:bodyPr wrap="square" lIns="0" tIns="0" rIns="0" bIns="0" rtlCol="0" anchor="t"/>
          <a:lstStyle/>
          <a:p>
            <a:pPr marL="0" indent="0">
              <a:lnSpc>
                <a:spcPct val="100000"/>
              </a:lnSpc>
              <a:spcAft>
                <a:spcPts val="400"/>
              </a:spcAft>
              <a:buNone/>
            </a:pPr>
            <a:r>
              <a:rPr lang="en-US" sz="1000" b="0" i="1" dirty="0">
                <a:solidFill>
                  <a:srgbClr val="262626"/>
                </a:solidFill>
                <a:latin typeface="Product Sans" pitchFamily="34" charset="0"/>
                <a:ea typeface="Product Sans" pitchFamily="34" charset="-122"/>
                <a:cs typeface="Product Sans" pitchFamily="34" charset="-120"/>
              </a:rPr>
              <a:t>“My MATLAB MCP server shows in claude mcp list but evaluate_matlab_code fails with ‘failed to attach’. Read ~/.claude.json, tell me the session mode, and walk me through the fix.”  — agents are good at diagnosing their own plumbing once they can see the config file.</a:t>
            </a:r>
            <a:endParaRPr lang="en-US" sz="1000" dirty="0"/>
          </a:p>
        </p:txBody>
      </p:sp>
      <p:sp>
        <p:nvSpPr>
          <p:cNvPr id="18" name="Shape 14"/>
          <p:cNvSpPr/>
          <p:nvPr/>
        </p:nvSpPr>
        <p:spPr>
          <a:xfrm>
            <a:off x="548640" y="5623560"/>
            <a:ext cx="11091672" cy="365760"/>
          </a:xfrm>
          <a:prstGeom prst="roundRect">
            <a:avLst>
              <a:gd name="adj" fmla="val 15000"/>
            </a:avLst>
          </a:prstGeom>
          <a:solidFill>
            <a:srgbClr val="1F3864"/>
          </a:solidFill>
          <a:ln w="12700">
            <a:solidFill>
              <a:srgbClr val="1F3864"/>
            </a:solidFill>
            <a:prstDash val="solid"/>
          </a:ln>
        </p:spPr>
        <p:txBody>
          <a:bodyPr/>
          <a:lstStyle/>
          <a:p>
            <a:endParaRPr lang="en-US"/>
          </a:p>
        </p:txBody>
      </p:sp>
      <p:sp>
        <p:nvSpPr>
          <p:cNvPr id="19" name="Text 15"/>
          <p:cNvSpPr/>
          <p:nvPr/>
        </p:nvSpPr>
        <p:spPr>
          <a:xfrm>
            <a:off x="685800" y="5623560"/>
            <a:ext cx="10817352" cy="365760"/>
          </a:xfrm>
          <a:prstGeom prst="rect">
            <a:avLst/>
          </a:prstGeom>
          <a:noFill/>
          <a:ln/>
        </p:spPr>
        <p:txBody>
          <a:bodyPr wrap="square" lIns="0" tIns="0" rIns="0" bIns="0" rtlCol="0" anchor="ctr"/>
          <a:lstStyle/>
          <a:p>
            <a:pPr marL="0" indent="0" algn="ctr">
              <a:buNone/>
            </a:pPr>
            <a:r>
              <a:rPr lang="en-US" sz="1150" b="0" dirty="0">
                <a:solidFill>
                  <a:srgbClr val="FFFFFF"/>
                </a:solidFill>
                <a:latin typeface="Product Sans" pitchFamily="34" charset="0"/>
                <a:ea typeface="Product Sans" pitchFamily="34" charset="-122"/>
                <a:cs typeface="Product Sans" pitchFamily="34" charset="-120"/>
              </a:rPr>
              <a:t>Official reference: Configuration_and_Troubleshooting.md in github.com/matlab/matlab-agentic-toolkit — plus the Rescue Card in your pack.</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private/tmp/claude-501/-Users-lohweihong-matlab-agentic-toolkit/898a4f9c-7170-4431-8019-af7b101ba079/scratchpad/assets/image4.jpg"/>
          <p:cNvPicPr>
            <a:picLocks noChangeAspect="1"/>
          </p:cNvPicPr>
          <p:nvPr/>
        </p:nvPicPr>
        <p:blipFill>
          <a:blip r:embed="rId3"/>
          <a:stretch>
            <a:fillRect/>
          </a:stretch>
        </p:blipFill>
        <p:spPr>
          <a:xfrm>
            <a:off x="8796528" y="201168"/>
            <a:ext cx="1737360" cy="274158"/>
          </a:xfrm>
          <a:prstGeom prst="rect">
            <a:avLst/>
          </a:prstGeom>
        </p:spPr>
      </p:pic>
      <p:pic>
        <p:nvPicPr>
          <p:cNvPr id="3" name="Image 1" descr="/private/tmp/claude-501/-Users-lohweihong-matlab-agentic-toolkit/898a4f9c-7170-4431-8019-af7b101ba079/scratchpad/assets/image3.png"/>
          <p:cNvPicPr>
            <a:picLocks noChangeAspect="1"/>
          </p:cNvPicPr>
          <p:nvPr/>
        </p:nvPicPr>
        <p:blipFill>
          <a:blip r:embed="rId4"/>
          <a:stretch>
            <a:fillRect/>
          </a:stretch>
        </p:blipFill>
        <p:spPr>
          <a:xfrm>
            <a:off x="10716768" y="118872"/>
            <a:ext cx="969264" cy="340668"/>
          </a:xfrm>
          <a:prstGeom prst="rect">
            <a:avLst/>
          </a:prstGeom>
        </p:spPr>
      </p:pic>
      <p:sp>
        <p:nvSpPr>
          <p:cNvPr id="4" name="Text 0"/>
          <p:cNvSpPr/>
          <p:nvPr/>
        </p:nvSpPr>
        <p:spPr>
          <a:xfrm>
            <a:off x="548640" y="6565392"/>
            <a:ext cx="5486400" cy="219456"/>
          </a:xfrm>
          <a:prstGeom prst="rect">
            <a:avLst/>
          </a:prstGeom>
          <a:noFill/>
          <a:ln/>
        </p:spPr>
        <p:txBody>
          <a:bodyPr wrap="square" lIns="0" tIns="0" rIns="0" bIns="0" rtlCol="0" anchor="ctr"/>
          <a:lstStyle/>
          <a:p>
            <a:pPr marL="0" indent="0" algn="l">
              <a:buNone/>
            </a:pPr>
            <a:r>
              <a:rPr lang="en-US" sz="800" b="0" dirty="0">
                <a:solidFill>
                  <a:srgbClr val="595959"/>
                </a:solidFill>
                <a:latin typeface="Product Sans" pitchFamily="34" charset="0"/>
                <a:ea typeface="Product Sans" pitchFamily="34" charset="-122"/>
                <a:cs typeface="Product Sans" pitchFamily="34" charset="-120"/>
              </a:rPr>
              <a:t>Techsource Systems  ·  Agentic AI for MATLAB &amp; Simulink</a:t>
            </a:r>
            <a:endParaRPr lang="en-US" sz="800" dirty="0"/>
          </a:p>
        </p:txBody>
      </p:sp>
      <p:sp>
        <p:nvSpPr>
          <p:cNvPr id="5" name="Text 1"/>
          <p:cNvSpPr/>
          <p:nvPr/>
        </p:nvSpPr>
        <p:spPr>
          <a:xfrm>
            <a:off x="11384280" y="6565392"/>
            <a:ext cx="320040" cy="219456"/>
          </a:xfrm>
          <a:prstGeom prst="rect">
            <a:avLst/>
          </a:prstGeom>
          <a:noFill/>
          <a:ln/>
        </p:spPr>
        <p:txBody>
          <a:bodyPr wrap="square" lIns="0" tIns="0" rIns="0" bIns="0" rtlCol="0" anchor="ctr"/>
          <a:lstStyle/>
          <a:p>
            <a:pPr marL="0" indent="0" algn="r">
              <a:buNone/>
            </a:pPr>
            <a:r>
              <a:rPr lang="en-US" sz="800" b="0" dirty="0">
                <a:solidFill>
                  <a:srgbClr val="595959"/>
                </a:solidFill>
                <a:latin typeface="Product Sans" pitchFamily="34" charset="0"/>
                <a:ea typeface="Product Sans" pitchFamily="34" charset="-122"/>
                <a:cs typeface="Product Sans" pitchFamily="34" charset="-120"/>
              </a:rPr>
              <a:t>60</a:t>
            </a:r>
            <a:endParaRPr lang="en-US" sz="800" dirty="0"/>
          </a:p>
        </p:txBody>
      </p:sp>
      <p:sp>
        <p:nvSpPr>
          <p:cNvPr id="6" name="Text 2"/>
          <p:cNvSpPr/>
          <p:nvPr/>
        </p:nvSpPr>
        <p:spPr>
          <a:xfrm>
            <a:off x="548640" y="310896"/>
            <a:ext cx="8092440" cy="548640"/>
          </a:xfrm>
          <a:prstGeom prst="rect">
            <a:avLst/>
          </a:prstGeom>
          <a:noFill/>
          <a:ln/>
        </p:spPr>
        <p:txBody>
          <a:bodyPr wrap="square" lIns="0" tIns="0" rIns="0" bIns="0" rtlCol="0" anchor="ctr"/>
          <a:lstStyle/>
          <a:p>
            <a:pPr marL="0" indent="0">
              <a:buNone/>
            </a:pPr>
            <a:r>
              <a:rPr lang="en-US" sz="2400" b="0" dirty="0">
                <a:solidFill>
                  <a:srgbClr val="4472C4"/>
                </a:solidFill>
                <a:latin typeface="Product Sans" pitchFamily="34" charset="0"/>
                <a:ea typeface="Product Sans" pitchFamily="34" charset="-122"/>
                <a:cs typeface="Product Sans" pitchFamily="34" charset="-120"/>
              </a:rPr>
              <a:t>Rescue · Fix D — when nothing above works</a:t>
            </a:r>
            <a:endParaRPr lang="en-US" sz="2400" dirty="0"/>
          </a:p>
        </p:txBody>
      </p:sp>
      <p:sp>
        <p:nvSpPr>
          <p:cNvPr id="7" name="Text 3"/>
          <p:cNvSpPr/>
          <p:nvPr/>
        </p:nvSpPr>
        <p:spPr>
          <a:xfrm>
            <a:off x="548640" y="859536"/>
            <a:ext cx="8869680" cy="292608"/>
          </a:xfrm>
          <a:prstGeom prst="rect">
            <a:avLst/>
          </a:prstGeom>
          <a:noFill/>
          <a:ln/>
        </p:spPr>
        <p:txBody>
          <a:bodyPr wrap="square" lIns="0" tIns="0" rIns="0" bIns="0" rtlCol="0" anchor="ctr"/>
          <a:lstStyle/>
          <a:p>
            <a:pPr marL="0" indent="0">
              <a:buNone/>
            </a:pPr>
            <a:r>
              <a:rPr lang="en-US" sz="1250" b="0" i="1" dirty="0">
                <a:solidFill>
                  <a:srgbClr val="595959"/>
                </a:solidFill>
                <a:latin typeface="Product Sans" pitchFamily="34" charset="0"/>
                <a:ea typeface="Product Sans" pitchFamily="34" charset="-122"/>
                <a:cs typeface="Product Sans" pitchFamily="34" charset="-120"/>
              </a:rPr>
              <a:t>Read the logs, turn up verbosity, and the platform-specific traps</a:t>
            </a:r>
            <a:endParaRPr lang="en-US" sz="1250" dirty="0"/>
          </a:p>
        </p:txBody>
      </p:sp>
      <p:sp>
        <p:nvSpPr>
          <p:cNvPr id="8" name="Shape 4"/>
          <p:cNvSpPr/>
          <p:nvPr/>
        </p:nvSpPr>
        <p:spPr>
          <a:xfrm>
            <a:off x="9829800" y="713232"/>
            <a:ext cx="1856232" cy="292608"/>
          </a:xfrm>
          <a:prstGeom prst="roundRect">
            <a:avLst>
              <a:gd name="adj" fmla="val 50000"/>
            </a:avLst>
          </a:prstGeom>
          <a:solidFill>
            <a:srgbClr val="EEF2FA"/>
          </a:solidFill>
          <a:ln w="9525">
            <a:solidFill>
              <a:srgbClr val="C9D6EE"/>
            </a:solidFill>
            <a:prstDash val="solid"/>
          </a:ln>
        </p:spPr>
        <p:txBody>
          <a:bodyPr/>
          <a:lstStyle/>
          <a:p>
            <a:endParaRPr lang="en-US"/>
          </a:p>
        </p:txBody>
      </p:sp>
      <p:sp>
        <p:nvSpPr>
          <p:cNvPr id="9" name="Text 5"/>
          <p:cNvSpPr/>
          <p:nvPr/>
        </p:nvSpPr>
        <p:spPr>
          <a:xfrm>
            <a:off x="9829800" y="713232"/>
            <a:ext cx="1856232" cy="292608"/>
          </a:xfrm>
          <a:prstGeom prst="rect">
            <a:avLst/>
          </a:prstGeom>
          <a:noFill/>
          <a:ln/>
        </p:spPr>
        <p:txBody>
          <a:bodyPr wrap="square" lIns="0" tIns="0" rIns="0" bIns="0" rtlCol="0" anchor="ctr"/>
          <a:lstStyle/>
          <a:p>
            <a:pPr marL="0" indent="0" algn="ctr">
              <a:buNone/>
            </a:pPr>
            <a:r>
              <a:rPr lang="en-US" sz="950" b="0" kern="0" spc="150" dirty="0">
                <a:solidFill>
                  <a:srgbClr val="1F3864"/>
                </a:solidFill>
                <a:latin typeface="Product Sans" pitchFamily="34" charset="0"/>
                <a:ea typeface="Product Sans" pitchFamily="34" charset="-122"/>
                <a:cs typeface="Product Sans" pitchFamily="34" charset="-120"/>
              </a:rPr>
              <a:t>RESCUE 4/4</a:t>
            </a:r>
            <a:endParaRPr lang="en-US" sz="950" dirty="0"/>
          </a:p>
        </p:txBody>
      </p:sp>
      <p:sp>
        <p:nvSpPr>
          <p:cNvPr id="10" name="Shape 6"/>
          <p:cNvSpPr/>
          <p:nvPr/>
        </p:nvSpPr>
        <p:spPr>
          <a:xfrm>
            <a:off x="548640" y="1280160"/>
            <a:ext cx="5440680" cy="2286000"/>
          </a:xfrm>
          <a:prstGeom prst="roundRect">
            <a:avLst>
              <a:gd name="adj" fmla="val 2800"/>
            </a:avLst>
          </a:prstGeom>
          <a:solidFill>
            <a:srgbClr val="FDF4E3"/>
          </a:solidFill>
          <a:ln w="9525">
            <a:solidFill>
              <a:srgbClr val="EAD9B4"/>
            </a:solidFill>
            <a:prstDash val="solid"/>
          </a:ln>
        </p:spPr>
        <p:txBody>
          <a:bodyPr/>
          <a:lstStyle/>
          <a:p>
            <a:endParaRPr lang="en-US"/>
          </a:p>
        </p:txBody>
      </p:sp>
      <p:sp>
        <p:nvSpPr>
          <p:cNvPr id="11" name="Text 7"/>
          <p:cNvSpPr/>
          <p:nvPr/>
        </p:nvSpPr>
        <p:spPr>
          <a:xfrm>
            <a:off x="713232" y="1389888"/>
            <a:ext cx="5111496" cy="292608"/>
          </a:xfrm>
          <a:prstGeom prst="rect">
            <a:avLst/>
          </a:prstGeom>
          <a:noFill/>
          <a:ln/>
        </p:spPr>
        <p:txBody>
          <a:bodyPr wrap="square" lIns="0" tIns="0" rIns="0" bIns="0" rtlCol="0" anchor="ctr"/>
          <a:lstStyle/>
          <a:p>
            <a:pPr marL="0" indent="0">
              <a:buNone/>
            </a:pPr>
            <a:r>
              <a:rPr lang="en-US" sz="1250" b="0" dirty="0">
                <a:solidFill>
                  <a:srgbClr val="1F3864"/>
                </a:solidFill>
                <a:latin typeface="Product Sans" pitchFamily="34" charset="0"/>
                <a:ea typeface="Product Sans" pitchFamily="34" charset="-122"/>
                <a:cs typeface="Product Sans" pitchFamily="34" charset="-120"/>
              </a:rPr>
              <a:t>Read the server log — this is what support will ask for</a:t>
            </a:r>
            <a:endParaRPr lang="en-US" sz="1250" dirty="0"/>
          </a:p>
        </p:txBody>
      </p:sp>
      <p:sp>
        <p:nvSpPr>
          <p:cNvPr id="12" name="Text 8"/>
          <p:cNvSpPr/>
          <p:nvPr/>
        </p:nvSpPr>
        <p:spPr>
          <a:xfrm>
            <a:off x="713232" y="1719072"/>
            <a:ext cx="5111496" cy="1755648"/>
          </a:xfrm>
          <a:prstGeom prst="rect">
            <a:avLst/>
          </a:prstGeom>
          <a:noFill/>
          <a:ln/>
        </p:spPr>
        <p:txBody>
          <a:bodyPr wrap="square" lIns="0" tIns="0" rIns="0" bIns="0" rtlCol="0" anchor="t"/>
          <a:lstStyle/>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The MATLAB MCP Server writes a log folder per run in your OS temp dir:</a:t>
            </a:r>
            <a:endParaRPr lang="en-US" sz="950" dirty="0"/>
          </a:p>
          <a:p>
            <a:pPr marL="0" indent="0">
              <a:lnSpc>
                <a:spcPct val="100000"/>
              </a:lnSpc>
              <a:spcAft>
                <a:spcPts val="400"/>
              </a:spcAft>
              <a:buNone/>
            </a:pPr>
            <a:r>
              <a:rPr lang="en-US" sz="950" dirty="0">
                <a:solidFill>
                  <a:srgbClr val="262626"/>
                </a:solidFill>
                <a:latin typeface="Cascadia Mono" pitchFamily="34" charset="0"/>
                <a:ea typeface="Cascadia Mono" pitchFamily="34" charset="-122"/>
                <a:cs typeface="Cascadia Mono" pitchFamily="34" charset="-120"/>
              </a:rPr>
              <a:t>macOS/Linux  $TMPDIR/matlab-mcp-server-&lt;id&gt;/   ·   Windows  %TEMP%\matlab-mcp-server-&lt;id&gt;\</a:t>
            </a:r>
            <a:endParaRPr lang="en-US" sz="950" dirty="0"/>
          </a:p>
          <a:p>
            <a:pPr marL="0" indent="0">
              <a:lnSpc>
                <a:spcPct val="100000"/>
              </a:lnSpc>
              <a:spcAft>
                <a:spcPts val="100"/>
              </a:spcAft>
              <a:buNone/>
            </a:pPr>
            <a:r>
              <a:rPr lang="en-US" sz="950" b="0" dirty="0">
                <a:solidFill>
                  <a:srgbClr val="262626"/>
                </a:solidFill>
                <a:latin typeface="Product Sans" pitchFamily="34" charset="0"/>
                <a:ea typeface="Product Sans" pitchFamily="34" charset="-122"/>
                <a:cs typeface="Product Sans" pitchFamily="34" charset="-120"/>
              </a:rPr>
              <a:t>Turn up detail and pin the location by adding to the server args (in your agent config):</a:t>
            </a:r>
            <a:endParaRPr lang="en-US" sz="950" dirty="0"/>
          </a:p>
          <a:p>
            <a:pPr marL="0" indent="0">
              <a:lnSpc>
                <a:spcPct val="100000"/>
              </a:lnSpc>
              <a:spcAft>
                <a:spcPts val="400"/>
              </a:spcAft>
              <a:buNone/>
            </a:pPr>
            <a:r>
              <a:rPr lang="en-US" sz="950" dirty="0">
                <a:solidFill>
                  <a:srgbClr val="262626"/>
                </a:solidFill>
                <a:latin typeface="Cascadia Mono" pitchFamily="34" charset="0"/>
                <a:ea typeface="Cascadia Mono" pitchFamily="34" charset="-122"/>
                <a:cs typeface="Cascadia Mono" pitchFamily="34" charset="-120"/>
              </a:rPr>
              <a:t>--log-level=debug  --log-folder=~/mcp-logs</a:t>
            </a:r>
            <a:endParaRPr lang="en-US" sz="950" dirty="0"/>
          </a:p>
          <a:p>
            <a:pPr marL="0" indent="0">
              <a:lnSpc>
                <a:spcPct val="100000"/>
              </a:lnSpc>
              <a:buNone/>
            </a:pPr>
            <a:r>
              <a:rPr lang="en-US" sz="950" b="0" dirty="0">
                <a:solidFill>
                  <a:srgbClr val="262626"/>
                </a:solidFill>
                <a:latin typeface="Product Sans" pitchFamily="34" charset="0"/>
                <a:ea typeface="Product Sans" pitchFamily="34" charset="-122"/>
                <a:cs typeface="Product Sans" pitchFamily="34" charset="-120"/>
              </a:rPr>
              <a:t>Then reproduce once and read the newest file — MATLAB launch errors, licence failures, and attach failures are all spelled out there.</a:t>
            </a:r>
            <a:endParaRPr lang="en-US" sz="950" dirty="0"/>
          </a:p>
        </p:txBody>
      </p:sp>
      <p:sp>
        <p:nvSpPr>
          <p:cNvPr id="13" name="Shape 9"/>
          <p:cNvSpPr/>
          <p:nvPr/>
        </p:nvSpPr>
        <p:spPr>
          <a:xfrm>
            <a:off x="6199632" y="1280160"/>
            <a:ext cx="5440680" cy="2286000"/>
          </a:xfrm>
          <a:prstGeom prst="roundRect">
            <a:avLst>
              <a:gd name="adj" fmla="val 2800"/>
            </a:avLst>
          </a:prstGeom>
          <a:solidFill>
            <a:srgbClr val="EEF2FA"/>
          </a:solidFill>
          <a:ln w="9525">
            <a:solidFill>
              <a:srgbClr val="C9D6EE"/>
            </a:solidFill>
            <a:prstDash val="solid"/>
          </a:ln>
        </p:spPr>
        <p:txBody>
          <a:bodyPr/>
          <a:lstStyle/>
          <a:p>
            <a:endParaRPr lang="en-US"/>
          </a:p>
        </p:txBody>
      </p:sp>
      <p:sp>
        <p:nvSpPr>
          <p:cNvPr id="14" name="Text 10"/>
          <p:cNvSpPr/>
          <p:nvPr/>
        </p:nvSpPr>
        <p:spPr>
          <a:xfrm>
            <a:off x="6364224" y="1389888"/>
            <a:ext cx="5111496" cy="292608"/>
          </a:xfrm>
          <a:prstGeom prst="rect">
            <a:avLst/>
          </a:prstGeom>
          <a:noFill/>
          <a:ln/>
        </p:spPr>
        <p:txBody>
          <a:bodyPr wrap="square" lIns="0" tIns="0" rIns="0" bIns="0" rtlCol="0" anchor="ctr"/>
          <a:lstStyle/>
          <a:p>
            <a:pPr marL="0" indent="0">
              <a:buNone/>
            </a:pPr>
            <a:r>
              <a:rPr lang="en-US" sz="1250" b="0" dirty="0">
                <a:solidFill>
                  <a:srgbClr val="1F3864"/>
                </a:solidFill>
                <a:latin typeface="Product Sans" pitchFamily="34" charset="0"/>
                <a:ea typeface="Product Sans" pitchFamily="34" charset="-122"/>
                <a:cs typeface="Product Sans" pitchFamily="34" charset="-120"/>
              </a:rPr>
              <a:t>Useful server flags (edit args in ~/.claude.json · config.toml)</a:t>
            </a:r>
            <a:endParaRPr lang="en-US" sz="1250" dirty="0"/>
          </a:p>
        </p:txBody>
      </p:sp>
      <p:sp>
        <p:nvSpPr>
          <p:cNvPr id="15" name="Text 11"/>
          <p:cNvSpPr/>
          <p:nvPr/>
        </p:nvSpPr>
        <p:spPr>
          <a:xfrm>
            <a:off x="6364224" y="1719072"/>
            <a:ext cx="5111496" cy="1755648"/>
          </a:xfrm>
          <a:prstGeom prst="rect">
            <a:avLst/>
          </a:prstGeom>
          <a:noFill/>
          <a:ln/>
        </p:spPr>
        <p:txBody>
          <a:bodyPr wrap="square" lIns="0" tIns="0" rIns="0" bIns="0" rtlCol="0" anchor="t"/>
          <a:lstStyle/>
          <a:p>
            <a:pPr marL="0" indent="0">
              <a:lnSpc>
                <a:spcPct val="100000"/>
              </a:lnSpc>
              <a:spcAft>
                <a:spcPts val="200"/>
              </a:spcAft>
              <a:buNone/>
            </a:pPr>
            <a:r>
              <a:rPr lang="en-US" sz="950" dirty="0">
                <a:solidFill>
                  <a:srgbClr val="262626"/>
                </a:solidFill>
                <a:latin typeface="Cascadia Mono" pitchFamily="34" charset="0"/>
                <a:ea typeface="Cascadia Mono" pitchFamily="34" charset="-122"/>
                <a:cs typeface="Cascadia Mono" pitchFamily="34" charset="-120"/>
              </a:rPr>
              <a:t>--matlab-root=&lt;path&gt;   force which MATLAB (no /bin)</a:t>
            </a:r>
            <a:endParaRPr lang="en-US" sz="950" dirty="0"/>
          </a:p>
          <a:p>
            <a:pPr marL="0" indent="0">
              <a:lnSpc>
                <a:spcPct val="100000"/>
              </a:lnSpc>
              <a:spcAft>
                <a:spcPts val="200"/>
              </a:spcAft>
              <a:buNone/>
            </a:pPr>
            <a:r>
              <a:rPr lang="en-US" sz="950" dirty="0">
                <a:solidFill>
                  <a:srgbClr val="262626"/>
                </a:solidFill>
                <a:latin typeface="Cascadia Mono" pitchFamily="34" charset="0"/>
                <a:ea typeface="Cascadia Mono" pitchFamily="34" charset="-122"/>
                <a:cs typeface="Cascadia Mono" pitchFamily="34" charset="-120"/>
              </a:rPr>
              <a:t>--matlab-session-mode=existing|auto|new</a:t>
            </a:r>
            <a:endParaRPr lang="en-US" sz="950" dirty="0"/>
          </a:p>
          <a:p>
            <a:pPr marL="0" indent="0">
              <a:lnSpc>
                <a:spcPct val="100000"/>
              </a:lnSpc>
              <a:spcAft>
                <a:spcPts val="200"/>
              </a:spcAft>
              <a:buNone/>
            </a:pPr>
            <a:r>
              <a:rPr lang="en-US" sz="950" dirty="0">
                <a:solidFill>
                  <a:srgbClr val="262626"/>
                </a:solidFill>
                <a:latin typeface="Cascadia Mono" pitchFamily="34" charset="0"/>
                <a:ea typeface="Cascadia Mono" pitchFamily="34" charset="-122"/>
                <a:cs typeface="Cascadia Mono" pitchFamily="34" charset="-120"/>
              </a:rPr>
              <a:t>--initialize-matlab-on-startup=true   start MATLAB at once</a:t>
            </a:r>
            <a:endParaRPr lang="en-US" sz="950" dirty="0"/>
          </a:p>
          <a:p>
            <a:pPr marL="0" indent="0">
              <a:lnSpc>
                <a:spcPct val="100000"/>
              </a:lnSpc>
              <a:spcAft>
                <a:spcPts val="200"/>
              </a:spcAft>
              <a:buNone/>
            </a:pPr>
            <a:r>
              <a:rPr lang="en-US" sz="950" dirty="0">
                <a:solidFill>
                  <a:srgbClr val="262626"/>
                </a:solidFill>
                <a:latin typeface="Cascadia Mono" pitchFamily="34" charset="0"/>
                <a:ea typeface="Cascadia Mono" pitchFamily="34" charset="-122"/>
                <a:cs typeface="Cascadia Mono" pitchFamily="34" charset="-120"/>
              </a:rPr>
              <a:t>--initial-working-folder=&lt;path&gt;   where MATLAB starts</a:t>
            </a:r>
            <a:endParaRPr lang="en-US" sz="950" dirty="0"/>
          </a:p>
          <a:p>
            <a:pPr marL="0" indent="0">
              <a:lnSpc>
                <a:spcPct val="100000"/>
              </a:lnSpc>
              <a:spcAft>
                <a:spcPts val="200"/>
              </a:spcAft>
              <a:buNone/>
            </a:pPr>
            <a:r>
              <a:rPr lang="en-US" sz="950" dirty="0">
                <a:solidFill>
                  <a:srgbClr val="262626"/>
                </a:solidFill>
                <a:latin typeface="Cascadia Mono" pitchFamily="34" charset="0"/>
                <a:ea typeface="Cascadia Mono" pitchFamily="34" charset="-122"/>
                <a:cs typeface="Cascadia Mono" pitchFamily="34" charset="-120"/>
              </a:rPr>
              <a:t>--matlab-display-mode=nodesktop   headless MATLAB</a:t>
            </a:r>
            <a:endParaRPr lang="en-US" sz="950" dirty="0"/>
          </a:p>
          <a:p>
            <a:pPr marL="0" indent="0">
              <a:lnSpc>
                <a:spcPct val="100000"/>
              </a:lnSpc>
              <a:spcAft>
                <a:spcPts val="400"/>
              </a:spcAft>
              <a:buNone/>
            </a:pPr>
            <a:r>
              <a:rPr lang="en-US" sz="950" dirty="0">
                <a:solidFill>
                  <a:srgbClr val="262626"/>
                </a:solidFill>
                <a:latin typeface="Cascadia Mono" pitchFamily="34" charset="0"/>
                <a:ea typeface="Cascadia Mono" pitchFamily="34" charset="-122"/>
                <a:cs typeface="Cascadia Mono" pitchFamily="34" charset="-120"/>
              </a:rPr>
              <a:t>--disable-telemetry=true</a:t>
            </a:r>
            <a:endParaRPr lang="en-US" sz="950" dirty="0"/>
          </a:p>
          <a:p>
            <a:pPr marL="0" indent="0">
              <a:lnSpc>
                <a:spcPct val="100000"/>
              </a:lnSpc>
              <a:buNone/>
            </a:pPr>
            <a:r>
              <a:rPr lang="en-US" sz="950" b="0" dirty="0">
                <a:solidFill>
                  <a:srgbClr val="262626"/>
                </a:solidFill>
                <a:latin typeface="Product Sans" pitchFamily="34" charset="0"/>
                <a:ea typeface="Product Sans" pitchFamily="34" charset="-122"/>
                <a:cs typeface="Product Sans" pitchFamily="34" charset="-120"/>
              </a:rPr>
              <a:t>Every flag also works as an env var: MW_MCP_SERVER_MATLAB_ROOT etc. — handy for locked-down configs.</a:t>
            </a:r>
            <a:endParaRPr lang="en-US" sz="950" dirty="0"/>
          </a:p>
        </p:txBody>
      </p:sp>
      <p:sp>
        <p:nvSpPr>
          <p:cNvPr id="16" name="Shape 12"/>
          <p:cNvSpPr/>
          <p:nvPr/>
        </p:nvSpPr>
        <p:spPr>
          <a:xfrm>
            <a:off x="548640" y="3703320"/>
            <a:ext cx="5440680" cy="1920240"/>
          </a:xfrm>
          <a:prstGeom prst="roundRect">
            <a:avLst>
              <a:gd name="adj" fmla="val 3333"/>
            </a:avLst>
          </a:prstGeom>
          <a:solidFill>
            <a:srgbClr val="F2F5FB"/>
          </a:solidFill>
          <a:ln w="9525">
            <a:solidFill>
              <a:srgbClr val="C9D6EE"/>
            </a:solidFill>
            <a:prstDash val="solid"/>
          </a:ln>
        </p:spPr>
        <p:txBody>
          <a:bodyPr/>
          <a:lstStyle/>
          <a:p>
            <a:endParaRPr lang="en-US"/>
          </a:p>
        </p:txBody>
      </p:sp>
      <p:sp>
        <p:nvSpPr>
          <p:cNvPr id="17" name="Text 13"/>
          <p:cNvSpPr/>
          <p:nvPr/>
        </p:nvSpPr>
        <p:spPr>
          <a:xfrm>
            <a:off x="713232" y="3813048"/>
            <a:ext cx="5111496" cy="292608"/>
          </a:xfrm>
          <a:prstGeom prst="rect">
            <a:avLst/>
          </a:prstGeom>
          <a:noFill/>
          <a:ln/>
        </p:spPr>
        <p:txBody>
          <a:bodyPr wrap="square" lIns="0" tIns="0" rIns="0" bIns="0" rtlCol="0" anchor="ctr"/>
          <a:lstStyle/>
          <a:p>
            <a:pPr marL="0" indent="0">
              <a:buNone/>
            </a:pPr>
            <a:r>
              <a:rPr lang="en-US" sz="1250" b="0" dirty="0">
                <a:solidFill>
                  <a:srgbClr val="1F3864"/>
                </a:solidFill>
                <a:latin typeface="Product Sans" pitchFamily="34" charset="0"/>
                <a:ea typeface="Product Sans" pitchFamily="34" charset="-122"/>
                <a:cs typeface="Product Sans" pitchFamily="34" charset="-120"/>
              </a:rPr>
              <a:t>Windows traps</a:t>
            </a:r>
            <a:endParaRPr lang="en-US" sz="1250" dirty="0"/>
          </a:p>
        </p:txBody>
      </p:sp>
      <p:sp>
        <p:nvSpPr>
          <p:cNvPr id="18" name="Text 14"/>
          <p:cNvSpPr/>
          <p:nvPr/>
        </p:nvSpPr>
        <p:spPr>
          <a:xfrm>
            <a:off x="713232" y="4142232"/>
            <a:ext cx="5111496" cy="1389888"/>
          </a:xfrm>
          <a:prstGeom prst="rect">
            <a:avLst/>
          </a:prstGeom>
          <a:noFill/>
          <a:ln/>
        </p:spPr>
        <p:txBody>
          <a:bodyPr wrap="square" lIns="0" tIns="0" rIns="0" bIns="0" rtlCol="0" anchor="t"/>
          <a:lstStyle/>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JSON paths need double backslashes:  C:\\Users\\me\\.matlab\\…\\matlab-mcp-server.exe</a:t>
            </a:r>
            <a:endParaRPr lang="en-US" sz="950" dirty="0"/>
          </a:p>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Binary blocked after download → PowerShell:  Unblock-File matlab-mcp-server.exe</a:t>
            </a:r>
            <a:endParaRPr lang="en-US" sz="950" dirty="0"/>
          </a:p>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Config lives under %USERPROFILE% (~/.claude.json, ~/.codex/config.toml) and %APPDATA%\Code\User\mcp.json for Copilot</a:t>
            </a:r>
            <a:endParaRPr lang="en-US" sz="950" dirty="0"/>
          </a:p>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Codex + Simulink: env_vars = ['WINDIR'] — Codex strips env vars from MCP subprocesses</a:t>
            </a:r>
            <a:endParaRPr lang="en-US" sz="950" dirty="0"/>
          </a:p>
        </p:txBody>
      </p:sp>
      <p:sp>
        <p:nvSpPr>
          <p:cNvPr id="19" name="Shape 15"/>
          <p:cNvSpPr/>
          <p:nvPr/>
        </p:nvSpPr>
        <p:spPr>
          <a:xfrm>
            <a:off x="6199632" y="3703320"/>
            <a:ext cx="5440680" cy="1920240"/>
          </a:xfrm>
          <a:prstGeom prst="roundRect">
            <a:avLst>
              <a:gd name="adj" fmla="val 3333"/>
            </a:avLst>
          </a:prstGeom>
          <a:solidFill>
            <a:srgbClr val="F2F5FB"/>
          </a:solidFill>
          <a:ln w="9525">
            <a:solidFill>
              <a:srgbClr val="C9D6EE"/>
            </a:solidFill>
            <a:prstDash val="solid"/>
          </a:ln>
        </p:spPr>
        <p:txBody>
          <a:bodyPr/>
          <a:lstStyle/>
          <a:p>
            <a:endParaRPr lang="en-US"/>
          </a:p>
        </p:txBody>
      </p:sp>
      <p:sp>
        <p:nvSpPr>
          <p:cNvPr id="20" name="Text 16"/>
          <p:cNvSpPr/>
          <p:nvPr/>
        </p:nvSpPr>
        <p:spPr>
          <a:xfrm>
            <a:off x="6364224" y="3813048"/>
            <a:ext cx="5111496" cy="292608"/>
          </a:xfrm>
          <a:prstGeom prst="rect">
            <a:avLst/>
          </a:prstGeom>
          <a:noFill/>
          <a:ln/>
        </p:spPr>
        <p:txBody>
          <a:bodyPr wrap="square" lIns="0" tIns="0" rIns="0" bIns="0" rtlCol="0" anchor="ctr"/>
          <a:lstStyle/>
          <a:p>
            <a:pPr marL="0" indent="0">
              <a:buNone/>
            </a:pPr>
            <a:r>
              <a:rPr lang="en-US" sz="1250" b="0" dirty="0">
                <a:solidFill>
                  <a:srgbClr val="1F3864"/>
                </a:solidFill>
                <a:latin typeface="Product Sans" pitchFamily="34" charset="0"/>
                <a:ea typeface="Product Sans" pitchFamily="34" charset="-122"/>
                <a:cs typeface="Product Sans" pitchFamily="34" charset="-120"/>
              </a:rPr>
              <a:t>Corporate network / proxy / after an update</a:t>
            </a:r>
            <a:endParaRPr lang="en-US" sz="1250" dirty="0"/>
          </a:p>
        </p:txBody>
      </p:sp>
      <p:sp>
        <p:nvSpPr>
          <p:cNvPr id="21" name="Text 17"/>
          <p:cNvSpPr/>
          <p:nvPr/>
        </p:nvSpPr>
        <p:spPr>
          <a:xfrm>
            <a:off x="6364224" y="4142232"/>
            <a:ext cx="5111496" cy="1389888"/>
          </a:xfrm>
          <a:prstGeom prst="rect">
            <a:avLst/>
          </a:prstGeom>
          <a:noFill/>
          <a:ln/>
        </p:spPr>
        <p:txBody>
          <a:bodyPr wrap="square" lIns="0" tIns="0" rIns="0" bIns="0" rtlCol="0" anchor="t"/>
          <a:lstStyle/>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Download fails during install → grab matlab-mcp-server-&lt;platform&gt; from github.com/matlab/matlab-mcp-server/releases, drop it in ~/.matlab/agentic-toolkits/bin/, re-run setup</a:t>
            </a:r>
            <a:endParaRPr lang="en-US" sz="950" dirty="0"/>
          </a:p>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Fully offline: setupAgenticToolkit("install", Offline=true, MCPServerLocation=…, MATLABAgenticToolkitLocation=…)</a:t>
            </a:r>
            <a:endParaRPr lang="en-US" sz="950" dirty="0"/>
          </a:p>
          <a:p>
            <a:pPr marL="127000" indent="-127000">
              <a:lnSpc>
                <a:spcPct val="100000"/>
              </a:lnSpc>
              <a:spcAft>
                <a:spcPts val="400"/>
              </a:spcAft>
              <a:buSzPct val="100000"/>
              <a:buChar char="•"/>
            </a:pPr>
            <a:r>
              <a:rPr lang="en-US" sz="950" b="0" dirty="0">
                <a:solidFill>
                  <a:srgbClr val="262626"/>
                </a:solidFill>
                <a:latin typeface="Product Sans" pitchFamily="34" charset="0"/>
                <a:ea typeface="Product Sans" pitchFamily="34" charset="-122"/>
                <a:cs typeface="Product Sans" pitchFamily="34" charset="-120"/>
              </a:rPr>
              <a:t>After setupAgenticToolkit("update"): restart every agent, re-run the verify prompt. Update failing on slow links? Retry — 2026.08.12 raised the download timeout</a:t>
            </a:r>
            <a:endParaRPr lang="en-US" sz="950" dirty="0"/>
          </a:p>
        </p:txBody>
      </p:sp>
      <p:sp>
        <p:nvSpPr>
          <p:cNvPr id="22" name="Shape 18"/>
          <p:cNvSpPr/>
          <p:nvPr/>
        </p:nvSpPr>
        <p:spPr>
          <a:xfrm>
            <a:off x="548640" y="5806440"/>
            <a:ext cx="11091672" cy="365760"/>
          </a:xfrm>
          <a:prstGeom prst="roundRect">
            <a:avLst>
              <a:gd name="adj" fmla="val 15000"/>
            </a:avLst>
          </a:prstGeom>
          <a:solidFill>
            <a:srgbClr val="1F3864"/>
          </a:solidFill>
          <a:ln w="12700">
            <a:solidFill>
              <a:srgbClr val="1F3864"/>
            </a:solidFill>
            <a:prstDash val="solid"/>
          </a:ln>
        </p:spPr>
        <p:txBody>
          <a:bodyPr/>
          <a:lstStyle/>
          <a:p>
            <a:endParaRPr lang="en-US"/>
          </a:p>
        </p:txBody>
      </p:sp>
      <p:sp>
        <p:nvSpPr>
          <p:cNvPr id="23" name="Text 19"/>
          <p:cNvSpPr/>
          <p:nvPr/>
        </p:nvSpPr>
        <p:spPr>
          <a:xfrm>
            <a:off x="685800" y="5806440"/>
            <a:ext cx="10817352" cy="365760"/>
          </a:xfrm>
          <a:prstGeom prst="rect">
            <a:avLst/>
          </a:prstGeom>
          <a:noFill/>
          <a:ln/>
        </p:spPr>
        <p:txBody>
          <a:bodyPr wrap="square" lIns="0" tIns="0" rIns="0" bIns="0" rtlCol="0" anchor="ctr"/>
          <a:lstStyle/>
          <a:p>
            <a:pPr marL="0" indent="0" algn="ctr">
              <a:buNone/>
            </a:pPr>
            <a:r>
              <a:rPr lang="en-US" sz="1150" b="0" dirty="0">
                <a:solidFill>
                  <a:srgbClr val="FFFFFF"/>
                </a:solidFill>
                <a:latin typeface="Product Sans" pitchFamily="34" charset="0"/>
                <a:ea typeface="Product Sans" pitchFamily="34" charset="-122"/>
                <a:cs typeface="Product Sans" pitchFamily="34" charset="-120"/>
              </a:rPr>
              <a:t>Log + debug flag + the verify prompt reproduce 95% of tickets in one message to support — or to your agent.</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8796528" y="201168"/>
            <a:ext cx="1737360" cy="274320"/>
          </a:xfrm>
          <a:prstGeom prst="rect">
            <a:avLst/>
          </a:prstGeom>
        </p:spPr>
      </p:pic>
      <p:pic>
        <p:nvPicPr>
          <p:cNvPr id="3" name="Picture 2" descr="image.png"/>
          <p:cNvPicPr>
            <a:picLocks noChangeAspect="1"/>
          </p:cNvPicPr>
          <p:nvPr/>
        </p:nvPicPr>
        <p:blipFill>
          <a:blip r:embed="rId3"/>
          <a:stretch>
            <a:fillRect/>
          </a:stretch>
        </p:blipFill>
        <p:spPr>
          <a:xfrm>
            <a:off x="10716768" y="118872"/>
            <a:ext cx="969264" cy="338328"/>
          </a:xfrm>
          <a:prstGeom prst="rect">
            <a:avLst/>
          </a:prstGeom>
        </p:spPr>
      </p:pic>
      <p:sp>
        <p:nvSpPr>
          <p:cNvPr id="4" name="TextBox 3"/>
          <p:cNvSpPr txBox="1"/>
          <p:nvPr/>
        </p:nvSpPr>
        <p:spPr>
          <a:xfrm>
            <a:off x="548640" y="6565392"/>
            <a:ext cx="5486400" cy="219456"/>
          </a:xfrm>
          <a:prstGeom prst="rect">
            <a:avLst/>
          </a:prstGeom>
          <a:noFill/>
        </p:spPr>
        <p:txBody>
          <a:bodyPr wrap="square" lIns="0" tIns="0" rIns="0" bIns="0" anchor="ctr">
            <a:spAutoFit/>
          </a:bodyPr>
          <a:lstStyle/>
          <a:p>
            <a:pPr marL="0" indent="0" algn="l">
              <a:lnSpc>
                <a:spcPct val="100000"/>
              </a:lnSpc>
              <a:spcAft>
                <a:spcPts val="400"/>
              </a:spcAft>
              <a:buNone/>
            </a:pPr>
            <a:r>
              <a:rPr sz="900" b="0" i="0">
                <a:solidFill>
                  <a:srgbClr val="595959"/>
                </a:solidFill>
                <a:latin typeface="Product Sans"/>
                <a:ea typeface="Product Sans"/>
                <a:cs typeface="Product Sans"/>
              </a:rPr>
              <a:t>Techsource Systems  ·  Agentic AI for MATLAB &amp; Simulink</a:t>
            </a:r>
          </a:p>
        </p:txBody>
      </p:sp>
      <p:sp>
        <p:nvSpPr>
          <p:cNvPr id="5" name="TextBox 4"/>
          <p:cNvSpPr txBox="1"/>
          <p:nvPr/>
        </p:nvSpPr>
        <p:spPr>
          <a:xfrm>
            <a:off x="11384280" y="6565392"/>
            <a:ext cx="320040" cy="219456"/>
          </a:xfrm>
          <a:prstGeom prst="rect">
            <a:avLst/>
          </a:prstGeom>
          <a:noFill/>
        </p:spPr>
        <p:txBody>
          <a:bodyPr wrap="square" lIns="0" tIns="0" rIns="0" bIns="0" anchor="ctr">
            <a:spAutoFit/>
          </a:bodyPr>
          <a:lstStyle/>
          <a:p>
            <a:pPr marL="0" indent="0" algn="r">
              <a:lnSpc>
                <a:spcPct val="100000"/>
              </a:lnSpc>
              <a:spcAft>
                <a:spcPts val="400"/>
              </a:spcAft>
              <a:buNone/>
            </a:pPr>
            <a:r>
              <a:rPr sz="900" b="0" i="0">
                <a:solidFill>
                  <a:srgbClr val="595959"/>
                </a:solidFill>
                <a:latin typeface="Product Sans"/>
                <a:ea typeface="Product Sans"/>
                <a:cs typeface="Product Sans"/>
              </a:rPr>
              <a:t>61</a:t>
            </a:r>
          </a:p>
        </p:txBody>
      </p:sp>
      <p:sp>
        <p:nvSpPr>
          <p:cNvPr id="6" name="TextBox 5"/>
          <p:cNvSpPr txBox="1"/>
          <p:nvPr/>
        </p:nvSpPr>
        <p:spPr>
          <a:xfrm>
            <a:off x="548640" y="310896"/>
            <a:ext cx="8092440" cy="548640"/>
          </a:xfrm>
          <a:prstGeom prst="rect">
            <a:avLst/>
          </a:prstGeom>
          <a:noFill/>
        </p:spPr>
        <p:txBody>
          <a:bodyPr wrap="square" lIns="0" tIns="0" rIns="0" bIns="0" anchor="ctr">
            <a:spAutoFit/>
          </a:bodyPr>
          <a:lstStyle/>
          <a:p>
            <a:pPr marL="0" indent="0" algn="l">
              <a:lnSpc>
                <a:spcPct val="100000"/>
              </a:lnSpc>
              <a:spcAft>
                <a:spcPts val="400"/>
              </a:spcAft>
              <a:buNone/>
            </a:pPr>
            <a:r>
              <a:rPr sz="2400" b="0" i="0">
                <a:solidFill>
                  <a:srgbClr val="4472C4"/>
                </a:solidFill>
                <a:latin typeface="Product Sans"/>
                <a:ea typeface="Product Sans"/>
                <a:cs typeface="Product Sans"/>
              </a:rPr>
              <a:t>Privacy, IP, and cost — the questions IT will ask</a:t>
            </a:r>
          </a:p>
        </p:txBody>
      </p:sp>
      <p:sp>
        <p:nvSpPr>
          <p:cNvPr id="7" name="TextBox 6"/>
          <p:cNvSpPr txBox="1"/>
          <p:nvPr/>
        </p:nvSpPr>
        <p:spPr>
          <a:xfrm>
            <a:off x="548640" y="859536"/>
            <a:ext cx="8869680" cy="292608"/>
          </a:xfrm>
          <a:prstGeom prst="rect">
            <a:avLst/>
          </a:prstGeom>
          <a:noFill/>
        </p:spPr>
        <p:txBody>
          <a:bodyPr wrap="square" lIns="0" tIns="0" rIns="0" bIns="0" anchor="ctr">
            <a:spAutoFit/>
          </a:bodyPr>
          <a:lstStyle/>
          <a:p>
            <a:pPr marL="0" indent="0" algn="l">
              <a:lnSpc>
                <a:spcPct val="100000"/>
              </a:lnSpc>
              <a:spcAft>
                <a:spcPts val="400"/>
              </a:spcAft>
              <a:buNone/>
            </a:pPr>
            <a:r>
              <a:rPr sz="1300" b="0" i="1">
                <a:solidFill>
                  <a:srgbClr val="595959"/>
                </a:solidFill>
                <a:latin typeface="Product Sans"/>
                <a:ea typeface="Product Sans"/>
                <a:cs typeface="Product Sans"/>
              </a:rPr>
              <a:t>The questions that decide whether this gets past a corporate lab's governance</a:t>
            </a:r>
          </a:p>
        </p:txBody>
      </p:sp>
      <p:sp>
        <p:nvSpPr>
          <p:cNvPr id="8" name="Rounded Rectangle 7"/>
          <p:cNvSpPr/>
          <p:nvPr/>
        </p:nvSpPr>
        <p:spPr>
          <a:xfrm>
            <a:off x="9829800" y="713232"/>
            <a:ext cx="1856231" cy="29260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829800" y="713232"/>
            <a:ext cx="1856231" cy="292608"/>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APPENDIX</a:t>
            </a:r>
          </a:p>
        </p:txBody>
      </p:sp>
      <p:sp>
        <p:nvSpPr>
          <p:cNvPr id="10" name="Rounded Rectangle 9"/>
          <p:cNvSpPr/>
          <p:nvPr/>
        </p:nvSpPr>
        <p:spPr>
          <a:xfrm>
            <a:off x="548640" y="1280160"/>
            <a:ext cx="11091672" cy="2286000"/>
          </a:xfrm>
          <a:prstGeom prst="roundRect">
            <a:avLst>
              <a:gd name="adj" fmla="val 4500"/>
            </a:avLst>
          </a:prstGeom>
          <a:solidFill>
            <a:srgbClr val="F2F5FB"/>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777240" y="1691639"/>
            <a:ext cx="6211336" cy="1463040"/>
          </a:xfrm>
          <a:prstGeom prst="roundRect">
            <a:avLst>
              <a:gd name="adj" fmla="val 4500"/>
            </a:avLst>
          </a:prstGeom>
          <a:solidFill>
            <a:srgbClr val="FFFFFF"/>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77240" y="1426463"/>
            <a:ext cx="6211336" cy="219456"/>
          </a:xfrm>
          <a:prstGeom prst="rect">
            <a:avLst/>
          </a:prstGeom>
          <a:noFill/>
        </p:spPr>
        <p:txBody>
          <a:bodyPr wrap="square" lIns="0" tIns="0" rIns="0" bIns="0" anchor="ctr">
            <a:spAutoFit/>
          </a:bodyPr>
          <a:lstStyle/>
          <a:p>
            <a:pPr marL="0" indent="0" algn="ctr">
              <a:lnSpc>
                <a:spcPct val="100000"/>
              </a:lnSpc>
              <a:spcAft>
                <a:spcPts val="400"/>
              </a:spcAft>
              <a:buNone/>
            </a:pPr>
            <a:r>
              <a:rPr sz="1050" b="0" i="0">
                <a:solidFill>
                  <a:srgbClr val="1F3864"/>
                </a:solidFill>
                <a:latin typeface="Product Sans"/>
                <a:ea typeface="Product Sans"/>
                <a:cs typeface="Product Sans"/>
              </a:rPr>
              <a:t>YOUR MACHINE — NOTHING HERE LEAVES</a:t>
            </a:r>
          </a:p>
        </p:txBody>
      </p:sp>
      <p:sp>
        <p:nvSpPr>
          <p:cNvPr id="13" name="Rounded Rectangle 12"/>
          <p:cNvSpPr/>
          <p:nvPr/>
        </p:nvSpPr>
        <p:spPr>
          <a:xfrm>
            <a:off x="1005840" y="2139696"/>
            <a:ext cx="1059387" cy="56692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05840" y="2139696"/>
            <a:ext cx="1059387" cy="56692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1F3864"/>
                </a:solidFill>
                <a:latin typeface="Product Sans"/>
                <a:ea typeface="Product Sans"/>
                <a:cs typeface="Product Sans"/>
              </a:rPr>
              <a:t>MATLAB &amp; Simulink</a:t>
            </a:r>
          </a:p>
        </p:txBody>
      </p:sp>
      <p:sp>
        <p:nvSpPr>
          <p:cNvPr id="15" name="Rounded Rectangle 14"/>
          <p:cNvSpPr/>
          <p:nvPr/>
        </p:nvSpPr>
        <p:spPr>
          <a:xfrm>
            <a:off x="2156667" y="2139696"/>
            <a:ext cx="1059387" cy="56692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2156667" y="2139696"/>
            <a:ext cx="1059387" cy="56692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1F3864"/>
                </a:solidFill>
                <a:latin typeface="Product Sans"/>
                <a:ea typeface="Product Sans"/>
                <a:cs typeface="Product Sans"/>
              </a:rPr>
              <a:t>your models</a:t>
            </a:r>
          </a:p>
        </p:txBody>
      </p:sp>
      <p:sp>
        <p:nvSpPr>
          <p:cNvPr id="17" name="Rounded Rectangle 16"/>
          <p:cNvSpPr/>
          <p:nvPr/>
        </p:nvSpPr>
        <p:spPr>
          <a:xfrm>
            <a:off x="3307494" y="2139696"/>
            <a:ext cx="1059387" cy="56692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307494" y="2139696"/>
            <a:ext cx="1059387" cy="56692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1F3864"/>
                </a:solidFill>
                <a:latin typeface="Product Sans"/>
                <a:ea typeface="Product Sans"/>
                <a:cs typeface="Product Sans"/>
              </a:rPr>
              <a:t>your data</a:t>
            </a:r>
          </a:p>
        </p:txBody>
      </p:sp>
      <p:sp>
        <p:nvSpPr>
          <p:cNvPr id="19" name="Rounded Rectangle 18"/>
          <p:cNvSpPr/>
          <p:nvPr/>
        </p:nvSpPr>
        <p:spPr>
          <a:xfrm>
            <a:off x="4458321" y="2139696"/>
            <a:ext cx="1059387" cy="56692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458321" y="2139696"/>
            <a:ext cx="1059387" cy="56692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1F3864"/>
                </a:solidFill>
                <a:latin typeface="Product Sans"/>
                <a:ea typeface="Product Sans"/>
                <a:cs typeface="Product Sans"/>
              </a:rPr>
              <a:t>the MCP server</a:t>
            </a:r>
          </a:p>
        </p:txBody>
      </p:sp>
      <p:sp>
        <p:nvSpPr>
          <p:cNvPr id="21" name="Rounded Rectangle 20"/>
          <p:cNvSpPr/>
          <p:nvPr/>
        </p:nvSpPr>
        <p:spPr>
          <a:xfrm>
            <a:off x="5609149" y="2139696"/>
            <a:ext cx="1059387" cy="566928"/>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609149" y="2139696"/>
            <a:ext cx="1059387" cy="566928"/>
          </a:xfrm>
          <a:prstGeom prst="rect">
            <a:avLst/>
          </a:prstGeom>
          <a:noFill/>
        </p:spPr>
        <p:txBody>
          <a:bodyPr wrap="square" lIns="0" tIns="0" rIns="0" bIns="0" anchor="ctr">
            <a:spAutoFit/>
          </a:bodyPr>
          <a:lstStyle/>
          <a:p>
            <a:pPr marL="0" indent="0" algn="ctr">
              <a:lnSpc>
                <a:spcPct val="100000"/>
              </a:lnSpc>
              <a:spcAft>
                <a:spcPts val="400"/>
              </a:spcAft>
              <a:buNone/>
            </a:pPr>
            <a:r>
              <a:rPr sz="1000" b="0" i="0">
                <a:solidFill>
                  <a:srgbClr val="1F3864"/>
                </a:solidFill>
                <a:latin typeface="Product Sans"/>
                <a:ea typeface="Product Sans"/>
                <a:cs typeface="Product Sans"/>
              </a:rPr>
              <a:t>the skills</a:t>
            </a:r>
          </a:p>
        </p:txBody>
      </p:sp>
      <p:sp>
        <p:nvSpPr>
          <p:cNvPr id="23" name="Right Arrow 22"/>
          <p:cNvSpPr/>
          <p:nvPr/>
        </p:nvSpPr>
        <p:spPr>
          <a:xfrm>
            <a:off x="7198888" y="2304288"/>
            <a:ext cx="603504" cy="237744"/>
          </a:xfrm>
          <a:prstGeom prst="rightArrow">
            <a:avLst/>
          </a:prstGeom>
          <a:solidFill>
            <a:srgbClr val="B46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043440" y="1819655"/>
            <a:ext cx="914400" cy="402336"/>
          </a:xfrm>
          <a:prstGeom prst="rect">
            <a:avLst/>
          </a:prstGeom>
          <a:noFill/>
        </p:spPr>
        <p:txBody>
          <a:bodyPr wrap="square" lIns="0" tIns="0" rIns="0" bIns="0" anchor="ctr">
            <a:spAutoFit/>
          </a:bodyPr>
          <a:lstStyle/>
          <a:p>
            <a:pPr marL="0" indent="0" algn="ctr">
              <a:lnSpc>
                <a:spcPct val="100000"/>
              </a:lnSpc>
              <a:spcAft>
                <a:spcPts val="400"/>
              </a:spcAft>
              <a:buNone/>
            </a:pPr>
            <a:r>
              <a:rPr sz="950" b="0" i="0">
                <a:solidFill>
                  <a:srgbClr val="B46A0B"/>
                </a:solidFill>
                <a:latin typeface="Product Sans"/>
                <a:ea typeface="Product Sans"/>
                <a:cs typeface="Product Sans"/>
              </a:rPr>
              <a:t>prompts +
code snippets</a:t>
            </a:r>
          </a:p>
        </p:txBody>
      </p:sp>
      <p:sp>
        <p:nvSpPr>
          <p:cNvPr id="25" name="Rounded Rectangle 24"/>
          <p:cNvSpPr/>
          <p:nvPr/>
        </p:nvSpPr>
        <p:spPr>
          <a:xfrm>
            <a:off x="8012704" y="1691639"/>
            <a:ext cx="3399007" cy="146304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012704" y="2002536"/>
            <a:ext cx="3399007" cy="274320"/>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1F3864"/>
                </a:solidFill>
                <a:latin typeface="Product Sans"/>
                <a:ea typeface="Product Sans"/>
                <a:cs typeface="Product Sans"/>
              </a:rPr>
              <a:t>your LLM provider</a:t>
            </a:r>
          </a:p>
        </p:txBody>
      </p:sp>
      <p:sp>
        <p:nvSpPr>
          <p:cNvPr id="27" name="TextBox 26"/>
          <p:cNvSpPr txBox="1"/>
          <p:nvPr/>
        </p:nvSpPr>
        <p:spPr>
          <a:xfrm>
            <a:off x="8104144" y="2313432"/>
            <a:ext cx="3216127" cy="566928"/>
          </a:xfrm>
          <a:prstGeom prst="rect">
            <a:avLst/>
          </a:prstGeom>
          <a:noFill/>
        </p:spPr>
        <p:txBody>
          <a:bodyPr wrap="square" lIns="0" tIns="0" rIns="0" bIns="0" anchor="t">
            <a:spAutoFit/>
          </a:bodyPr>
          <a:lstStyle/>
          <a:p>
            <a:pPr marL="0" indent="0" algn="ctr">
              <a:lnSpc>
                <a:spcPct val="100000"/>
              </a:lnSpc>
              <a:spcAft>
                <a:spcPts val="400"/>
              </a:spcAft>
              <a:buNone/>
            </a:pPr>
            <a:r>
              <a:rPr sz="1000" b="0" i="0">
                <a:solidFill>
                  <a:srgbClr val="595959"/>
                </a:solidFill>
                <a:latin typeface="Product Sans"/>
                <a:ea typeface="Product Sans"/>
                <a:cs typeface="Product Sans"/>
              </a:rPr>
              <a:t>the one you already chose,
under terms you already govern</a:t>
            </a:r>
          </a:p>
        </p:txBody>
      </p:sp>
      <p:sp>
        <p:nvSpPr>
          <p:cNvPr id="28" name="TextBox 27"/>
          <p:cNvSpPr txBox="1"/>
          <p:nvPr/>
        </p:nvSpPr>
        <p:spPr>
          <a:xfrm>
            <a:off x="777240" y="3236976"/>
            <a:ext cx="10634472" cy="219456"/>
          </a:xfrm>
          <a:prstGeom prst="rect">
            <a:avLst/>
          </a:prstGeom>
          <a:noFill/>
        </p:spPr>
        <p:txBody>
          <a:bodyPr wrap="square" lIns="0" tIns="0" rIns="0" bIns="0" anchor="ctr">
            <a:spAutoFit/>
          </a:bodyPr>
          <a:lstStyle/>
          <a:p>
            <a:pPr marL="0" indent="0" algn="ctr">
              <a:lnSpc>
                <a:spcPct val="100000"/>
              </a:lnSpc>
              <a:spcAft>
                <a:spcPts val="400"/>
              </a:spcAft>
              <a:buNone/>
            </a:pPr>
            <a:r>
              <a:rPr sz="1000" b="0" i="1">
                <a:solidFill>
                  <a:srgbClr val="595959"/>
                </a:solidFill>
                <a:latin typeface="Product Sans"/>
                <a:ea typeface="Product Sans"/>
                <a:cs typeface="Product Sans"/>
              </a:rPr>
              <a:t>No MathWorks cloud.  Swap in a local open-weights model and even that arrow disappears.</a:t>
            </a:r>
          </a:p>
        </p:txBody>
      </p:sp>
      <p:sp>
        <p:nvSpPr>
          <p:cNvPr id="29" name="Rounded Rectangle 28"/>
          <p:cNvSpPr/>
          <p:nvPr/>
        </p:nvSpPr>
        <p:spPr>
          <a:xfrm>
            <a:off x="548640" y="3840480"/>
            <a:ext cx="3602736" cy="15544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786384" y="395020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86384" y="3950208"/>
            <a:ext cx="347472" cy="347472"/>
          </a:xfrm>
          <a:prstGeom prst="rect">
            <a:avLst/>
          </a:prstGeom>
          <a:noFill/>
        </p:spPr>
        <p:txBody>
          <a:bodyPr wrap="square" lIns="0" tIns="0" rIns="0" bIns="0" anchor="ctr">
            <a:spAutoFit/>
          </a:bodyPr>
          <a:lstStyle/>
          <a:p>
            <a:pPr marL="0" indent="0" algn="ctr">
              <a:lnSpc>
                <a:spcPct val="100000"/>
              </a:lnSpc>
              <a:spcAft>
                <a:spcPts val="400"/>
              </a:spcAft>
              <a:buNone/>
            </a:pPr>
            <a:r>
              <a:rPr sz="1250" b="0" i="0">
                <a:solidFill>
                  <a:srgbClr val="FFFFFF"/>
                </a:solidFill>
                <a:latin typeface="Product Sans"/>
                <a:ea typeface="Product Sans"/>
                <a:cs typeface="Product Sans"/>
              </a:rPr>
              <a:t>$</a:t>
            </a:r>
          </a:p>
        </p:txBody>
      </p:sp>
      <p:sp>
        <p:nvSpPr>
          <p:cNvPr id="32" name="TextBox 31"/>
          <p:cNvSpPr txBox="1"/>
          <p:nvPr/>
        </p:nvSpPr>
        <p:spPr>
          <a:xfrm>
            <a:off x="1280160" y="3977640"/>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No extra product licence</a:t>
            </a:r>
          </a:p>
        </p:txBody>
      </p:sp>
      <p:sp>
        <p:nvSpPr>
          <p:cNvPr id="33" name="TextBox 32"/>
          <p:cNvSpPr txBox="1"/>
          <p:nvPr/>
        </p:nvSpPr>
        <p:spPr>
          <a:xfrm>
            <a:off x="786384" y="4379976"/>
            <a:ext cx="3127248" cy="905255"/>
          </a:xfrm>
          <a:prstGeom prst="rect">
            <a:avLst/>
          </a:prstGeom>
          <a:noFill/>
        </p:spPr>
        <p:txBody>
          <a:bodyPr wrap="square" lIns="0" tIns="0" rIns="0" bIns="0" anchor="t">
            <a:spAutoFit/>
          </a:bodyPr>
          <a:lstStyle/>
          <a:p>
            <a:pPr marL="0" indent="0" algn="l">
              <a:lnSpc>
                <a:spcPct val="100000"/>
              </a:lnSpc>
              <a:spcAft>
                <a:spcPts val="600"/>
              </a:spcAft>
              <a:buNone/>
            </a:pPr>
            <a:r>
              <a:rPr sz="1100" b="0" i="0">
                <a:solidFill>
                  <a:srgbClr val="262626"/>
                </a:solidFill>
                <a:latin typeface="Product Sans"/>
                <a:ea typeface="Product Sans"/>
                <a:cs typeface="Product Sans"/>
              </a:rPr>
              <a:t>Published on GitHub under MathWorks licence terms. No additional product licence today — they run on the MATLAB licences you already have.</a:t>
            </a:r>
          </a:p>
        </p:txBody>
      </p:sp>
      <p:sp>
        <p:nvSpPr>
          <p:cNvPr id="34" name="Rounded Rectangle 33"/>
          <p:cNvSpPr/>
          <p:nvPr/>
        </p:nvSpPr>
        <p:spPr>
          <a:xfrm>
            <a:off x="4325112" y="3840480"/>
            <a:ext cx="3602736" cy="15544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4562855" y="395020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Block Arc 35"/>
          <p:cNvSpPr/>
          <p:nvPr/>
        </p:nvSpPr>
        <p:spPr>
          <a:xfrm>
            <a:off x="4663622" y="3998854"/>
            <a:ext cx="145938" cy="145938"/>
          </a:xfrm>
          <a:prstGeom prst="blockArc">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ounded Rectangle 36"/>
          <p:cNvSpPr/>
          <p:nvPr/>
        </p:nvSpPr>
        <p:spPr>
          <a:xfrm>
            <a:off x="4646249" y="4103095"/>
            <a:ext cx="180685" cy="1389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5056631" y="3977640"/>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Air-gapped option</a:t>
            </a:r>
          </a:p>
        </p:txBody>
      </p:sp>
      <p:sp>
        <p:nvSpPr>
          <p:cNvPr id="39" name="TextBox 38"/>
          <p:cNvSpPr txBox="1"/>
          <p:nvPr/>
        </p:nvSpPr>
        <p:spPr>
          <a:xfrm>
            <a:off x="4562855" y="4379976"/>
            <a:ext cx="3127248" cy="905255"/>
          </a:xfrm>
          <a:prstGeom prst="rect">
            <a:avLst/>
          </a:prstGeom>
          <a:noFill/>
        </p:spPr>
        <p:txBody>
          <a:bodyPr wrap="square" lIns="0" tIns="0" rIns="0" bIns="0" anchor="t">
            <a:spAutoFit/>
          </a:bodyPr>
          <a:lstStyle/>
          <a:p>
            <a:pPr marL="0" indent="0" algn="l">
              <a:lnSpc>
                <a:spcPct val="100000"/>
              </a:lnSpc>
              <a:spcAft>
                <a:spcPts val="600"/>
              </a:spcAft>
              <a:buNone/>
            </a:pPr>
            <a:r>
              <a:rPr sz="1100" b="0" i="0">
                <a:solidFill>
                  <a:srgbClr val="262626"/>
                </a:solidFill>
                <a:latin typeface="Product Sans"/>
                <a:ea typeface="Product Sans"/>
                <a:cs typeface="Product Sans"/>
              </a:rPr>
              <a:t>Pair a local open-weights model with DisableTelemetry=true and nothing leaves the system at all.</a:t>
            </a:r>
          </a:p>
        </p:txBody>
      </p:sp>
      <p:sp>
        <p:nvSpPr>
          <p:cNvPr id="40" name="Rounded Rectangle 39"/>
          <p:cNvSpPr/>
          <p:nvPr/>
        </p:nvSpPr>
        <p:spPr>
          <a:xfrm>
            <a:off x="8101583" y="3840480"/>
            <a:ext cx="3602736" cy="1554480"/>
          </a:xfrm>
          <a:prstGeom prst="roundRect">
            <a:avLst>
              <a:gd name="adj" fmla="val 4500"/>
            </a:avLst>
          </a:prstGeom>
          <a:solidFill>
            <a:srgbClr val="EEF2FA"/>
          </a:solidFill>
          <a:ln w="9525">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8339327" y="3950208"/>
            <a:ext cx="347472" cy="347472"/>
          </a:xfrm>
          <a:prstGeom prst="ellipse">
            <a:avLst/>
          </a:prstGeom>
          <a:solidFill>
            <a:srgbClr val="4472C4"/>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Document 41"/>
          <p:cNvSpPr/>
          <p:nvPr/>
        </p:nvSpPr>
        <p:spPr>
          <a:xfrm>
            <a:off x="8439226" y="4037076"/>
            <a:ext cx="147675" cy="173736"/>
          </a:xfrm>
          <a:prstGeom prst="flowChartDocumen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8833104" y="3977640"/>
            <a:ext cx="2633472" cy="292608"/>
          </a:xfrm>
          <a:prstGeom prst="rect">
            <a:avLst/>
          </a:prstGeom>
          <a:noFill/>
        </p:spPr>
        <p:txBody>
          <a:bodyPr wrap="square" lIns="0" tIns="0" rIns="0" bIns="0" anchor="ctr">
            <a:spAutoFit/>
          </a:bodyPr>
          <a:lstStyle/>
          <a:p>
            <a:pPr marL="0" indent="0" algn="l">
              <a:lnSpc>
                <a:spcPct val="100000"/>
              </a:lnSpc>
              <a:spcAft>
                <a:spcPts val="400"/>
              </a:spcAft>
              <a:buNone/>
            </a:pPr>
            <a:r>
              <a:rPr sz="1250" b="0" i="0">
                <a:solidFill>
                  <a:srgbClr val="1F3864"/>
                </a:solidFill>
                <a:latin typeface="Product Sans"/>
                <a:ea typeface="Product Sans"/>
                <a:cs typeface="Product Sans"/>
              </a:rPr>
              <a:t>Licensing note</a:t>
            </a:r>
          </a:p>
        </p:txBody>
      </p:sp>
      <p:sp>
        <p:nvSpPr>
          <p:cNvPr id="44" name="TextBox 43"/>
          <p:cNvSpPr txBox="1"/>
          <p:nvPr/>
        </p:nvSpPr>
        <p:spPr>
          <a:xfrm>
            <a:off x="8339327" y="4379976"/>
            <a:ext cx="3127248" cy="905255"/>
          </a:xfrm>
          <a:prstGeom prst="rect">
            <a:avLst/>
          </a:prstGeom>
          <a:noFill/>
        </p:spPr>
        <p:txBody>
          <a:bodyPr wrap="square" lIns="0" tIns="0" rIns="0" bIns="0" anchor="t">
            <a:spAutoFit/>
          </a:bodyPr>
          <a:lstStyle/>
          <a:p>
            <a:pPr marL="0" indent="0" algn="l">
              <a:lnSpc>
                <a:spcPct val="100000"/>
              </a:lnSpc>
              <a:spcAft>
                <a:spcPts val="600"/>
              </a:spcAft>
              <a:buNone/>
            </a:pPr>
            <a:r>
              <a:rPr sz="1100" b="0" i="0">
                <a:solidFill>
                  <a:srgbClr val="262626"/>
                </a:solidFill>
                <a:latin typeface="Product Sans"/>
                <a:ea typeface="Product Sans"/>
                <a:cs typeface="Product Sans"/>
              </a:rPr>
              <a:t>Personal automation: one user, one server, one MATLAB. A shared lab server that several people drive needs MathWorks approval — ask us.</a:t>
            </a:r>
          </a:p>
        </p:txBody>
      </p:sp>
      <p:sp>
        <p:nvSpPr>
          <p:cNvPr id="45" name="Rounded Rectangle 44"/>
          <p:cNvSpPr/>
          <p:nvPr/>
        </p:nvSpPr>
        <p:spPr>
          <a:xfrm>
            <a:off x="548640" y="5806440"/>
            <a:ext cx="11091672" cy="365760"/>
          </a:xfrm>
          <a:prstGeom prst="roundRect">
            <a:avLst>
              <a:gd name="adj" fmla="val 45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85800" y="5806440"/>
            <a:ext cx="10817352" cy="365760"/>
          </a:xfrm>
          <a:prstGeom prst="rect">
            <a:avLst/>
          </a:prstGeom>
          <a:noFill/>
        </p:spPr>
        <p:txBody>
          <a:bodyPr wrap="square" lIns="0" tIns="0" rIns="0" bIns="0" anchor="ctr">
            <a:spAutoFit/>
          </a:bodyPr>
          <a:lstStyle/>
          <a:p>
            <a:pPr marL="0" indent="0" algn="ctr">
              <a:lnSpc>
                <a:spcPct val="100000"/>
              </a:lnSpc>
              <a:spcAft>
                <a:spcPts val="400"/>
              </a:spcAft>
              <a:buNone/>
            </a:pPr>
            <a:r>
              <a:rPr sz="1300" b="0" i="0">
                <a:solidFill>
                  <a:srgbClr val="FFFFFF"/>
                </a:solidFill>
                <a:latin typeface="Product Sans"/>
                <a:ea typeface="Product Sans"/>
                <a:cs typeface="Product Sans"/>
              </a:rPr>
              <a:t>The agentic setup adds no new IP exposure beyond the LLM relationship your organisation already governs.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8dd9c96-d6ad-4f7b-b248-1151d8ab5633}" enabled="1" method="Privileged" siteId="{99841ea8-77f1-49c8-bc33-0a46d46d02d8}" contentBits="2" removed="0"/>
</clbl:labelList>
</file>

<file path=docProps/app.xml><?xml version="1.0" encoding="utf-8"?>
<Properties xmlns="http://schemas.openxmlformats.org/officeDocument/2006/extended-properties" xmlns:vt="http://schemas.openxmlformats.org/officeDocument/2006/docPropsVTypes">
  <TotalTime>246</TotalTime>
  <Words>13360</Words>
  <Application>Microsoft Office PowerPoint</Application>
  <PresentationFormat>Widescreen</PresentationFormat>
  <Paragraphs>1365</Paragraphs>
  <Slides>61</Slides>
  <Notes>35</Notes>
  <HiddenSlides>11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Aptos</vt:lpstr>
      <vt:lpstr>Arial</vt:lpstr>
      <vt:lpstr>Cascadia Mono</vt:lpstr>
      <vt:lpstr>Product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Techsource Systems Pte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for Simulink — Simulink Agentic Toolkit</dc:title>
  <dc:subject>PptxGenJS Presentation</dc:subject>
  <dc:creator>Wei Hong Loh</dc:creator>
  <cp:lastModifiedBy>Koay Xian Cong</cp:lastModifiedBy>
  <cp:revision>21</cp:revision>
  <dcterms:created xsi:type="dcterms:W3CDTF">2026-08-18T10:16:44Z</dcterms:created>
  <dcterms:modified xsi:type="dcterms:W3CDTF">2026-09-08T10:53:20Z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EXTERNAL</vt:lpwstr>
  </property>
</Properties>
</file>